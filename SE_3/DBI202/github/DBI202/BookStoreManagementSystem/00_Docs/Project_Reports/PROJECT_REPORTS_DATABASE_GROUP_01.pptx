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anva Sans Bold" charset="1" panose="020B0803030501040103"/>
      <p:regular r:id="rId26"/>
    </p:embeddedFont>
    <p:embeddedFont>
      <p:font typeface="Anton" charset="1" panose="00000500000000000000"/>
      <p:regular r:id="rId27"/>
    </p:embeddedFont>
    <p:embeddedFont>
      <p:font typeface="Montserrat Medium" charset="1" panose="00000600000000000000"/>
      <p:regular r:id="rId28"/>
    </p:embeddedFont>
    <p:embeddedFont>
      <p:font typeface="Montserrat Bold" charset="1" panose="00000800000000000000"/>
      <p:regular r:id="rId29"/>
    </p:embeddedFont>
    <p:embeddedFont>
      <p:font typeface="Canva Sans" charset="1" panose="020B05030305010401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Relationship Id="rId5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Relationship Id="rId5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Relationship Id="rId5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Relationship Id="rId5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8139" y="2059035"/>
            <a:ext cx="5077990" cy="50779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165946">
            <a:off x="8558360" y="507114"/>
            <a:ext cx="9272857" cy="9092355"/>
            <a:chOff x="0" y="0"/>
            <a:chExt cx="812800" cy="796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96978"/>
            </a:xfrm>
            <a:custGeom>
              <a:avLst/>
              <a:gdLst/>
              <a:ahLst/>
              <a:cxnLst/>
              <a:rect r="r" b="b" t="t" l="l"/>
              <a:pathLst>
                <a:path h="796978" w="812800">
                  <a:moveTo>
                    <a:pt x="406400" y="0"/>
                  </a:moveTo>
                  <a:cubicBezTo>
                    <a:pt x="181951" y="0"/>
                    <a:pt x="0" y="178410"/>
                    <a:pt x="0" y="398489"/>
                  </a:cubicBezTo>
                  <a:cubicBezTo>
                    <a:pt x="0" y="618569"/>
                    <a:pt x="181951" y="796978"/>
                    <a:pt x="406400" y="796978"/>
                  </a:cubicBezTo>
                  <a:cubicBezTo>
                    <a:pt x="630849" y="796978"/>
                    <a:pt x="812800" y="618569"/>
                    <a:pt x="812800" y="398489"/>
                  </a:cubicBezTo>
                  <a:cubicBezTo>
                    <a:pt x="812800" y="178410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795AC6">
                      <a:alpha val="4500"/>
                    </a:srgbClr>
                  </a:gs>
                  <a:gs pos="100000">
                    <a:srgbClr val="5540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6617"/>
              <a:ext cx="660400" cy="68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694109">
            <a:off x="9125957" y="1124174"/>
            <a:ext cx="8014237" cy="7858235"/>
            <a:chOff x="0" y="0"/>
            <a:chExt cx="812800" cy="796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96978"/>
            </a:xfrm>
            <a:custGeom>
              <a:avLst/>
              <a:gdLst/>
              <a:ahLst/>
              <a:cxnLst/>
              <a:rect r="r" b="b" t="t" l="l"/>
              <a:pathLst>
                <a:path h="796978" w="812800">
                  <a:moveTo>
                    <a:pt x="406400" y="0"/>
                  </a:moveTo>
                  <a:cubicBezTo>
                    <a:pt x="181951" y="0"/>
                    <a:pt x="0" y="178410"/>
                    <a:pt x="0" y="398489"/>
                  </a:cubicBezTo>
                  <a:cubicBezTo>
                    <a:pt x="0" y="618569"/>
                    <a:pt x="181951" y="796978"/>
                    <a:pt x="406400" y="796978"/>
                  </a:cubicBezTo>
                  <a:cubicBezTo>
                    <a:pt x="630849" y="796978"/>
                    <a:pt x="812800" y="618569"/>
                    <a:pt x="812800" y="398489"/>
                  </a:cubicBezTo>
                  <a:cubicBezTo>
                    <a:pt x="812800" y="178410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795AC6">
                      <a:alpha val="4500"/>
                    </a:srgbClr>
                  </a:gs>
                  <a:gs pos="100000">
                    <a:srgbClr val="C6B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6617"/>
              <a:ext cx="660400" cy="68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0904719" y="4498432"/>
            <a:ext cx="15304372" cy="15304372"/>
          </a:xfrm>
          <a:custGeom>
            <a:avLst/>
            <a:gdLst/>
            <a:ahLst/>
            <a:cxnLst/>
            <a:rect r="r" b="b" t="t" l="l"/>
            <a:pathLst>
              <a:path h="15304372" w="15304372">
                <a:moveTo>
                  <a:pt x="0" y="0"/>
                </a:moveTo>
                <a:lnTo>
                  <a:pt x="15304372" y="0"/>
                </a:lnTo>
                <a:lnTo>
                  <a:pt x="15304372" y="15304372"/>
                </a:lnTo>
                <a:lnTo>
                  <a:pt x="0" y="15304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0527156" y="742462"/>
            <a:ext cx="3958208" cy="189994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2812316" y="7644598"/>
            <a:ext cx="3958208" cy="189994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-1632536" y="3882614"/>
            <a:ext cx="10077089" cy="2251533"/>
            <a:chOff x="0" y="0"/>
            <a:chExt cx="2440234" cy="5452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0234" cy="545224"/>
            </a:xfrm>
            <a:custGeom>
              <a:avLst/>
              <a:gdLst/>
              <a:ahLst/>
              <a:cxnLst/>
              <a:rect r="r" b="b" t="t" l="l"/>
              <a:pathLst>
                <a:path h="545224" w="2440234">
                  <a:moveTo>
                    <a:pt x="0" y="0"/>
                  </a:moveTo>
                  <a:lnTo>
                    <a:pt x="2440234" y="0"/>
                  </a:lnTo>
                  <a:lnTo>
                    <a:pt x="2440234" y="545224"/>
                  </a:lnTo>
                  <a:lnTo>
                    <a:pt x="0" y="545224"/>
                  </a:lnTo>
                  <a:close/>
                </a:path>
              </a:pathLst>
            </a:custGeom>
            <a:gradFill rotWithShape="true">
              <a:gsLst>
                <a:gs pos="0">
                  <a:srgbClr val="3428BA">
                    <a:alpha val="100000"/>
                  </a:srgbClr>
                </a:gs>
                <a:gs pos="100000">
                  <a:srgbClr val="5FA2D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40234" cy="583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1460881"/>
            <a:ext cx="1144828" cy="114482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36910" y="1792896"/>
            <a:ext cx="528407" cy="532279"/>
          </a:xfrm>
          <a:custGeom>
            <a:avLst/>
            <a:gdLst/>
            <a:ahLst/>
            <a:cxnLst/>
            <a:rect r="r" b="b" t="t" l="l"/>
            <a:pathLst>
              <a:path h="532279" w="528407">
                <a:moveTo>
                  <a:pt x="0" y="0"/>
                </a:moveTo>
                <a:lnTo>
                  <a:pt x="528408" y="0"/>
                </a:lnTo>
                <a:lnTo>
                  <a:pt x="528408" y="532278"/>
                </a:lnTo>
                <a:lnTo>
                  <a:pt x="0" y="5322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359482" y="1811516"/>
            <a:ext cx="5077420" cy="40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b="true" sz="2412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SP26_SE2002_DBI202_NhungNTH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1150" y="2572230"/>
            <a:ext cx="7023552" cy="121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28"/>
              </a:lnSpc>
              <a:spcBef>
                <a:spcPct val="0"/>
              </a:spcBef>
            </a:pPr>
            <a:r>
              <a:rPr lang="en-US" sz="7091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ASSIGNMENT REPORT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3644" y="3893956"/>
            <a:ext cx="6420484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BOOKSTORE MANAGEMENT SYSTEM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46373" y="155956"/>
            <a:ext cx="3294973" cy="1028700"/>
          </a:xfrm>
          <a:custGeom>
            <a:avLst/>
            <a:gdLst/>
            <a:ahLst/>
            <a:cxnLst/>
            <a:rect r="r" b="b" t="t" l="l"/>
            <a:pathLst>
              <a:path h="1028700" w="3294973">
                <a:moveTo>
                  <a:pt x="0" y="0"/>
                </a:moveTo>
                <a:lnTo>
                  <a:pt x="3294974" y="0"/>
                </a:lnTo>
                <a:lnTo>
                  <a:pt x="329497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36910" y="6372273"/>
            <a:ext cx="5273951" cy="3308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647" indent="-254323" lvl="1">
              <a:lnSpc>
                <a:spcPts val="32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55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Mentor: Nguyen Thi Hong Nhung</a:t>
            </a:r>
          </a:p>
          <a:p>
            <a:pPr algn="l" marL="508647" indent="-254323" lvl="1">
              <a:lnSpc>
                <a:spcPts val="32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55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1:</a:t>
            </a:r>
          </a:p>
          <a:p>
            <a:pPr algn="l">
              <a:lnSpc>
                <a:spcPts val="3298"/>
              </a:lnSpc>
              <a:spcBef>
                <a:spcPct val="0"/>
              </a:spcBef>
            </a:pPr>
            <a:r>
              <a:rPr lang="en-US" b="true" sz="2355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Nguyen Tran Duc Anh</a:t>
            </a:r>
          </a:p>
          <a:p>
            <a:pPr algn="l">
              <a:lnSpc>
                <a:spcPts val="3298"/>
              </a:lnSpc>
              <a:spcBef>
                <a:spcPct val="0"/>
              </a:spcBef>
            </a:pPr>
            <a:r>
              <a:rPr lang="en-US" b="true" sz="2355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Huynh Nhat Duy</a:t>
            </a:r>
          </a:p>
          <a:p>
            <a:pPr algn="l">
              <a:lnSpc>
                <a:spcPts val="3298"/>
              </a:lnSpc>
              <a:spcBef>
                <a:spcPct val="0"/>
              </a:spcBef>
            </a:pPr>
            <a:r>
              <a:rPr lang="en-US" b="true" sz="2355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Le Tien Dung</a:t>
            </a:r>
          </a:p>
          <a:p>
            <a:pPr algn="l">
              <a:lnSpc>
                <a:spcPts val="3298"/>
              </a:lnSpc>
              <a:spcBef>
                <a:spcPct val="0"/>
              </a:spcBef>
            </a:pPr>
            <a:r>
              <a:rPr lang="en-US" b="true" sz="2355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Tran Huynh Giac</a:t>
            </a:r>
          </a:p>
          <a:p>
            <a:pPr algn="l">
              <a:lnSpc>
                <a:spcPts val="3298"/>
              </a:lnSpc>
              <a:spcBef>
                <a:spcPct val="0"/>
              </a:spcBef>
            </a:pPr>
            <a:r>
              <a:rPr lang="en-US" b="true" sz="2355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Nguyen Phu Trong</a:t>
            </a:r>
          </a:p>
          <a:p>
            <a:pPr algn="l">
              <a:lnSpc>
                <a:spcPts val="32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66201" y="2592943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9589" y="1791509"/>
            <a:ext cx="5077990" cy="50779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12933" y="607003"/>
            <a:ext cx="2147544" cy="21475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4088403" y="7986751"/>
            <a:ext cx="2649060" cy="1271549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353356" y="635500"/>
            <a:ext cx="5474851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 Nguyen Tran Duc Anh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94277" y="3529366"/>
            <a:ext cx="8110365" cy="144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  <a:spcBef>
                <a:spcPct val="0"/>
              </a:spcBef>
            </a:pPr>
            <a:r>
              <a:rPr lang="en-US" sz="8543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72126" y="2746852"/>
            <a:ext cx="14410684" cy="6026286"/>
          </a:xfrm>
          <a:custGeom>
            <a:avLst/>
            <a:gdLst/>
            <a:ahLst/>
            <a:cxnLst/>
            <a:rect r="r" b="b" t="t" l="l"/>
            <a:pathLst>
              <a:path h="6026286" w="14410684">
                <a:moveTo>
                  <a:pt x="0" y="0"/>
                </a:moveTo>
                <a:lnTo>
                  <a:pt x="14410684" y="0"/>
                </a:lnTo>
                <a:lnTo>
                  <a:pt x="14410684" y="6026286"/>
                </a:lnTo>
                <a:lnTo>
                  <a:pt x="0" y="6026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2126" y="1546972"/>
            <a:ext cx="1478717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356" y="635500"/>
            <a:ext cx="5574751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Nguyen Tran Duc Anh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2899252"/>
            <a:ext cx="5836818" cy="6173313"/>
          </a:xfrm>
          <a:custGeom>
            <a:avLst/>
            <a:gdLst/>
            <a:ahLst/>
            <a:cxnLst/>
            <a:rect r="r" b="b" t="t" l="l"/>
            <a:pathLst>
              <a:path h="6173313" w="5836818">
                <a:moveTo>
                  <a:pt x="0" y="0"/>
                </a:moveTo>
                <a:lnTo>
                  <a:pt x="5836818" y="0"/>
                </a:lnTo>
                <a:lnTo>
                  <a:pt x="5836818" y="6173313"/>
                </a:lnTo>
                <a:lnTo>
                  <a:pt x="0" y="617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810" t="0" r="-4681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2126" y="1546972"/>
            <a:ext cx="1478717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356" y="635500"/>
            <a:ext cx="5574751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Nguyen Tran Duc Anh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39253" y="3340796"/>
            <a:ext cx="9643557" cy="524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017" indent="-267009" lvl="1">
              <a:lnSpc>
                <a:spcPts val="3462"/>
              </a:lnSpc>
              <a:buFont typeface="Arial"/>
              <a:buChar char="•"/>
            </a:pPr>
            <a:r>
              <a:rPr lang="en-US" b="true" sz="247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(Manual Management): Prone to errors, overselling out-of-stock items, and losi</a:t>
            </a:r>
            <a:r>
              <a:rPr lang="en-US" b="true" sz="247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 customer data.</a:t>
            </a:r>
          </a:p>
          <a:p>
            <a:pPr algn="l" marL="534017" indent="-267009" lvl="1">
              <a:lnSpc>
                <a:spcPts val="3462"/>
              </a:lnSpc>
              <a:buFont typeface="Arial"/>
              <a:buChar char="•"/>
            </a:pPr>
            <a:r>
              <a:rPr lang="en-US" b="true" sz="247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Objective: Build a Relational Database for a Book Store Management System.</a:t>
            </a:r>
          </a:p>
          <a:p>
            <a:pPr algn="l" marL="534017" indent="-267009" lvl="1">
              <a:lnSpc>
                <a:spcPts val="3462"/>
              </a:lnSpc>
              <a:buFont typeface="Arial"/>
              <a:buChar char="•"/>
            </a:pPr>
            <a:r>
              <a:rPr lang="en-US" b="true" sz="247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Core Operations: Inventory Management (Books, Authors) - Customers - Orders.</a:t>
            </a:r>
          </a:p>
          <a:p>
            <a:pPr algn="l" marL="534017" indent="-267009" lvl="1">
              <a:lnSpc>
                <a:spcPts val="3462"/>
              </a:lnSpc>
              <a:buFont typeface="Arial"/>
              <a:buChar char="•"/>
            </a:pPr>
            <a:r>
              <a:rPr lang="en-US" b="true" sz="247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 Solutio</a:t>
            </a:r>
            <a:r>
              <a:rPr lang="en-US" b="true" sz="247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n:</a:t>
            </a:r>
          </a:p>
          <a:p>
            <a:pPr algn="l" marL="1068035" indent="-356012" lvl="2">
              <a:lnSpc>
                <a:spcPts val="3462"/>
              </a:lnSpc>
              <a:buFont typeface="Arial"/>
              <a:buChar char="⚬"/>
            </a:pPr>
            <a:r>
              <a:rPr lang="en-US" b="true" sz="247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Digitize the entire workflow.</a:t>
            </a:r>
          </a:p>
          <a:p>
            <a:pPr algn="l" marL="1068035" indent="-356012" lvl="2">
              <a:lnSpc>
                <a:spcPts val="3462"/>
              </a:lnSpc>
              <a:buFont typeface="Arial"/>
              <a:buChar char="⚬"/>
            </a:pPr>
            <a:r>
              <a:rPr lang="en-US" b="true" sz="247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Ensure data integrity &amp; optimize query performance.</a:t>
            </a:r>
          </a:p>
          <a:p>
            <a:pPr algn="l" marL="1068035" indent="-356012" lvl="2">
              <a:lnSpc>
                <a:spcPts val="3462"/>
              </a:lnSpc>
              <a:buFont typeface="Arial"/>
              <a:buChar char="⚬"/>
            </a:pPr>
            <a:r>
              <a:rPr lang="en-US" b="true" sz="247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Accurately record transactions &amp; automate inventory updates.</a:t>
            </a:r>
          </a:p>
          <a:p>
            <a:pPr algn="l">
              <a:lnSpc>
                <a:spcPts val="346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26502" y="2356327"/>
            <a:ext cx="12634996" cy="7817903"/>
          </a:xfrm>
          <a:custGeom>
            <a:avLst/>
            <a:gdLst/>
            <a:ahLst/>
            <a:cxnLst/>
            <a:rect r="r" b="b" t="t" l="l"/>
            <a:pathLst>
              <a:path h="7817903" w="12634996">
                <a:moveTo>
                  <a:pt x="0" y="0"/>
                </a:moveTo>
                <a:lnTo>
                  <a:pt x="12634996" y="0"/>
                </a:lnTo>
                <a:lnTo>
                  <a:pt x="12634996" y="7817903"/>
                </a:lnTo>
                <a:lnTo>
                  <a:pt x="0" y="7817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2126" y="1546972"/>
            <a:ext cx="1478717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ENTITY RELATIONSHIP DIAGRAM (ERD)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356" y="635500"/>
            <a:ext cx="3939183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Le Tien Dung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70211" y="2289286"/>
            <a:ext cx="9450770" cy="7997714"/>
          </a:xfrm>
          <a:custGeom>
            <a:avLst/>
            <a:gdLst/>
            <a:ahLst/>
            <a:cxnLst/>
            <a:rect r="r" b="b" t="t" l="l"/>
            <a:pathLst>
              <a:path h="7997714" w="9450770">
                <a:moveTo>
                  <a:pt x="0" y="0"/>
                </a:moveTo>
                <a:lnTo>
                  <a:pt x="9450770" y="0"/>
                </a:lnTo>
                <a:lnTo>
                  <a:pt x="9450770" y="7997714"/>
                </a:lnTo>
                <a:lnTo>
                  <a:pt x="0" y="7997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2126" y="1546972"/>
            <a:ext cx="1478717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RELATIONAL DATABASE SCHEMA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356" y="635500"/>
            <a:ext cx="3939183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Le Tien Dung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66201" y="2592943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6910" y="1955767"/>
            <a:ext cx="5077990" cy="50779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12933" y="607003"/>
            <a:ext cx="2147544" cy="21475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4088403" y="7986751"/>
            <a:ext cx="2649060" cy="1271549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31925" y="4342362"/>
            <a:ext cx="3865589" cy="144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  <a:spcBef>
                <a:spcPct val="0"/>
              </a:spcBef>
            </a:pPr>
            <a:r>
              <a:rPr lang="en-US" sz="8543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BOOK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356" y="635500"/>
            <a:ext cx="5574751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Nguyen Tran Duc Anh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95636" y="3883605"/>
            <a:ext cx="14787174" cy="2643207"/>
          </a:xfrm>
          <a:custGeom>
            <a:avLst/>
            <a:gdLst/>
            <a:ahLst/>
            <a:cxnLst/>
            <a:rect r="r" b="b" t="t" l="l"/>
            <a:pathLst>
              <a:path h="2643207" w="14787174">
                <a:moveTo>
                  <a:pt x="0" y="0"/>
                </a:moveTo>
                <a:lnTo>
                  <a:pt x="14787174" y="0"/>
                </a:lnTo>
                <a:lnTo>
                  <a:pt x="14787174" y="2643207"/>
                </a:lnTo>
                <a:lnTo>
                  <a:pt x="0" y="2643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2126" y="1546972"/>
            <a:ext cx="1478717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BOOK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356" y="635500"/>
            <a:ext cx="5574751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Nguyen Tran Duc Anh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66201" y="2592943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6910" y="1955767"/>
            <a:ext cx="5077990" cy="50779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12933" y="607003"/>
            <a:ext cx="2147544" cy="21475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4088403" y="7986751"/>
            <a:ext cx="2649060" cy="1271549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353356" y="635500"/>
            <a:ext cx="4025860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 Lê Tiến Dũng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88611" y="3693624"/>
            <a:ext cx="3865589" cy="144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  <a:spcBef>
                <a:spcPct val="0"/>
              </a:spcBef>
            </a:pPr>
            <a:r>
              <a:rPr lang="en-US" sz="8543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AUTHOR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72126" y="1546972"/>
            <a:ext cx="1478717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AUTHOR &amp; Relationships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53356" y="635500"/>
            <a:ext cx="3939183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Le Tien Dung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0354" y="3275011"/>
            <a:ext cx="15167293" cy="536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8027" indent="-369014" lvl="1">
              <a:lnSpc>
                <a:spcPts val="4785"/>
              </a:lnSpc>
              <a:buFont typeface="Arial"/>
              <a:buChar char="•"/>
            </a:pP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Relationship: Many-to-Many (N-N) between AUTHOR and BOOK</a:t>
            </a:r>
          </a:p>
          <a:p>
            <a:pPr algn="l">
              <a:lnSpc>
                <a:spcPts val="4785"/>
              </a:lnSpc>
            </a:pPr>
          </a:p>
          <a:p>
            <a:pPr algn="l" marL="738027" indent="-369014" lvl="1">
              <a:lnSpc>
                <a:spcPts val="4785"/>
              </a:lnSpc>
              <a:buFont typeface="Arial"/>
              <a:buChar char="•"/>
            </a:pP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Junction Table: BOOK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_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AUTHOR</a:t>
            </a:r>
          </a:p>
          <a:p>
            <a:pPr algn="l">
              <a:lnSpc>
                <a:spcPts val="4785"/>
              </a:lnSpc>
            </a:pPr>
          </a:p>
          <a:p>
            <a:pPr algn="l" marL="738027" indent="-369014" lvl="1">
              <a:lnSpc>
                <a:spcPts val="4785"/>
              </a:lnSpc>
              <a:buFont typeface="Arial"/>
              <a:buChar char="•"/>
            </a:pP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oc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dur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sp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_Delete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</a:t>
            </a: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</a:t>
            </a:r>
          </a:p>
          <a:p>
            <a:pPr algn="l">
              <a:lnSpc>
                <a:spcPts val="4785"/>
              </a:lnSpc>
            </a:pPr>
          </a:p>
          <a:p>
            <a:pPr algn="l" marL="738027" indent="-369014" lvl="1">
              <a:lnSpc>
                <a:spcPts val="4785"/>
              </a:lnSpc>
              <a:buFont typeface="Arial"/>
              <a:buChar char="•"/>
            </a:pPr>
            <a:r>
              <a:rPr lang="en-US" b="true" sz="34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Enforces data integrity: Prevents deletion if associated books exist in order history</a:t>
            </a:r>
          </a:p>
          <a:p>
            <a:pPr algn="l">
              <a:lnSpc>
                <a:spcPts val="478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66201" y="2592943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9589" y="1791509"/>
            <a:ext cx="5077990" cy="50779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12933" y="607003"/>
            <a:ext cx="2147544" cy="21475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921622" y="2440543"/>
            <a:ext cx="6769889" cy="447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  <a:spcBef>
                <a:spcPct val="0"/>
              </a:spcBef>
            </a:pPr>
            <a:r>
              <a:rPr lang="en-US" sz="8543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Index Performance Demo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4088403" y="7986751"/>
            <a:ext cx="2649060" cy="1271549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353356" y="635500"/>
            <a:ext cx="4475321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Tran Huynh Giac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89948" y="3309757"/>
            <a:ext cx="12035592" cy="4615869"/>
          </a:xfrm>
          <a:custGeom>
            <a:avLst/>
            <a:gdLst/>
            <a:ahLst/>
            <a:cxnLst/>
            <a:rect r="r" b="b" t="t" l="l"/>
            <a:pathLst>
              <a:path h="4615869" w="12035592">
                <a:moveTo>
                  <a:pt x="0" y="0"/>
                </a:moveTo>
                <a:lnTo>
                  <a:pt x="12035592" y="0"/>
                </a:lnTo>
                <a:lnTo>
                  <a:pt x="12035592" y="4615869"/>
                </a:lnTo>
                <a:lnTo>
                  <a:pt x="0" y="4615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2126" y="1546972"/>
            <a:ext cx="1478717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Customer: Attributes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356" y="635500"/>
            <a:ext cx="4863941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Nguyen Phu Trong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0657" y="8030401"/>
            <a:ext cx="8420110" cy="49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* Relationship: One-to-Many (1-N) to ORDERS.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72126" y="1546972"/>
            <a:ext cx="14787174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Customer: Key Procedure &amp; Integrity:</a:t>
            </a:r>
          </a:p>
          <a:p>
            <a:pPr algn="l">
              <a:lnSpc>
                <a:spcPts val="476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353356" y="635500"/>
            <a:ext cx="4863941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Nguyen Phu Trong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95636" y="3260836"/>
            <a:ext cx="10366177" cy="99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818" indent="-310909" lvl="1">
              <a:lnSpc>
                <a:spcPts val="4032"/>
              </a:lnSpc>
              <a:buFont typeface="Arial"/>
              <a:buChar char="•"/>
            </a:pPr>
            <a:r>
              <a:rPr lang="en-US" b="true" sz="288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Procedure: </a:t>
            </a:r>
            <a:r>
              <a:rPr lang="en-US" b="true" sz="2880">
                <a:solidFill>
                  <a:srgbClr val="00BF6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sp_CreateCustomerAndOrder</a:t>
            </a:r>
          </a:p>
          <a:p>
            <a:pPr algn="l">
              <a:lnSpc>
                <a:spcPts val="4032"/>
              </a:lnSpc>
            </a:pPr>
            <a:r>
              <a:rPr lang="en-US" sz="288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- Create Customer informations and their first orders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5636" y="5086350"/>
            <a:ext cx="12586692" cy="99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818" indent="-310909" lvl="1">
              <a:lnSpc>
                <a:spcPts val="4032"/>
              </a:lnSpc>
              <a:buFont typeface="Arial"/>
              <a:buChar char="•"/>
            </a:pPr>
            <a:r>
              <a:rPr lang="en-US" b="true" sz="288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Trigger: </a:t>
            </a:r>
            <a:r>
              <a:rPr lang="en-US" b="true" sz="2880">
                <a:solidFill>
                  <a:srgbClr val="00BF6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trg_Prevent_Delete_Customer</a:t>
            </a:r>
          </a:p>
          <a:p>
            <a:pPr algn="l">
              <a:lnSpc>
                <a:spcPts val="4032"/>
              </a:lnSpc>
            </a:pPr>
            <a:r>
              <a:rPr lang="en-US" sz="288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- Prevent delete customer when they already have orders history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80660" y="2356327"/>
            <a:ext cx="11017126" cy="3517775"/>
          </a:xfrm>
          <a:custGeom>
            <a:avLst/>
            <a:gdLst/>
            <a:ahLst/>
            <a:cxnLst/>
            <a:rect r="r" b="b" t="t" l="l"/>
            <a:pathLst>
              <a:path h="3517775" w="11017126">
                <a:moveTo>
                  <a:pt x="0" y="0"/>
                </a:moveTo>
                <a:lnTo>
                  <a:pt x="11017126" y="0"/>
                </a:lnTo>
                <a:lnTo>
                  <a:pt x="11017126" y="3517774"/>
                </a:lnTo>
                <a:lnTo>
                  <a:pt x="0" y="3517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05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2126" y="1546972"/>
            <a:ext cx="1478717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Orders Attributes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356" y="635500"/>
            <a:ext cx="4498876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Huỳnh Nhật Duy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9223" y="5950301"/>
            <a:ext cx="17549554" cy="39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5459" indent="-402729" lvl="1">
              <a:lnSpc>
                <a:spcPts val="5222"/>
              </a:lnSpc>
              <a:buFont typeface="Arial"/>
              <a:buChar char="•"/>
            </a:pPr>
            <a:r>
              <a:rPr lang="en-US" sz="3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ORDERS Table: Captures transaction metadata (Date, Status, Shipping Address).</a:t>
            </a:r>
          </a:p>
          <a:p>
            <a:pPr algn="l" marL="805459" indent="-402729" lvl="1">
              <a:lnSpc>
                <a:spcPts val="5222"/>
              </a:lnSpc>
              <a:buFont typeface="Arial"/>
              <a:buChar char="•"/>
            </a:pPr>
            <a:r>
              <a:rPr lang="en-US" sz="3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Relational Link: Connects to the CUSTOMER table via customer_id (Foreign Key).</a:t>
            </a:r>
          </a:p>
          <a:p>
            <a:pPr algn="l" marL="805459" indent="-402729" lvl="1">
              <a:lnSpc>
                <a:spcPts val="5222"/>
              </a:lnSpc>
              <a:buFont typeface="Arial"/>
              <a:buChar char="•"/>
            </a:pPr>
            <a:r>
              <a:rPr lang="en-US" sz="3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Cancellation Logic: Executed via the sp_CancelOrder Stored Procedure to ensure data consistency.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2718277"/>
            <a:ext cx="12142687" cy="5068028"/>
          </a:xfrm>
          <a:custGeom>
            <a:avLst/>
            <a:gdLst/>
            <a:ahLst/>
            <a:cxnLst/>
            <a:rect r="r" b="b" t="t" l="l"/>
            <a:pathLst>
              <a:path h="5068028" w="12142687">
                <a:moveTo>
                  <a:pt x="0" y="0"/>
                </a:moveTo>
                <a:lnTo>
                  <a:pt x="12142687" y="0"/>
                </a:lnTo>
                <a:lnTo>
                  <a:pt x="12142687" y="5068028"/>
                </a:lnTo>
                <a:lnTo>
                  <a:pt x="0" y="50680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2126" y="1546972"/>
            <a:ext cx="1478717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Order details: Attributes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356" y="635500"/>
            <a:ext cx="4475708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Tran Huynh Giac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207787"/>
            <a:ext cx="88896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* Relationship ‘references’: Many-to-One (N-1) to BOOK.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9622" y="7738680"/>
            <a:ext cx="88896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* Weak entity: primary key with many partial parts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8085" y="8677687"/>
            <a:ext cx="88896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* Relationship ‘includes’: Many-to-One (N-1) to ORDES.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66201" y="2592943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9589" y="1791509"/>
            <a:ext cx="5077990" cy="50779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12933" y="607003"/>
            <a:ext cx="2147544" cy="21475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4088403" y="7986751"/>
            <a:ext cx="2649060" cy="1271549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353356" y="635500"/>
            <a:ext cx="5310606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 GROUP 1 MEMBERS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94277" y="2948691"/>
            <a:ext cx="7253141" cy="296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  <a:spcBef>
                <a:spcPct val="0"/>
              </a:spcBef>
            </a:pPr>
            <a:r>
              <a:rPr lang="en-US" sz="8543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PHYSICAL IMPLEMENTATION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66201" y="2592943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9589" y="1791509"/>
            <a:ext cx="5077990" cy="50779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12933" y="607003"/>
            <a:ext cx="2147544" cy="21475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4088403" y="7986751"/>
            <a:ext cx="2649060" cy="1271549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353356" y="635500"/>
            <a:ext cx="4562177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 Tran Huynh Giac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94277" y="2948691"/>
            <a:ext cx="6259080" cy="296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  <a:spcBef>
                <a:spcPct val="0"/>
              </a:spcBef>
            </a:pPr>
            <a:r>
              <a:rPr lang="en-US" sz="8543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CONCLUSION &amp; ACHIEVEMENTS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09250" y="1203706"/>
            <a:ext cx="19996945" cy="0"/>
          </a:xfrm>
          <a:prstGeom prst="line">
            <a:avLst/>
          </a:prstGeom>
          <a:ln cap="flat" w="38100">
            <a:gradFill>
              <a:gsLst>
                <a:gs pos="0">
                  <a:srgbClr val="006CCD">
                    <a:alpha val="0"/>
                  </a:srgbClr>
                </a:gs>
                <a:gs pos="50000">
                  <a:srgbClr val="3E67C8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540878"/>
            <a:ext cx="659252" cy="6592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95636" y="1384681"/>
            <a:ext cx="14787174" cy="971646"/>
            <a:chOff x="0" y="0"/>
            <a:chExt cx="2407649" cy="15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7649" cy="158203"/>
            </a:xfrm>
            <a:custGeom>
              <a:avLst/>
              <a:gdLst/>
              <a:ahLst/>
              <a:cxnLst/>
              <a:rect r="r" b="b" t="t" l="l"/>
              <a:pathLst>
                <a:path h="158203" w="2407649">
                  <a:moveTo>
                    <a:pt x="0" y="0"/>
                  </a:moveTo>
                  <a:lnTo>
                    <a:pt x="2407649" y="0"/>
                  </a:lnTo>
                  <a:lnTo>
                    <a:pt x="2407649" y="158203"/>
                  </a:lnTo>
                  <a:lnTo>
                    <a:pt x="0" y="158203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50000">
                  <a:srgbClr val="AF5ABB">
                    <a:alpha val="97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7649" cy="18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9589" y="255919"/>
            <a:ext cx="1914642" cy="746711"/>
          </a:xfrm>
          <a:custGeom>
            <a:avLst/>
            <a:gdLst/>
            <a:ahLst/>
            <a:cxnLst/>
            <a:rect r="r" b="b" t="t" l="l"/>
            <a:pathLst>
              <a:path h="746711" w="1914642">
                <a:moveTo>
                  <a:pt x="0" y="0"/>
                </a:moveTo>
                <a:lnTo>
                  <a:pt x="1914642" y="0"/>
                </a:lnTo>
                <a:lnTo>
                  <a:pt x="1914642" y="746710"/>
                </a:lnTo>
                <a:lnTo>
                  <a:pt x="0" y="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72126" y="1546972"/>
            <a:ext cx="1478717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53356" y="635500"/>
            <a:ext cx="4475708" cy="39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533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Presenter: Tran Huynh Giac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0652" y="3266439"/>
            <a:ext cx="17026696" cy="365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62" indent="-561331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Integrity: Achieved via Primary Keys, Foreign Keys, Constraints, and 5 Automated Triggers.</a:t>
            </a:r>
          </a:p>
          <a:p>
            <a:pPr algn="l" marL="1122662" indent="-561331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Normalization: Database is normalized up to Third Normal Form (3NF).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66201" y="2592943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3017" y="2427284"/>
            <a:ext cx="5077990" cy="50779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12933" y="607003"/>
            <a:ext cx="2147544" cy="21475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63963" y="1235428"/>
            <a:ext cx="1191856" cy="11918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414243" y="1554284"/>
            <a:ext cx="550114" cy="554144"/>
          </a:xfrm>
          <a:custGeom>
            <a:avLst/>
            <a:gdLst/>
            <a:ahLst/>
            <a:cxnLst/>
            <a:rect r="r" b="b" t="t" l="l"/>
            <a:pathLst>
              <a:path h="554144" w="550114">
                <a:moveTo>
                  <a:pt x="0" y="0"/>
                </a:moveTo>
                <a:lnTo>
                  <a:pt x="550114" y="0"/>
                </a:lnTo>
                <a:lnTo>
                  <a:pt x="550114" y="554144"/>
                </a:lnTo>
                <a:lnTo>
                  <a:pt x="0" y="554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79217" y="3610452"/>
            <a:ext cx="8592580" cy="2435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9"/>
              </a:lnSpc>
              <a:spcBef>
                <a:spcPct val="0"/>
              </a:spcBef>
            </a:pPr>
            <a:r>
              <a:rPr lang="en-US" sz="14235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46373" y="155956"/>
            <a:ext cx="3294973" cy="1028700"/>
          </a:xfrm>
          <a:custGeom>
            <a:avLst/>
            <a:gdLst/>
            <a:ahLst/>
            <a:cxnLst/>
            <a:rect r="r" b="b" t="t" l="l"/>
            <a:pathLst>
              <a:path h="1028700" w="3294973">
                <a:moveTo>
                  <a:pt x="0" y="0"/>
                </a:moveTo>
                <a:lnTo>
                  <a:pt x="3294974" y="0"/>
                </a:lnTo>
                <a:lnTo>
                  <a:pt x="329497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250714" y="6045881"/>
            <a:ext cx="3518635" cy="3518635"/>
          </a:xfrm>
          <a:custGeom>
            <a:avLst/>
            <a:gdLst/>
            <a:ahLst/>
            <a:cxnLst/>
            <a:rect r="r" b="b" t="t" l="l"/>
            <a:pathLst>
              <a:path h="3518635" w="3518635">
                <a:moveTo>
                  <a:pt x="0" y="0"/>
                </a:moveTo>
                <a:lnTo>
                  <a:pt x="3518635" y="0"/>
                </a:lnTo>
                <a:lnTo>
                  <a:pt x="3518635" y="3518635"/>
                </a:lnTo>
                <a:lnTo>
                  <a:pt x="0" y="35186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358150" y="1545759"/>
            <a:ext cx="6340436" cy="51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6"/>
              </a:lnSpc>
              <a:spcBef>
                <a:spcPct val="0"/>
              </a:spcBef>
            </a:pPr>
            <a:r>
              <a:rPr lang="en-US" b="true" sz="3012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SP26_SE2002_DBI202_NhungNTH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DAG-Gl-nsOo</dc:identifier>
  <dcterms:modified xsi:type="dcterms:W3CDTF">2011-08-01T06:04:30Z</dcterms:modified>
  <cp:revision>1</cp:revision>
  <dc:title>SP26_SE2002_DBI202_NhungNTH</dc:title>
</cp:coreProperties>
</file>