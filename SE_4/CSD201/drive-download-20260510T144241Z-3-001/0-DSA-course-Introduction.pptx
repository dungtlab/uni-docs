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iaFOerQ12c9Va/gvpVgEcMaGTO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 name="Google Shape;19;p14"/>
          <p:cNvSpPr txBox="1"/>
          <p:nvPr>
            <p:ph idx="1" type="body"/>
          </p:nvPr>
        </p:nvSpPr>
        <p:spPr>
          <a:xfrm>
            <a:off x="228600" y="1371600"/>
            <a:ext cx="8229600" cy="4525962"/>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 name="Google Shape;27;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 name="Shape 28"/>
        <p:cNvGrpSpPr/>
        <p:nvPr/>
      </p:nvGrpSpPr>
      <p:grpSpPr>
        <a:xfrm>
          <a:off x="0" y="0"/>
          <a:ext cx="0" cy="0"/>
          <a:chOff x="0" y="0"/>
          <a:chExt cx="0" cy="0"/>
        </a:xfrm>
      </p:grpSpPr>
      <p:sp>
        <p:nvSpPr>
          <p:cNvPr id="29" name="Google Shape;29;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1" name="Google Shape;31;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2" name="Google Shape;32;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3" name="Google Shape;33;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9" name="Google Shape;39;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 name="Shape 40"/>
        <p:cNvGrpSpPr/>
        <p:nvPr/>
      </p:nvGrpSpPr>
      <p:grpSpPr>
        <a:xfrm>
          <a:off x="0" y="0"/>
          <a:ext cx="0" cy="0"/>
          <a:chOff x="0" y="0"/>
          <a:chExt cx="0" cy="0"/>
        </a:xfrm>
      </p:grpSpPr>
      <p:sp>
        <p:nvSpPr>
          <p:cNvPr id="41" name="Google Shape;41;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21"/>
          <p:cNvSpPr/>
          <p:nvPr>
            <p:ph idx="2" type="pic"/>
          </p:nvPr>
        </p:nvSpPr>
        <p:spPr>
          <a:xfrm>
            <a:off x="1792288" y="612775"/>
            <a:ext cx="5486400" cy="4114800"/>
          </a:xfrm>
          <a:prstGeom prst="rect">
            <a:avLst/>
          </a:prstGeom>
          <a:noFill/>
          <a:ln>
            <a:noFill/>
          </a:ln>
        </p:spPr>
      </p:sp>
      <p:sp>
        <p:nvSpPr>
          <p:cNvPr id="43" name="Google Shape;43;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22"/>
          <p:cNvSpPr txBox="1"/>
          <p:nvPr>
            <p:ph idx="1" type="body"/>
          </p:nvPr>
        </p:nvSpPr>
        <p:spPr>
          <a:xfrm rot="5400000">
            <a:off x="2080419" y="-4802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2"/>
          <p:cNvSpPr txBox="1"/>
          <p:nvPr>
            <p:ph idx="1" type="body"/>
          </p:nvPr>
        </p:nvSpPr>
        <p:spPr>
          <a:xfrm>
            <a:off x="228600" y="13716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logo05" id="12" name="Google Shape;12;p12"/>
          <p:cNvPicPr preferRelativeResize="0"/>
          <p:nvPr/>
        </p:nvPicPr>
        <p:blipFill rotWithShape="1">
          <a:blip r:embed="rId1">
            <a:alphaModFix/>
          </a:blip>
          <a:srcRect b="0" l="0" r="0" t="0"/>
          <a:stretch/>
        </p:blipFill>
        <p:spPr>
          <a:xfrm>
            <a:off x="0" y="0"/>
            <a:ext cx="1600200" cy="476250"/>
          </a:xfrm>
          <a:prstGeom prst="rect">
            <a:avLst/>
          </a:prstGeom>
          <a:noFill/>
          <a:ln>
            <a:noFill/>
          </a:ln>
        </p:spPr>
      </p:pic>
      <p:sp>
        <p:nvSpPr>
          <p:cNvPr id="13" name="Google Shape;13;p12"/>
          <p:cNvSpPr txBox="1"/>
          <p:nvPr/>
        </p:nvSpPr>
        <p:spPr>
          <a:xfrm>
            <a:off x="7239000" y="6096000"/>
            <a:ext cx="12954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r>
              <a:rPr b="0" i="0" lang="en-US" sz="1800" u="none" cap="none" strike="noStrike">
                <a:solidFill>
                  <a:schemeClr val="dk1"/>
                </a:solidFill>
                <a:latin typeface="Arial"/>
                <a:ea typeface="Arial"/>
                <a:cs typeface="Arial"/>
                <a:sym typeface="Arial"/>
              </a:rPr>
              <a:t>/11</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ph type="ctrTitle"/>
          </p:nvPr>
        </p:nvSpPr>
        <p:spPr>
          <a:xfrm>
            <a:off x="381000" y="1905000"/>
            <a:ext cx="8153400" cy="204152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0000FF"/>
              </a:buClr>
              <a:buSzPts val="4400"/>
              <a:buFont typeface="Calibri"/>
              <a:buNone/>
            </a:pPr>
            <a:r>
              <a:rPr b="1" i="0" lang="en-US" sz="4400" u="none">
                <a:solidFill>
                  <a:srgbClr val="0000FF"/>
                </a:solidFill>
                <a:latin typeface="Calibri"/>
                <a:ea typeface="Calibri"/>
                <a:cs typeface="Calibri"/>
                <a:sym typeface="Calibri"/>
              </a:rPr>
              <a:t>DATA STRUCTURES AND ALGORITHMS</a:t>
            </a:r>
            <a:r>
              <a:rPr b="0" i="0" lang="en-US" sz="4400" u="none">
                <a:solidFill>
                  <a:srgbClr val="0000FF"/>
                </a:solidFill>
                <a:latin typeface="Calibri"/>
                <a:ea typeface="Calibri"/>
                <a:cs typeface="Calibri"/>
                <a:sym typeface="Calibri"/>
              </a:rPr>
              <a:t> using Java</a:t>
            </a:r>
            <a:br>
              <a:rPr b="1" i="0" lang="en-US" sz="4000" u="none">
                <a:solidFill>
                  <a:srgbClr val="0000FF"/>
                </a:solidFill>
                <a:latin typeface="Arial"/>
                <a:ea typeface="Arial"/>
                <a:cs typeface="Arial"/>
                <a:sym typeface="Arial"/>
              </a:rPr>
            </a:br>
            <a:r>
              <a:rPr b="1" i="0" lang="en-US" sz="4000" u="none">
                <a:solidFill>
                  <a:srgbClr val="0000FF"/>
                </a:solidFill>
                <a:latin typeface="Arial"/>
                <a:ea typeface="Arial"/>
                <a:cs typeface="Arial"/>
                <a:sym typeface="Arial"/>
              </a:rPr>
              <a:t>Course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2"/>
          <p:cNvSpPr txBox="1"/>
          <p:nvPr>
            <p:ph type="title"/>
          </p:nvPr>
        </p:nvSpPr>
        <p:spPr>
          <a:xfrm>
            <a:off x="914400" y="762000"/>
            <a:ext cx="69342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Arial"/>
              <a:buNone/>
            </a:pPr>
            <a:r>
              <a:rPr b="1" i="0" lang="en-US" sz="4000" u="none">
                <a:solidFill>
                  <a:schemeClr val="hlink"/>
                </a:solidFill>
                <a:latin typeface="Arial"/>
                <a:ea typeface="Arial"/>
                <a:cs typeface="Arial"/>
                <a:sym typeface="Arial"/>
              </a:rPr>
              <a:t>Objectives</a:t>
            </a:r>
            <a:endParaRPr/>
          </a:p>
        </p:txBody>
      </p:sp>
      <p:sp>
        <p:nvSpPr>
          <p:cNvPr id="60" name="Google Shape;60;p2"/>
          <p:cNvSpPr txBox="1"/>
          <p:nvPr>
            <p:ph idx="1" type="body"/>
          </p:nvPr>
        </p:nvSpPr>
        <p:spPr>
          <a:xfrm>
            <a:off x="990600" y="1752600"/>
            <a:ext cx="6934200" cy="40846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Instructor introduction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Course description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Text book(s) &amp; Reference Recourses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Learing Tools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Requirements of the course</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Grading policy</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Academic policy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sp>
        <p:nvSpPr>
          <p:cNvPr id="65" name="Google Shape;65;p4"/>
          <p:cNvSpPr txBox="1"/>
          <p:nvPr>
            <p:ph type="title"/>
          </p:nvPr>
        </p:nvSpPr>
        <p:spPr>
          <a:xfrm>
            <a:off x="457200" y="669925"/>
            <a:ext cx="8229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Arial"/>
              <a:buNone/>
            </a:pPr>
            <a:r>
              <a:rPr b="1" i="0" lang="en-US" sz="4000" u="none">
                <a:solidFill>
                  <a:schemeClr val="hlink"/>
                </a:solidFill>
                <a:latin typeface="Arial"/>
                <a:ea typeface="Arial"/>
                <a:cs typeface="Arial"/>
                <a:sym typeface="Arial"/>
              </a:rPr>
              <a:t>Course description</a:t>
            </a:r>
            <a:endParaRPr/>
          </a:p>
        </p:txBody>
      </p:sp>
      <p:sp>
        <p:nvSpPr>
          <p:cNvPr id="66" name="Google Shape;66;p4"/>
          <p:cNvSpPr txBox="1"/>
          <p:nvPr>
            <p:ph idx="1" type="body"/>
          </p:nvPr>
        </p:nvSpPr>
        <p:spPr>
          <a:xfrm>
            <a:off x="457200" y="1792287"/>
            <a:ext cx="8229600" cy="3635375"/>
          </a:xfrm>
          <a:prstGeom prst="rect">
            <a:avLst/>
          </a:prstGeom>
          <a:noFill/>
          <a:ln>
            <a:noFill/>
          </a:ln>
        </p:spPr>
        <p:txBody>
          <a:bodyPr anchorCtr="0" anchor="t" bIns="45700" lIns="91425" spcFirstLastPara="1" rIns="91425" wrap="square" tIns="45700">
            <a:sp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course introduce the fundamental concepts of data structures and the algorithms that proceed from them. Topics include the basics of algorithmic analysis, fundamental data structures (including stacks, queues, linked lists, hash tables, trees), recursion, and some important applications of these data stuctures and algorithms. </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Such data structures and algorithms as being implemented in Java are also given in this course.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5"/>
          <p:cNvSpPr txBox="1"/>
          <p:nvPr>
            <p:ph type="title"/>
          </p:nvPr>
        </p:nvSpPr>
        <p:spPr>
          <a:xfrm>
            <a:off x="457200" y="381000"/>
            <a:ext cx="8229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Calibri"/>
              <a:buNone/>
            </a:pPr>
            <a:r>
              <a:rPr b="1" i="0" lang="en-US" sz="4000" u="none">
                <a:solidFill>
                  <a:schemeClr val="hlink"/>
                </a:solidFill>
                <a:latin typeface="Calibri"/>
                <a:ea typeface="Calibri"/>
                <a:cs typeface="Calibri"/>
                <a:sym typeface="Calibri"/>
              </a:rPr>
              <a:t>Text book(s) &amp; Reference Recourses</a:t>
            </a:r>
            <a:endParaRPr/>
          </a:p>
        </p:txBody>
      </p:sp>
      <p:sp>
        <p:nvSpPr>
          <p:cNvPr id="72" name="Google Shape;72;p5"/>
          <p:cNvSpPr txBox="1"/>
          <p:nvPr>
            <p:ph idx="1" type="body"/>
          </p:nvPr>
        </p:nvSpPr>
        <p:spPr>
          <a:xfrm>
            <a:off x="228600" y="1371600"/>
            <a:ext cx="8686800" cy="3743325"/>
          </a:xfrm>
          <a:prstGeom prst="rect">
            <a:avLst/>
          </a:prstGeom>
          <a:noFill/>
          <a:ln>
            <a:noFill/>
          </a:ln>
        </p:spPr>
        <p:txBody>
          <a:bodyPr anchorCtr="0" anchor="t" bIns="45700" lIns="91425" spcFirstLastPara="1" rIns="91425" wrap="square" tIns="45700">
            <a:spAutoFit/>
          </a:bodyPr>
          <a:lstStyle/>
          <a:p>
            <a:pPr indent="-342900" lvl="0" marL="342900" rtl="0" algn="l">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Main books/resources:</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1) Michaelt T. Goodrich, Roberto Tamassia, Michael H. Goldwasser: Data Structures and Algorithms in Java, 6th Edition, 2014 (ebook)</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2) Link to the book: http://coltech.vnu.edu.vn/~sonpb/DSA/Data%20Structures%20and%20Algorithms%20in%20Java,%206th%20Edition,%202014.pdf</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3) FU slides (ppt)</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4) FU exercises (pdf)</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5) Code files for students (java files)</a:t>
            </a:r>
            <a:endParaRPr/>
          </a:p>
          <a:p>
            <a:pPr indent="-342900" lvl="0" marL="34290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6) FU CMS at http://cms.fpt.edu.vn.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6"/>
          <p:cNvSpPr txBox="1"/>
          <p:nvPr>
            <p:ph type="title"/>
          </p:nvPr>
        </p:nvSpPr>
        <p:spPr>
          <a:xfrm>
            <a:off x="533400" y="746125"/>
            <a:ext cx="7086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Calibri"/>
              <a:buNone/>
            </a:pPr>
            <a:r>
              <a:rPr b="1" i="0" lang="en-US" sz="4000" u="none">
                <a:solidFill>
                  <a:schemeClr val="hlink"/>
                </a:solidFill>
                <a:latin typeface="Calibri"/>
                <a:ea typeface="Calibri"/>
                <a:cs typeface="Calibri"/>
                <a:sym typeface="Calibri"/>
              </a:rPr>
              <a:t>Learning Tools</a:t>
            </a:r>
            <a:endParaRPr/>
          </a:p>
        </p:txBody>
      </p:sp>
      <p:sp>
        <p:nvSpPr>
          <p:cNvPr id="78" name="Google Shape;78;p6"/>
          <p:cNvSpPr txBox="1"/>
          <p:nvPr>
            <p:ph idx="1" type="body"/>
          </p:nvPr>
        </p:nvSpPr>
        <p:spPr>
          <a:xfrm>
            <a:off x="1676400" y="2057400"/>
            <a:ext cx="5334000" cy="1544637"/>
          </a:xfrm>
          <a:prstGeom prst="rect">
            <a:avLst/>
          </a:prstGeom>
          <a:noFill/>
          <a:ln>
            <a:noFill/>
          </a:ln>
        </p:spPr>
        <p:txBody>
          <a:bodyPr anchorCtr="0" anchor="t" bIns="45700" lIns="91425" spcFirstLastPara="1" rIns="91425" wrap="square" tIns="45700">
            <a:spAutoFit/>
          </a:bodyPr>
          <a:lstStyle/>
          <a:p>
            <a:pPr indent="-285750" lvl="1" marL="74295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JDK 1.7 </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JDK 1.7 Documentation</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NetBeans 7.x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7"/>
          <p:cNvSpPr txBox="1"/>
          <p:nvPr>
            <p:ph idx="4294967295" type="title"/>
          </p:nvPr>
        </p:nvSpPr>
        <p:spPr>
          <a:xfrm>
            <a:off x="381000" y="746125"/>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4000"/>
              <a:buFont typeface="Arial"/>
              <a:buNone/>
            </a:pPr>
            <a:r>
              <a:rPr b="1" i="0" lang="en-US" sz="4000" u="none" cap="none" strike="noStrike">
                <a:solidFill>
                  <a:schemeClr val="hlink"/>
                </a:solidFill>
                <a:latin typeface="Arial"/>
                <a:ea typeface="Arial"/>
                <a:cs typeface="Arial"/>
                <a:sym typeface="Arial"/>
              </a:rPr>
              <a:t>Requirements of the course</a:t>
            </a:r>
            <a:endParaRPr/>
          </a:p>
        </p:txBody>
      </p:sp>
      <p:sp>
        <p:nvSpPr>
          <p:cNvPr id="84" name="Google Shape;84;p7"/>
          <p:cNvSpPr txBox="1"/>
          <p:nvPr>
            <p:ph idx="4294967295" type="body"/>
          </p:nvPr>
        </p:nvSpPr>
        <p:spPr>
          <a:xfrm>
            <a:off x="533400" y="1600200"/>
            <a:ext cx="8001000" cy="39385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Following lessons in classrooms</a:t>
            </a:r>
            <a:endParaRPr/>
          </a:p>
          <a:p>
            <a:pPr indent="-342900" lvl="0" marL="342900" marR="0" rtl="0" algn="l">
              <a:lnSpc>
                <a:spcPct val="100000"/>
              </a:lnSpc>
              <a:spcBef>
                <a:spcPts val="112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Reading textbooks at home</a:t>
            </a:r>
            <a:endParaRPr/>
          </a:p>
          <a:p>
            <a:pPr indent="-342900" lvl="0" marL="342900" marR="0" rtl="0" algn="l">
              <a:lnSpc>
                <a:spcPct val="100000"/>
              </a:lnSpc>
              <a:spcBef>
                <a:spcPts val="112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Completing workshops in time</a:t>
            </a:r>
            <a:endParaRPr/>
          </a:p>
          <a:p>
            <a:pPr indent="-342900" lvl="0" marL="342900" marR="0" rtl="0" algn="l">
              <a:lnSpc>
                <a:spcPct val="100000"/>
              </a:lnSpc>
              <a:spcBef>
                <a:spcPts val="112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Completing and submitting assignment in time</a:t>
            </a:r>
            <a:endParaRPr/>
          </a:p>
          <a:p>
            <a:pPr indent="-342900" lvl="0" marL="342900" marR="0" rtl="0" algn="l">
              <a:lnSpc>
                <a:spcPct val="100000"/>
              </a:lnSpc>
              <a:spcBef>
                <a:spcPts val="112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Discussing actively in your teams and in classrooms</a:t>
            </a:r>
            <a:endParaRPr/>
          </a:p>
          <a:p>
            <a:pPr indent="-342900" lvl="0" marL="342900" marR="0" rtl="0" algn="l">
              <a:lnSpc>
                <a:spcPct val="100000"/>
              </a:lnSpc>
              <a:spcBef>
                <a:spcPts val="112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Presenting your presentations in classroom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8"/>
          <p:cNvSpPr txBox="1"/>
          <p:nvPr>
            <p:ph type="title"/>
          </p:nvPr>
        </p:nvSpPr>
        <p:spPr>
          <a:xfrm>
            <a:off x="457200" y="495300"/>
            <a:ext cx="8229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Arial"/>
              <a:buNone/>
            </a:pPr>
            <a:r>
              <a:rPr b="1" i="0" lang="en-US" sz="4000" u="none">
                <a:solidFill>
                  <a:schemeClr val="hlink"/>
                </a:solidFill>
                <a:latin typeface="Arial"/>
                <a:ea typeface="Arial"/>
                <a:cs typeface="Arial"/>
                <a:sym typeface="Arial"/>
              </a:rPr>
              <a:t>Grading policy</a:t>
            </a:r>
            <a:endParaRPr/>
          </a:p>
        </p:txBody>
      </p:sp>
      <p:sp>
        <p:nvSpPr>
          <p:cNvPr id="90" name="Google Shape;90;p8"/>
          <p:cNvSpPr txBox="1"/>
          <p:nvPr/>
        </p:nvSpPr>
        <p:spPr>
          <a:xfrm>
            <a:off x="685800" y="1371600"/>
            <a:ext cx="7772400" cy="43275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Calibri"/>
              <a:buChar char="•"/>
            </a:pPr>
            <a:r>
              <a:rPr b="1" i="0" lang="en-US" sz="2400" u="none" cap="none" strike="noStrike">
                <a:solidFill>
                  <a:schemeClr val="dk1"/>
                </a:solidFill>
                <a:latin typeface="Calibri"/>
                <a:ea typeface="Calibri"/>
                <a:cs typeface="Calibri"/>
                <a:sym typeface="Calibri"/>
              </a:rPr>
              <a:t>On-going assessment:</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- 2 Assignments (AS):	20%</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- 2 Progress tests (PT):	20%</a:t>
            </a:r>
            <a:endParaRPr/>
          </a:p>
          <a:p>
            <a:pPr indent="-342900" lvl="0" marL="342900" marR="0" rtl="0" algn="l">
              <a:lnSpc>
                <a:spcPct val="100000"/>
              </a:lnSpc>
              <a:spcBef>
                <a:spcPts val="480"/>
              </a:spcBef>
              <a:spcAft>
                <a:spcPts val="0"/>
              </a:spcAft>
              <a:buClr>
                <a:schemeClr val="dk1"/>
              </a:buClr>
              <a:buSzPts val="2400"/>
              <a:buFont typeface="Calibri"/>
              <a:buChar char="•"/>
            </a:pPr>
            <a:r>
              <a:rPr b="1" i="0" lang="en-US" sz="2400" u="none" cap="none" strike="noStrike">
                <a:solidFill>
                  <a:schemeClr val="dk1"/>
                </a:solidFill>
                <a:latin typeface="Calibri"/>
                <a:ea typeface="Calibri"/>
                <a:cs typeface="Calibri"/>
                <a:sym typeface="Calibri"/>
              </a:rPr>
              <a:t>Practical and Final Exams:</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- 1 Practical Exam (PE):	30%</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- 1 Final Exam (FE):		30%</a:t>
            </a:r>
            <a:endParaRPr b="1"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Total score (TS)</a:t>
            </a:r>
            <a:r>
              <a:rPr b="0" i="0" lang="en-US" sz="2400" u="none" cap="none" strike="noStrike">
                <a:solidFill>
                  <a:schemeClr val="dk1"/>
                </a:solidFill>
                <a:latin typeface="Calibri"/>
                <a:ea typeface="Calibri"/>
                <a:cs typeface="Calibri"/>
                <a:sym typeface="Calibri"/>
              </a:rPr>
              <a:t> = 0.2*AS + 0.2*PT + 0.3*PE + 0.3*FE</a:t>
            </a:r>
            <a:endParaRPr/>
          </a:p>
          <a:p>
            <a:pPr indent="-342900" lvl="0" marL="342900" marR="0" rtl="0" algn="l">
              <a:lnSpc>
                <a:spcPct val="100000"/>
              </a:lnSpc>
              <a:spcBef>
                <a:spcPts val="48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Completion Criteria:</a:t>
            </a:r>
            <a:r>
              <a:rPr b="0" i="0" lang="en-US" sz="2400" u="none" cap="none" strike="noStrike">
                <a:solidFill>
                  <a:schemeClr val="dk1"/>
                </a:solidFill>
                <a:latin typeface="Calibri"/>
                <a:ea typeface="Calibri"/>
                <a:cs typeface="Calibri"/>
                <a:sym typeface="Calibri"/>
              </a:rPr>
              <a:t>  </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1) Every on-going assessment (average) component &gt; 0</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2) PE &gt; 0 (no resit)</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3) FE &gt;= 4 &amp; TS  &gt;= 5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9"/>
          <p:cNvSpPr txBox="1"/>
          <p:nvPr>
            <p:ph type="title"/>
          </p:nvPr>
        </p:nvSpPr>
        <p:spPr>
          <a:xfrm>
            <a:off x="228600" y="495300"/>
            <a:ext cx="86868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chemeClr val="hlink"/>
              </a:buClr>
              <a:buSzPts val="4000"/>
              <a:buFont typeface="Arial"/>
              <a:buNone/>
            </a:pPr>
            <a:r>
              <a:rPr b="1" i="0" lang="en-US" sz="4000" u="none">
                <a:solidFill>
                  <a:schemeClr val="hlink"/>
                </a:solidFill>
                <a:latin typeface="Arial"/>
                <a:ea typeface="Arial"/>
                <a:cs typeface="Arial"/>
                <a:sym typeface="Arial"/>
              </a:rPr>
              <a:t>FPT-University Academic policy</a:t>
            </a:r>
            <a:endParaRPr/>
          </a:p>
        </p:txBody>
      </p:sp>
      <p:sp>
        <p:nvSpPr>
          <p:cNvPr id="96" name="Google Shape;96;p9"/>
          <p:cNvSpPr txBox="1"/>
          <p:nvPr>
            <p:ph idx="1" type="body"/>
          </p:nvPr>
        </p:nvSpPr>
        <p:spPr>
          <a:xfrm>
            <a:off x="533400" y="1339850"/>
            <a:ext cx="8229600" cy="4984750"/>
          </a:xfrm>
          <a:prstGeom prst="rect">
            <a:avLst/>
          </a:prstGeom>
          <a:noFill/>
          <a:ln>
            <a:noFill/>
          </a:ln>
        </p:spPr>
        <p:txBody>
          <a:bodyPr anchorCtr="0" anchor="t" bIns="45700" lIns="91425" spcFirstLastPara="1" rIns="91425" wrap="square" tIns="45700">
            <a:spAutoFit/>
          </a:bodyPr>
          <a:lstStyle/>
          <a:p>
            <a:pPr indent="-342900" lvl="0" marL="342900" rtl="0" algn="l">
              <a:lnSpc>
                <a:spcPct val="100000"/>
              </a:lnSpc>
              <a:spcBef>
                <a:spcPts val="0"/>
              </a:spcBef>
              <a:spcAft>
                <a:spcPts val="0"/>
              </a:spcAft>
              <a:buClr>
                <a:schemeClr val="dk1"/>
              </a:buClr>
              <a:buSzPts val="2400"/>
              <a:buNone/>
            </a:pPr>
            <a:r>
              <a:rPr b="0" i="0" lang="en-US" sz="2400" u="none">
                <a:solidFill>
                  <a:schemeClr val="dk1"/>
                </a:solidFill>
                <a:latin typeface="Calibri"/>
                <a:ea typeface="Calibri"/>
                <a:cs typeface="Calibri"/>
                <a:sym typeface="Calibri"/>
              </a:rPr>
              <a:t>Cheating, plagiarism and breach of copyright are serious</a:t>
            </a:r>
            <a:endParaRPr/>
          </a:p>
          <a:p>
            <a:pPr indent="-342900" lvl="0" marL="342900" rtl="0" algn="l">
              <a:lnSpc>
                <a:spcPct val="100000"/>
              </a:lnSpc>
              <a:spcBef>
                <a:spcPts val="480"/>
              </a:spcBef>
              <a:spcAft>
                <a:spcPts val="0"/>
              </a:spcAft>
              <a:buClr>
                <a:schemeClr val="dk1"/>
              </a:buClr>
              <a:buSzPts val="2400"/>
              <a:buNone/>
            </a:pPr>
            <a:r>
              <a:rPr b="0" i="0" lang="en-US" sz="2400" u="none">
                <a:solidFill>
                  <a:schemeClr val="dk1"/>
                </a:solidFill>
                <a:latin typeface="Calibri"/>
                <a:ea typeface="Calibri"/>
                <a:cs typeface="Calibri"/>
                <a:sym typeface="Calibri"/>
              </a:rPr>
              <a:t>offenses under this Policy.</a:t>
            </a:r>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Cheating</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Cheating during a test or exam is construed as talking, peeking at another student’s paper or any other clandestine method of transmitting information.</a:t>
            </a:r>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Plagiarism</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Plagiarism is using the work of others without citing it; that is, holding the work of others out as your own work. </a:t>
            </a:r>
            <a:endParaRPr/>
          </a:p>
          <a:p>
            <a:pPr indent="-342900" lvl="0" marL="34290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Breach of Copyright</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If you photocopy a textbook without the copyright holder's permission, you violate copyright law.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0"/>
          <p:cNvSpPr txBox="1"/>
          <p:nvPr>
            <p:ph idx="4294967295" type="title"/>
          </p:nvPr>
        </p:nvSpPr>
        <p:spPr>
          <a:xfrm>
            <a:off x="152400" y="776287"/>
            <a:ext cx="8686800" cy="5191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Assignments submission guide</a:t>
            </a:r>
            <a:endParaRPr/>
          </a:p>
        </p:txBody>
      </p:sp>
      <p:sp>
        <p:nvSpPr>
          <p:cNvPr id="102" name="Google Shape;102;p10"/>
          <p:cNvSpPr txBox="1"/>
          <p:nvPr>
            <p:ph idx="4294967295" type="body"/>
          </p:nvPr>
        </p:nvSpPr>
        <p:spPr>
          <a:xfrm>
            <a:off x="457200" y="1828800"/>
            <a:ext cx="8153400" cy="2136775"/>
          </a:xfrm>
          <a:prstGeom prst="rect">
            <a:avLst/>
          </a:prstGeom>
          <a:noFill/>
          <a:ln>
            <a:noFill/>
          </a:ln>
        </p:spPr>
        <p:txBody>
          <a:bodyPr anchorCtr="0" anchor="t" bIns="45700" lIns="91425" spcFirstLastPara="1" rIns="91425" wrap="square" tIns="45700">
            <a:spAutoFit/>
          </a:bodyPr>
          <a:lstStyle/>
          <a:p>
            <a:pPr indent="-609600" lvl="0" marL="609600" marR="0" rtl="0" algn="l">
              <a:lnSpc>
                <a:spcPct val="100000"/>
              </a:lnSpc>
              <a:spcBef>
                <a:spcPts val="0"/>
              </a:spcBef>
              <a:spcAft>
                <a:spcPts val="0"/>
              </a:spcAft>
              <a:buClr>
                <a:schemeClr val="dk1"/>
              </a:buClr>
              <a:buSzPts val="2400"/>
              <a:buFont typeface="Arial"/>
              <a:buAutoNum type="arabicPeriod"/>
            </a:pPr>
            <a:r>
              <a:rPr b="0" i="0" lang="en-US" sz="2400" u="none" cap="none" strike="noStrike">
                <a:solidFill>
                  <a:schemeClr val="dk1"/>
                </a:solidFill>
                <a:latin typeface="Calibri"/>
                <a:ea typeface="Calibri"/>
                <a:cs typeface="Calibri"/>
                <a:sym typeface="Calibri"/>
              </a:rPr>
              <a:t>Create the folder with a name like </a:t>
            </a:r>
            <a:endParaRPr/>
          </a:p>
          <a:p>
            <a:pPr indent="-609600" lvl="0" marL="6096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login_name_ASX, e.g.  01245_HungNV_AS1	(1)</a:t>
            </a:r>
            <a:endParaRPr/>
          </a:p>
          <a:p>
            <a:pPr indent="-609600" lvl="0" marL="6096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to contain your assignment.</a:t>
            </a:r>
            <a:endParaRPr/>
          </a:p>
          <a:p>
            <a:pPr indent="-609600" lvl="0" marL="609600" marR="0" rtl="0" algn="l">
              <a:lnSpc>
                <a:spcPct val="100000"/>
              </a:lnSpc>
              <a:spcBef>
                <a:spcPts val="480"/>
              </a:spcBef>
              <a:spcAft>
                <a:spcPts val="0"/>
              </a:spcAft>
              <a:buClr>
                <a:schemeClr val="dk1"/>
              </a:buClr>
              <a:buSzPts val="2400"/>
              <a:buFont typeface="Arial"/>
              <a:buAutoNum type="arabicPeriod" startAt="2"/>
            </a:pPr>
            <a:r>
              <a:rPr b="0" i="0" lang="en-US" sz="2400" u="none" cap="none" strike="noStrike">
                <a:solidFill>
                  <a:schemeClr val="dk1"/>
                </a:solidFill>
                <a:latin typeface="Calibri"/>
                <a:ea typeface="Calibri"/>
                <a:cs typeface="Calibri"/>
                <a:sym typeface="Calibri"/>
              </a:rPr>
              <a:t>Compress the whole folder (1) with the same name and submitt to cms.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1"/>
          <p:cNvSpPr txBox="1"/>
          <p:nvPr>
            <p:ph idx="4294967295" type="title"/>
          </p:nvPr>
        </p:nvSpPr>
        <p:spPr>
          <a:xfrm>
            <a:off x="914400" y="471487"/>
            <a:ext cx="7239000" cy="5191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Arial"/>
              <a:buNone/>
            </a:pPr>
            <a:r>
              <a:rPr b="1" i="0" lang="en-US" sz="2800" u="none" cap="none" strike="noStrike">
                <a:solidFill>
                  <a:schemeClr val="hlink"/>
                </a:solidFill>
                <a:latin typeface="Arial"/>
                <a:ea typeface="Arial"/>
                <a:cs typeface="Arial"/>
                <a:sym typeface="Arial"/>
              </a:rPr>
              <a:t>OOP notion conventions</a:t>
            </a:r>
            <a:endParaRPr/>
          </a:p>
        </p:txBody>
      </p:sp>
      <p:sp>
        <p:nvSpPr>
          <p:cNvPr id="108" name="Google Shape;108;p11"/>
          <p:cNvSpPr txBox="1"/>
          <p:nvPr>
            <p:ph idx="4294967295" type="body"/>
          </p:nvPr>
        </p:nvSpPr>
        <p:spPr>
          <a:xfrm>
            <a:off x="457200" y="1422400"/>
            <a:ext cx="8382000" cy="4064000"/>
          </a:xfrm>
          <a:prstGeom prst="rect">
            <a:avLst/>
          </a:prstGeom>
          <a:noFill/>
          <a:ln>
            <a:noFill/>
          </a:ln>
        </p:spPr>
        <p:txBody>
          <a:bodyPr anchorCtr="0" anchor="t" bIns="45700" lIns="91425" spcFirstLastPara="1" rIns="91425" wrap="square" tIns="45700">
            <a:spAutoFit/>
          </a:bodyPr>
          <a:lstStyle/>
          <a:p>
            <a:pPr indent="-609600" lvl="0" marL="609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Class name always start with uppercase character.</a:t>
            </a:r>
            <a:endParaRPr/>
          </a:p>
          <a:p>
            <a:pPr indent="-609600" lvl="0" marL="6096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Variable names and function names always start with the lowercase character.</a:t>
            </a:r>
            <a:endParaRPr/>
          </a:p>
          <a:p>
            <a:pPr indent="-609600" lvl="0" marL="6096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If a name consists of many words, from second words start all words by uppercase character.</a:t>
            </a:r>
            <a:endParaRPr/>
          </a:p>
          <a:p>
            <a:pPr indent="-609600" lvl="0" marL="609600" marR="0" rtl="0" algn="l">
              <a:lnSpc>
                <a:spcPct val="9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examples for class names:</a:t>
            </a:r>
            <a:endParaRPr/>
          </a:p>
          <a:p>
            <a:pPr indent="-609600" lvl="0" marL="609600" marR="0" rtl="0" algn="l">
              <a:lnSpc>
                <a:spcPct val="90000"/>
              </a:lnSpc>
              <a:spcBef>
                <a:spcPts val="56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	Rectangle, SecondDegreeEquation</a:t>
            </a:r>
            <a:endParaRPr/>
          </a:p>
          <a:p>
            <a:pPr indent="-609600" lvl="0" marL="609600" marR="0" rtl="0" algn="l">
              <a:lnSpc>
                <a:spcPct val="9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examples for variable and function names:</a:t>
            </a:r>
            <a:endParaRPr/>
          </a:p>
          <a:p>
            <a:pPr indent="-609600" lvl="0" marL="609600" marR="0" rtl="0" algn="l">
              <a:lnSpc>
                <a:spcPct val="90000"/>
              </a:lnSpc>
              <a:spcBef>
                <a:spcPts val="56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	sideOfRectangle, setDataToSafety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2007-08-21T04:43:22Z</dcterms:created>
  <dc:creator>Ngo Trung Viet</dc:creator>
</cp:coreProperties>
</file>