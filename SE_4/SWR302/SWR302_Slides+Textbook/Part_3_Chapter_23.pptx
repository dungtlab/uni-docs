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8" r:id="rId1"/>
  </p:sldMasterIdLst>
  <p:notesMasterIdLst>
    <p:notesMasterId r:id="rId19"/>
  </p:notesMasterIdLst>
  <p:sldIdLst>
    <p:sldId id="293" r:id="rId2"/>
    <p:sldId id="292" r:id="rId3"/>
    <p:sldId id="299" r:id="rId4"/>
    <p:sldId id="309" r:id="rId5"/>
    <p:sldId id="305" r:id="rId6"/>
    <p:sldId id="320" r:id="rId7"/>
    <p:sldId id="301" r:id="rId8"/>
    <p:sldId id="318" r:id="rId9"/>
    <p:sldId id="319" r:id="rId10"/>
    <p:sldId id="302" r:id="rId11"/>
    <p:sldId id="313" r:id="rId12"/>
    <p:sldId id="315" r:id="rId13"/>
    <p:sldId id="316" r:id="rId14"/>
    <p:sldId id="317" r:id="rId15"/>
    <p:sldId id="304" r:id="rId16"/>
    <p:sldId id="300" r:id="rId17"/>
    <p:sldId id="298"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5972" autoAdjust="0"/>
  </p:normalViewPr>
  <p:slideViewPr>
    <p:cSldViewPr snapToGrid="0">
      <p:cViewPr varScale="1">
        <p:scale>
          <a:sx n="103" d="100"/>
          <a:sy n="103" d="100"/>
        </p:scale>
        <p:origin x="60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7E6C1-62C8-4B50-A9EC-7A12F754E049}" type="datetimeFigureOut">
              <a:rPr lang="en-US" smtClean="0"/>
              <a:t>3/2/2026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8E87D-860B-4D07-AA9C-845386AB8A4E}" type="slidenum">
              <a:rPr lang="en-US" smtClean="0"/>
              <a:t>‹#›</a:t>
            </a:fld>
            <a:endParaRPr lang="en-US"/>
          </a:p>
        </p:txBody>
      </p:sp>
    </p:spTree>
    <p:extLst>
      <p:ext uri="{BB962C8B-B14F-4D97-AF65-F5344CB8AC3E}">
        <p14:creationId xmlns:p14="http://schemas.microsoft.com/office/powerpoint/2010/main" val="91706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17</a:t>
            </a:fld>
            <a:endParaRPr lang="en-US"/>
          </a:p>
        </p:txBody>
      </p:sp>
    </p:spTree>
    <p:extLst>
      <p:ext uri="{BB962C8B-B14F-4D97-AF65-F5344CB8AC3E}">
        <p14:creationId xmlns:p14="http://schemas.microsoft.com/office/powerpoint/2010/main" val="3945373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1170250"/>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vi-VN"/>
              <a:t>Tuân thủ kỷ luật ở FPT -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4869935"/>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a:t>Tuân thủ kỷ luật ở FPT -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1652446"/>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a:t>Tuân thủ kỷ luật ở FPT -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1078189"/>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a:t>Tuân thủ kỷ luật ở FPT -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1420702"/>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vi-VN"/>
              <a:t>Tuân thủ kỷ luật ở FPT -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359368"/>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683474"/>
            <a:ext cx="7418152" cy="1319852"/>
          </a:xfrm>
        </p:spPr>
        <p:txBody>
          <a:bodyPr>
            <a:normAutofit/>
          </a:bodyPr>
          <a:lstStyle/>
          <a:p>
            <a:r>
              <a:rPr lang="en-US" sz="2400" dirty="0"/>
              <a:t>CHAPTER 23</a:t>
            </a:r>
            <a:br>
              <a:rPr lang="en-US" sz="2400" dirty="0"/>
            </a:br>
            <a:r>
              <a:rPr lang="en-US" dirty="0"/>
              <a:t>Outsourced projects</a:t>
            </a:r>
          </a:p>
        </p:txBody>
      </p:sp>
    </p:spTree>
    <p:extLst>
      <p:ext uri="{BB962C8B-B14F-4D97-AF65-F5344CB8AC3E}">
        <p14:creationId xmlns:p14="http://schemas.microsoft.com/office/powerpoint/2010/main" val="4143978400"/>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is outsourced project?</a:t>
            </a:r>
          </a:p>
          <a:p>
            <a:r>
              <a:rPr lang="en-US" dirty="0"/>
              <a:t>Appropriate levels of requirements detail</a:t>
            </a:r>
          </a:p>
          <a:p>
            <a:r>
              <a:rPr lang="en-US" dirty="0"/>
              <a:t>Acquirer-supplier interactions</a:t>
            </a:r>
          </a:p>
          <a:p>
            <a:r>
              <a:rPr lang="en-US" dirty="0"/>
              <a:t>Change management</a:t>
            </a:r>
          </a:p>
          <a:p>
            <a:r>
              <a:rPr lang="en-US" dirty="0"/>
              <a:t>Acceptance criteria</a:t>
            </a:r>
          </a:p>
        </p:txBody>
      </p:sp>
      <p:sp>
        <p:nvSpPr>
          <p:cNvPr id="2" name="Title 1"/>
          <p:cNvSpPr>
            <a:spLocks noGrp="1"/>
          </p:cNvSpPr>
          <p:nvPr>
            <p:ph type="title"/>
          </p:nvPr>
        </p:nvSpPr>
        <p:spPr/>
        <p:txBody>
          <a:bodyPr/>
          <a:lstStyle/>
          <a:p>
            <a:r>
              <a:rPr lang="en-US"/>
              <a:t>Content</a:t>
            </a:r>
          </a:p>
        </p:txBody>
      </p:sp>
    </p:spTree>
    <p:extLst>
      <p:ext uri="{BB962C8B-B14F-4D97-AF65-F5344CB8AC3E}">
        <p14:creationId xmlns:p14="http://schemas.microsoft.com/office/powerpoint/2010/main" val="226546248"/>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1DE87D-ABAB-01E3-BD4C-44FDB9754BE2}"/>
              </a:ext>
            </a:extLst>
          </p:cNvPr>
          <p:cNvSpPr>
            <a:spLocks noGrp="1"/>
          </p:cNvSpPr>
          <p:nvPr>
            <p:ph idx="1"/>
          </p:nvPr>
        </p:nvSpPr>
        <p:spPr>
          <a:xfrm>
            <a:off x="228600" y="1174531"/>
            <a:ext cx="8686800" cy="5029200"/>
          </a:xfrm>
        </p:spPr>
        <p:txBody>
          <a:bodyPr>
            <a:normAutofit fontScale="77500" lnSpcReduction="20000"/>
          </a:bodyPr>
          <a:lstStyle/>
          <a:p>
            <a:r>
              <a:rPr lang="en-US" dirty="0"/>
              <a:t>An outsourced project is a business arrangement in which a company delegates certain tasks, operations, or services to an external third-party vendor or service provider. This arrangement allows the company to focus on its core competencies while the external partner handles the specialized work, often at a lower cost or with greater expertise. Outsourced projects can vary in scope and complexity and can include areas such as software development, customer service, human resources, or manufacturing.</a:t>
            </a:r>
          </a:p>
          <a:p>
            <a:pPr marL="0" indent="0">
              <a:buNone/>
            </a:pPr>
            <a:endParaRPr lang="en-US" dirty="0"/>
          </a:p>
          <a:p>
            <a:r>
              <a:rPr lang="en-US" b="1" dirty="0"/>
              <a:t>Types of Outsourcing:</a:t>
            </a:r>
          </a:p>
          <a:p>
            <a:pPr>
              <a:buFont typeface="Arial" panose="020B0604020202020204" pitchFamily="34" charset="0"/>
              <a:buChar char="•"/>
            </a:pPr>
            <a:r>
              <a:rPr lang="en-US" b="1" dirty="0"/>
              <a:t>Onshore Outsourcing</a:t>
            </a:r>
            <a:r>
              <a:rPr lang="en-US" dirty="0"/>
              <a:t>: The service provider is located in the same country as the client.</a:t>
            </a:r>
          </a:p>
          <a:p>
            <a:pPr>
              <a:buFont typeface="Arial" panose="020B0604020202020204" pitchFamily="34" charset="0"/>
              <a:buChar char="•"/>
            </a:pPr>
            <a:r>
              <a:rPr lang="en-US" b="1" dirty="0"/>
              <a:t>Nearshore Outsourcing</a:t>
            </a:r>
            <a:r>
              <a:rPr lang="en-US" dirty="0"/>
              <a:t>: The provider is in a neighboring or nearby country.</a:t>
            </a:r>
          </a:p>
          <a:p>
            <a:pPr>
              <a:buFont typeface="Arial" panose="020B0604020202020204" pitchFamily="34" charset="0"/>
              <a:buChar char="•"/>
            </a:pPr>
            <a:r>
              <a:rPr lang="en-US" b="1" dirty="0"/>
              <a:t>Offshore Outsourcing</a:t>
            </a:r>
            <a:r>
              <a:rPr lang="en-US" dirty="0"/>
              <a:t>: The provider is located in a different country, often far away geographically</a:t>
            </a:r>
          </a:p>
        </p:txBody>
      </p:sp>
      <p:sp>
        <p:nvSpPr>
          <p:cNvPr id="3" name="Title 2">
            <a:extLst>
              <a:ext uri="{FF2B5EF4-FFF2-40B4-BE49-F238E27FC236}">
                <a16:creationId xmlns:a16="http://schemas.microsoft.com/office/drawing/2014/main" id="{785E1C45-3F6F-21B1-7F62-87D3D85E70F4}"/>
              </a:ext>
            </a:extLst>
          </p:cNvPr>
          <p:cNvSpPr>
            <a:spLocks noGrp="1"/>
          </p:cNvSpPr>
          <p:nvPr>
            <p:ph type="title"/>
          </p:nvPr>
        </p:nvSpPr>
        <p:spPr>
          <a:xfrm>
            <a:off x="2590800" y="307659"/>
            <a:ext cx="6324600" cy="1084146"/>
          </a:xfrm>
        </p:spPr>
        <p:txBody>
          <a:bodyPr/>
          <a:lstStyle/>
          <a:p>
            <a:r>
              <a:rPr lang="en-US" sz="2800" b="1" dirty="0"/>
              <a:t>What is an Outsourced Project?</a:t>
            </a:r>
            <a:br>
              <a:rPr lang="en-US" sz="2800" b="1" dirty="0"/>
            </a:br>
            <a:endParaRPr lang="en-US" sz="2800" dirty="0"/>
          </a:p>
        </p:txBody>
      </p:sp>
      <p:sp>
        <p:nvSpPr>
          <p:cNvPr id="5" name="Slide Number Placeholder 4">
            <a:extLst>
              <a:ext uri="{FF2B5EF4-FFF2-40B4-BE49-F238E27FC236}">
                <a16:creationId xmlns:a16="http://schemas.microsoft.com/office/drawing/2014/main" id="{FF22DCE2-4E62-3A1F-BEEA-DB4031190223}"/>
              </a:ext>
            </a:extLst>
          </p:cNvPr>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624662780"/>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5BFC05-14F1-AB58-F752-7E4C0671C7F7}"/>
              </a:ext>
            </a:extLst>
          </p:cNvPr>
          <p:cNvSpPr>
            <a:spLocks noGrp="1"/>
          </p:cNvSpPr>
          <p:nvPr>
            <p:ph type="title"/>
          </p:nvPr>
        </p:nvSpPr>
        <p:spPr/>
        <p:txBody>
          <a:bodyPr/>
          <a:lstStyle/>
          <a:p>
            <a:r>
              <a:rPr lang="en-US" sz="2800" dirty="0"/>
              <a:t>Benefits and Challenges of Outsourcing</a:t>
            </a:r>
          </a:p>
        </p:txBody>
      </p:sp>
      <p:sp>
        <p:nvSpPr>
          <p:cNvPr id="5" name="Slide Number Placeholder 4">
            <a:extLst>
              <a:ext uri="{FF2B5EF4-FFF2-40B4-BE49-F238E27FC236}">
                <a16:creationId xmlns:a16="http://schemas.microsoft.com/office/drawing/2014/main" id="{0E9C7753-CBF6-B88F-7688-9D3E5D1B4248}"/>
              </a:ext>
            </a:extLst>
          </p:cNvPr>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
        <p:nvSpPr>
          <p:cNvPr id="6" name="Rectangle 1">
            <a:extLst>
              <a:ext uri="{FF2B5EF4-FFF2-40B4-BE49-F238E27FC236}">
                <a16:creationId xmlns:a16="http://schemas.microsoft.com/office/drawing/2014/main" id="{1E0E1DE3-23A9-D697-EDCC-E598C10CEF59}"/>
              </a:ext>
            </a:extLst>
          </p:cNvPr>
          <p:cNvSpPr>
            <a:spLocks noGrp="1" noChangeArrowheads="1"/>
          </p:cNvSpPr>
          <p:nvPr>
            <p:ph idx="1"/>
          </p:nvPr>
        </p:nvSpPr>
        <p:spPr bwMode="auto">
          <a:xfrm>
            <a:off x="528145" y="1276907"/>
            <a:ext cx="8234855" cy="527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solidFill>
                  <a:srgbClr val="FF0000"/>
                </a:solidFill>
                <a:latin typeface="Arial" panose="020B0604020202020204" pitchFamily="34" charset="0"/>
                <a:cs typeface="Arial" panose="020B0604020202020204" pitchFamily="34" charset="0"/>
              </a:rPr>
              <a:t>Benefits:</a:t>
            </a:r>
          </a:p>
          <a:p>
            <a:pPr>
              <a:buFont typeface="Arial" panose="020B0604020202020204" pitchFamily="34" charset="0"/>
              <a:buChar char="•"/>
            </a:pPr>
            <a:r>
              <a:rPr lang="en-US" sz="2200" b="1" dirty="0">
                <a:latin typeface="Arial" panose="020B0604020202020204" pitchFamily="34" charset="0"/>
                <a:cs typeface="Arial" panose="020B0604020202020204" pitchFamily="34" charset="0"/>
              </a:rPr>
              <a:t>Leverage external expertise</a:t>
            </a:r>
            <a:r>
              <a:rPr lang="en-US" sz="2200" dirty="0">
                <a:latin typeface="Arial" panose="020B0604020202020204" pitchFamily="34" charset="0"/>
                <a:cs typeface="Arial" panose="020B0604020202020204" pitchFamily="34" charset="0"/>
              </a:rPr>
              <a:t>: Access to global professionals with specialized skills.</a:t>
            </a:r>
          </a:p>
          <a:p>
            <a:pPr>
              <a:buFont typeface="Arial" panose="020B0604020202020204" pitchFamily="34" charset="0"/>
              <a:buChar char="•"/>
            </a:pPr>
            <a:r>
              <a:rPr lang="en-US" sz="2200" b="1" dirty="0">
                <a:latin typeface="Arial" panose="020B0604020202020204" pitchFamily="34" charset="0"/>
                <a:cs typeface="Arial" panose="020B0604020202020204" pitchFamily="34" charset="0"/>
              </a:rPr>
              <a:t>Cost efficiency</a:t>
            </a:r>
            <a:r>
              <a:rPr lang="en-US" sz="2200" dirty="0">
                <a:latin typeface="Arial" panose="020B0604020202020204" pitchFamily="34" charset="0"/>
                <a:cs typeface="Arial" panose="020B0604020202020204" pitchFamily="34" charset="0"/>
              </a:rPr>
              <a:t>: Lower labor costs in different countries compared to hiring in-house.</a:t>
            </a:r>
          </a:p>
          <a:p>
            <a:r>
              <a:rPr lang="en-US" sz="2200" b="1" dirty="0">
                <a:solidFill>
                  <a:srgbClr val="FF0000"/>
                </a:solidFill>
                <a:latin typeface="Arial" panose="020B0604020202020204" pitchFamily="34" charset="0"/>
                <a:cs typeface="Arial" panose="020B0604020202020204" pitchFamily="34" charset="0"/>
              </a:rPr>
              <a:t>Challenges:</a:t>
            </a:r>
          </a:p>
          <a:p>
            <a:pPr>
              <a:buFont typeface="Arial" panose="020B0604020202020204" pitchFamily="34" charset="0"/>
              <a:buChar char="•"/>
            </a:pPr>
            <a:r>
              <a:rPr lang="en-US" sz="2200" b="1" dirty="0">
                <a:latin typeface="Arial" panose="020B0604020202020204" pitchFamily="34" charset="0"/>
                <a:cs typeface="Arial" panose="020B0604020202020204" pitchFamily="34" charset="0"/>
              </a:rPr>
              <a:t>Communication barriers</a:t>
            </a:r>
            <a:r>
              <a:rPr lang="en-US" sz="2200" dirty="0">
                <a:latin typeface="Arial" panose="020B0604020202020204" pitchFamily="34" charset="0"/>
                <a:cs typeface="Arial" panose="020B0604020202020204" pitchFamily="34" charset="0"/>
              </a:rPr>
              <a:t>: Time zone, language, and cultural differences can cause misunderstandings.</a:t>
            </a:r>
          </a:p>
          <a:p>
            <a:pPr>
              <a:buFont typeface="Arial" panose="020B0604020202020204" pitchFamily="34" charset="0"/>
              <a:buChar char="•"/>
            </a:pPr>
            <a:r>
              <a:rPr lang="en-US" sz="2200" b="1" dirty="0">
                <a:latin typeface="Arial" panose="020B0604020202020204" pitchFamily="34" charset="0"/>
                <a:cs typeface="Arial" panose="020B0604020202020204" pitchFamily="34" charset="0"/>
              </a:rPr>
              <a:t>Expectation mismatch</a:t>
            </a:r>
            <a:r>
              <a:rPr lang="en-US" sz="2200" dirty="0">
                <a:latin typeface="Arial" panose="020B0604020202020204" pitchFamily="34" charset="0"/>
                <a:cs typeface="Arial" panose="020B0604020202020204" pitchFamily="34" charset="0"/>
              </a:rPr>
              <a:t>: The final product may not meet initial expectations without proper guidance.</a:t>
            </a:r>
          </a:p>
          <a:p>
            <a:r>
              <a:rPr lang="en-US" sz="2200" b="1" dirty="0">
                <a:solidFill>
                  <a:srgbClr val="FF0000"/>
                </a:solidFill>
                <a:latin typeface="Arial" panose="020B0604020202020204" pitchFamily="34" charset="0"/>
                <a:cs typeface="Arial" panose="020B0604020202020204" pitchFamily="34" charset="0"/>
              </a:rPr>
              <a:t>Recommendation:</a:t>
            </a:r>
          </a:p>
          <a:p>
            <a:pPr>
              <a:buFont typeface="Arial" panose="020B0604020202020204" pitchFamily="34" charset="0"/>
              <a:buChar char="•"/>
            </a:pPr>
            <a:r>
              <a:rPr lang="en-US" sz="2200" dirty="0">
                <a:latin typeface="Arial" panose="020B0604020202020204" pitchFamily="34" charset="0"/>
                <a:cs typeface="Arial" panose="020B0604020202020204" pitchFamily="34" charset="0"/>
              </a:rPr>
              <a:t>Invest in clear communication and use collaboration tools to reduce misunderstandings.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6323261"/>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3AA9A6-4DF8-B6C6-9B84-B5CAABDF8CE9}"/>
              </a:ext>
            </a:extLst>
          </p:cNvPr>
          <p:cNvSpPr>
            <a:spLocks noGrp="1"/>
          </p:cNvSpPr>
          <p:nvPr>
            <p:ph idx="1"/>
          </p:nvPr>
        </p:nvSpPr>
        <p:spPr>
          <a:xfrm>
            <a:off x="228600" y="1247140"/>
            <a:ext cx="8686800" cy="5029200"/>
          </a:xfrm>
        </p:spPr>
        <p:txBody>
          <a:bodyPr>
            <a:normAutofit fontScale="85000" lnSpcReduction="20000"/>
          </a:bodyPr>
          <a:lstStyle/>
          <a:p>
            <a:r>
              <a:rPr lang="en-US" dirty="0"/>
              <a:t>In managing a project, it’s essential to define requirements at various levels of detail to guide the development process effectively. The level of detail required varies depending on the nature and complexity of the project, as well as the phase of the project lifecycle.</a:t>
            </a:r>
          </a:p>
          <a:p>
            <a:r>
              <a:rPr lang="en-US" b="1" dirty="0"/>
              <a:t>Different levels of requirements detail:</a:t>
            </a:r>
          </a:p>
          <a:p>
            <a:pPr>
              <a:buFont typeface="Arial" panose="020B0604020202020204" pitchFamily="34" charset="0"/>
              <a:buChar char="•"/>
            </a:pPr>
            <a:r>
              <a:rPr lang="en-US" b="1" dirty="0"/>
              <a:t>High-level requirements:</a:t>
            </a:r>
            <a:r>
              <a:rPr lang="en-US" dirty="0"/>
              <a:t> General statements that outline what the solution should achieve, without going into specifics.</a:t>
            </a:r>
          </a:p>
          <a:p>
            <a:pPr>
              <a:buFont typeface="Arial" panose="020B0604020202020204" pitchFamily="34" charset="0"/>
              <a:buChar char="•"/>
            </a:pPr>
            <a:r>
              <a:rPr lang="en-US" b="1" dirty="0"/>
              <a:t>Detailed requirements:</a:t>
            </a:r>
            <a:r>
              <a:rPr lang="en-US" dirty="0"/>
              <a:t> Specific statements that describe the functionality, behavior, or constraints of the solution.</a:t>
            </a:r>
          </a:p>
          <a:p>
            <a:r>
              <a:rPr lang="en-US" b="1" dirty="0"/>
              <a:t>Importance:</a:t>
            </a:r>
          </a:p>
          <a:p>
            <a:pPr>
              <a:buFont typeface="Arial" panose="020B0604020202020204" pitchFamily="34" charset="0"/>
              <a:buChar char="•"/>
            </a:pPr>
            <a:r>
              <a:rPr lang="en-US" dirty="0"/>
              <a:t>Ensures alignment between business goals and technical implementation.</a:t>
            </a:r>
          </a:p>
          <a:p>
            <a:pPr>
              <a:buFont typeface="Arial" panose="020B0604020202020204" pitchFamily="34" charset="0"/>
              <a:buChar char="•"/>
            </a:pPr>
            <a:r>
              <a:rPr lang="en-US" dirty="0"/>
              <a:t>Reduces misunderstandings and ambiguity.</a:t>
            </a:r>
          </a:p>
          <a:p>
            <a:pPr>
              <a:buFont typeface="Arial" panose="020B0604020202020204" pitchFamily="34" charset="0"/>
              <a:buChar char="•"/>
            </a:pPr>
            <a:r>
              <a:rPr lang="en-US" dirty="0"/>
              <a:t>Provides a roadmap for development teams.</a:t>
            </a:r>
          </a:p>
          <a:p>
            <a:endParaRPr lang="en-US" dirty="0"/>
          </a:p>
        </p:txBody>
      </p:sp>
      <p:sp>
        <p:nvSpPr>
          <p:cNvPr id="3" name="Title 2">
            <a:extLst>
              <a:ext uri="{FF2B5EF4-FFF2-40B4-BE49-F238E27FC236}">
                <a16:creationId xmlns:a16="http://schemas.microsoft.com/office/drawing/2014/main" id="{101D12BD-4697-981D-61C1-F6539DCA0EA6}"/>
              </a:ext>
            </a:extLst>
          </p:cNvPr>
          <p:cNvSpPr>
            <a:spLocks noGrp="1"/>
          </p:cNvSpPr>
          <p:nvPr>
            <p:ph type="title"/>
          </p:nvPr>
        </p:nvSpPr>
        <p:spPr>
          <a:xfrm>
            <a:off x="976745" y="453593"/>
            <a:ext cx="7938655" cy="713537"/>
          </a:xfrm>
        </p:spPr>
        <p:txBody>
          <a:bodyPr/>
          <a:lstStyle/>
          <a:p>
            <a:r>
              <a:rPr lang="en-US" sz="2800" b="1" dirty="0">
                <a:latin typeface="Arial" panose="020B0604020202020204" pitchFamily="34" charset="0"/>
                <a:cs typeface="Arial" panose="020B0604020202020204" pitchFamily="34" charset="0"/>
              </a:rPr>
              <a:t>Appropriate Levels of Requirements Detail</a:t>
            </a:r>
            <a:endParaRPr lang="en-US" sz="28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8A72F594-2B87-94ED-501D-03B0425595FF}"/>
              </a:ext>
            </a:extLst>
          </p:cNvPr>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3927355656"/>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8A984A-F84A-7424-6ECC-0EBB5AC4C4FA}"/>
              </a:ext>
            </a:extLst>
          </p:cNvPr>
          <p:cNvSpPr>
            <a:spLocks noGrp="1"/>
          </p:cNvSpPr>
          <p:nvPr>
            <p:ph idx="1"/>
          </p:nvPr>
        </p:nvSpPr>
        <p:spPr/>
        <p:txBody>
          <a:bodyPr>
            <a:normAutofit fontScale="92500"/>
          </a:bodyPr>
          <a:lstStyle/>
          <a:p>
            <a:r>
              <a:rPr lang="en-US" b="1" dirty="0"/>
              <a:t>Advantages:</a:t>
            </a:r>
          </a:p>
          <a:p>
            <a:pPr>
              <a:buFont typeface="Arial" panose="020B0604020202020204" pitchFamily="34" charset="0"/>
              <a:buChar char="•"/>
            </a:pPr>
            <a:r>
              <a:rPr lang="en-US" b="1" dirty="0"/>
              <a:t>Minimizes risk</a:t>
            </a:r>
            <a:r>
              <a:rPr lang="en-US" dirty="0"/>
              <a:t>: Detailed requirements lower the chances of miscommunication between the acquirer and supplier.</a:t>
            </a:r>
          </a:p>
          <a:p>
            <a:pPr>
              <a:buFont typeface="Arial" panose="020B0604020202020204" pitchFamily="34" charset="0"/>
              <a:buChar char="•"/>
            </a:pPr>
            <a:r>
              <a:rPr lang="en-US" b="1" dirty="0"/>
              <a:t>Ensures quality</a:t>
            </a:r>
            <a:r>
              <a:rPr lang="en-US" dirty="0"/>
              <a:t>: Well-defined expectations lead to products that meet business needs, especially in </a:t>
            </a:r>
            <a:r>
              <a:rPr lang="en-US" b="1" dirty="0"/>
              <a:t>offshore projects</a:t>
            </a:r>
            <a:r>
              <a:rPr lang="en-US" dirty="0"/>
              <a:t>.</a:t>
            </a:r>
          </a:p>
          <a:p>
            <a:r>
              <a:rPr lang="en-US" b="1" dirty="0"/>
              <a:t>Example:</a:t>
            </a:r>
          </a:p>
          <a:p>
            <a:pPr>
              <a:buFont typeface="Arial" panose="020B0604020202020204" pitchFamily="34" charset="0"/>
              <a:buChar char="•"/>
            </a:pPr>
            <a:r>
              <a:rPr lang="en-US" dirty="0"/>
              <a:t>A U.S. company faced project failure because the offshore development team misunderstood requirements, forcing them to bring the project back in-house.</a:t>
            </a:r>
          </a:p>
          <a:p>
            <a:endParaRPr lang="en-US" dirty="0"/>
          </a:p>
        </p:txBody>
      </p:sp>
      <p:sp>
        <p:nvSpPr>
          <p:cNvPr id="3" name="Title 2">
            <a:extLst>
              <a:ext uri="{FF2B5EF4-FFF2-40B4-BE49-F238E27FC236}">
                <a16:creationId xmlns:a16="http://schemas.microsoft.com/office/drawing/2014/main" id="{4FD2E159-162E-F7DB-8278-1B4865F5EE7C}"/>
              </a:ext>
            </a:extLst>
          </p:cNvPr>
          <p:cNvSpPr>
            <a:spLocks noGrp="1"/>
          </p:cNvSpPr>
          <p:nvPr>
            <p:ph type="title"/>
          </p:nvPr>
        </p:nvSpPr>
        <p:spPr/>
        <p:txBody>
          <a:bodyPr/>
          <a:lstStyle/>
          <a:p>
            <a:r>
              <a:rPr lang="en-US" dirty="0"/>
              <a:t>Benefits of Detailed Requirements</a:t>
            </a:r>
          </a:p>
        </p:txBody>
      </p:sp>
      <p:sp>
        <p:nvSpPr>
          <p:cNvPr id="4" name="Footer Placeholder 3">
            <a:extLst>
              <a:ext uri="{FF2B5EF4-FFF2-40B4-BE49-F238E27FC236}">
                <a16:creationId xmlns:a16="http://schemas.microsoft.com/office/drawing/2014/main" id="{9C154D23-575C-1F76-C21C-207A4A25429E}"/>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AC9A83D7-E674-BD90-3BE5-1CA2A224FD5D}"/>
              </a:ext>
            </a:extLst>
          </p:cNvPr>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518837352"/>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B87C08-B9A7-CC7A-4899-1F2B1F437033}"/>
              </a:ext>
            </a:extLst>
          </p:cNvPr>
          <p:cNvSpPr>
            <a:spLocks noGrp="1"/>
          </p:cNvSpPr>
          <p:nvPr>
            <p:ph idx="1"/>
          </p:nvPr>
        </p:nvSpPr>
        <p:spPr>
          <a:xfrm>
            <a:off x="228600" y="1213945"/>
            <a:ext cx="8686800" cy="5029200"/>
          </a:xfrm>
        </p:spPr>
        <p:txBody>
          <a:bodyPr>
            <a:normAutofit fontScale="70000" lnSpcReduction="20000"/>
          </a:bodyPr>
          <a:lstStyle/>
          <a:p>
            <a:r>
              <a:rPr lang="en-US" dirty="0"/>
              <a:t>In a project where external suppliers are involved, effective interaction between the acquirer (the buyer or client) and the supplier (the service provider) is crucial for success. These interactions ensure that both parties understand each other’s needs, capabilities, and constraints.</a:t>
            </a:r>
          </a:p>
          <a:p>
            <a:r>
              <a:rPr lang="en-US" b="1" dirty="0"/>
              <a:t>Key Aspects:</a:t>
            </a:r>
          </a:p>
          <a:p>
            <a:pPr>
              <a:buFont typeface="Arial" panose="020B0604020202020204" pitchFamily="34" charset="0"/>
              <a:buChar char="•"/>
            </a:pPr>
            <a:r>
              <a:rPr lang="en-US" b="1" dirty="0"/>
              <a:t>Communication:</a:t>
            </a:r>
            <a:r>
              <a:rPr lang="en-US" dirty="0"/>
              <a:t> Clear communication channels are essential for sharing expectations, updates, and resolving issues.</a:t>
            </a:r>
          </a:p>
          <a:p>
            <a:pPr>
              <a:buFont typeface="Arial" panose="020B0604020202020204" pitchFamily="34" charset="0"/>
              <a:buChar char="•"/>
            </a:pPr>
            <a:r>
              <a:rPr lang="en-US" b="1" dirty="0"/>
              <a:t>Collaboration:</a:t>
            </a:r>
            <a:r>
              <a:rPr lang="en-US" dirty="0"/>
              <a:t> Joint problem-solving and collaborative decision-making contribute to project success.</a:t>
            </a:r>
          </a:p>
          <a:p>
            <a:pPr>
              <a:buFont typeface="Arial" panose="020B0604020202020204" pitchFamily="34" charset="0"/>
              <a:buChar char="•"/>
            </a:pPr>
            <a:r>
              <a:rPr lang="en-US" b="1" dirty="0"/>
              <a:t>Trust and Relationship Building:</a:t>
            </a:r>
            <a:r>
              <a:rPr lang="en-US" dirty="0"/>
              <a:t> Long-term partnerships often benefit from building mutual trust and a strong working relationship.</a:t>
            </a:r>
          </a:p>
          <a:p>
            <a:r>
              <a:rPr lang="en-US" b="1" dirty="0"/>
              <a:t>Challenges:</a:t>
            </a:r>
          </a:p>
          <a:p>
            <a:pPr>
              <a:buFont typeface="Arial" panose="020B0604020202020204" pitchFamily="34" charset="0"/>
              <a:buChar char="•"/>
            </a:pPr>
            <a:r>
              <a:rPr lang="en-US" b="1" dirty="0"/>
              <a:t>Misalignment:</a:t>
            </a:r>
            <a:r>
              <a:rPr lang="en-US" dirty="0"/>
              <a:t> Differences in priorities and objectives can affect project outcomes.</a:t>
            </a:r>
          </a:p>
          <a:p>
            <a:pPr>
              <a:buFont typeface="Arial" panose="020B0604020202020204" pitchFamily="34" charset="0"/>
              <a:buChar char="•"/>
            </a:pPr>
            <a:r>
              <a:rPr lang="en-US" b="1" dirty="0"/>
              <a:t>Cultural Differences:</a:t>
            </a:r>
            <a:r>
              <a:rPr lang="en-US" dirty="0"/>
              <a:t> Varying cultural perspectives can lead to misunderstandings.</a:t>
            </a:r>
          </a:p>
          <a:p>
            <a:pPr>
              <a:buFont typeface="Arial" panose="020B0604020202020204" pitchFamily="34" charset="0"/>
              <a:buChar char="•"/>
            </a:pPr>
            <a:r>
              <a:rPr lang="en-US" b="1" dirty="0"/>
              <a:t>Conflict Resolution:</a:t>
            </a:r>
            <a:r>
              <a:rPr lang="en-US" dirty="0"/>
              <a:t> Mechanisms must be in place to address disputes swiftly.</a:t>
            </a:r>
          </a:p>
          <a:p>
            <a:endParaRPr lang="en-US" dirty="0"/>
          </a:p>
        </p:txBody>
      </p:sp>
      <p:sp>
        <p:nvSpPr>
          <p:cNvPr id="3" name="Title 2">
            <a:extLst>
              <a:ext uri="{FF2B5EF4-FFF2-40B4-BE49-F238E27FC236}">
                <a16:creationId xmlns:a16="http://schemas.microsoft.com/office/drawing/2014/main" id="{AD3C698F-08A6-0DCD-74B0-6EAB5F60827F}"/>
              </a:ext>
            </a:extLst>
          </p:cNvPr>
          <p:cNvSpPr>
            <a:spLocks noGrp="1"/>
          </p:cNvSpPr>
          <p:nvPr>
            <p:ph type="title"/>
          </p:nvPr>
        </p:nvSpPr>
        <p:spPr>
          <a:xfrm>
            <a:off x="2590800" y="318051"/>
            <a:ext cx="6324600" cy="1084146"/>
          </a:xfrm>
        </p:spPr>
        <p:txBody>
          <a:bodyPr/>
          <a:lstStyle/>
          <a:p>
            <a:r>
              <a:rPr lang="en-US" b="1" dirty="0"/>
              <a:t>3. Acquirer-Supplier Interactions</a:t>
            </a:r>
            <a:br>
              <a:rPr lang="en-US" b="1" dirty="0"/>
            </a:br>
            <a:endParaRPr lang="en-US" dirty="0"/>
          </a:p>
        </p:txBody>
      </p:sp>
      <p:sp>
        <p:nvSpPr>
          <p:cNvPr id="5" name="Slide Number Placeholder 4">
            <a:extLst>
              <a:ext uri="{FF2B5EF4-FFF2-40B4-BE49-F238E27FC236}">
                <a16:creationId xmlns:a16="http://schemas.microsoft.com/office/drawing/2014/main" id="{4632E612-D9A7-30C3-6B5D-626DFE3AF136}"/>
              </a:ext>
            </a:extLst>
          </p:cNvPr>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28812538"/>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930E64-01BC-6C50-CF1E-2B8DE39320ED}"/>
              </a:ext>
            </a:extLst>
          </p:cNvPr>
          <p:cNvSpPr>
            <a:spLocks noGrp="1"/>
          </p:cNvSpPr>
          <p:nvPr>
            <p:ph idx="1"/>
          </p:nvPr>
        </p:nvSpPr>
        <p:spPr>
          <a:xfrm>
            <a:off x="228600" y="1348921"/>
            <a:ext cx="8686800" cy="5029200"/>
          </a:xfrm>
        </p:spPr>
        <p:txBody>
          <a:bodyPr/>
          <a:lstStyle/>
          <a:p>
            <a:pPr>
              <a:buFont typeface="Arial" panose="020B0604020202020204" pitchFamily="34" charset="0"/>
              <a:buChar char="•"/>
            </a:pPr>
            <a:r>
              <a:rPr lang="en-US" b="1" dirty="0"/>
              <a:t>Acquirer-Supplier interactions</a:t>
            </a:r>
            <a:r>
              <a:rPr lang="en-US" dirty="0"/>
              <a:t> ensure that both parties are aligned throughout the project. Key points include:</a:t>
            </a:r>
          </a:p>
          <a:p>
            <a:pPr marL="742950" lvl="1" indent="-285750">
              <a:buFont typeface="Arial" panose="020B0604020202020204" pitchFamily="34" charset="0"/>
              <a:buChar char="•"/>
            </a:pPr>
            <a:r>
              <a:rPr lang="en-US" b="1" dirty="0"/>
              <a:t>Formal communication</a:t>
            </a:r>
            <a:r>
              <a:rPr lang="en-US" dirty="0"/>
              <a:t>: Establish clear touchpoints to review requirements and progress.</a:t>
            </a:r>
          </a:p>
          <a:p>
            <a:pPr marL="742950" lvl="1" indent="-285750">
              <a:buFont typeface="Arial" panose="020B0604020202020204" pitchFamily="34" charset="0"/>
              <a:buChar char="•"/>
            </a:pPr>
            <a:r>
              <a:rPr lang="en-US" b="1" dirty="0"/>
              <a:t>Training</a:t>
            </a:r>
            <a:r>
              <a:rPr lang="en-US" dirty="0"/>
              <a:t>: Train the supplier team on your company’s domain to ensure they understand the project.</a:t>
            </a:r>
          </a:p>
          <a:p>
            <a:r>
              <a:rPr lang="en-US" b="1" dirty="0"/>
              <a:t>Recommendations:</a:t>
            </a:r>
          </a:p>
          <a:p>
            <a:pPr>
              <a:buFont typeface="Arial" panose="020B0604020202020204" pitchFamily="34" charset="0"/>
              <a:buChar char="•"/>
            </a:pPr>
            <a:r>
              <a:rPr lang="en-US" dirty="0"/>
              <a:t>Use </a:t>
            </a:r>
            <a:r>
              <a:rPr lang="en-US" b="1" dirty="0"/>
              <a:t>collaboration tools</a:t>
            </a:r>
            <a:r>
              <a:rPr lang="en-US" dirty="0"/>
              <a:t> for peer reviews and </a:t>
            </a:r>
            <a:r>
              <a:rPr lang="en-US" b="1" dirty="0"/>
              <a:t>incremental development</a:t>
            </a:r>
            <a:r>
              <a:rPr lang="en-US" dirty="0"/>
              <a:t> to correct issues early.</a:t>
            </a:r>
          </a:p>
          <a:p>
            <a:endParaRPr lang="en-US" dirty="0"/>
          </a:p>
        </p:txBody>
      </p:sp>
      <p:sp>
        <p:nvSpPr>
          <p:cNvPr id="3" name="Title 2">
            <a:extLst>
              <a:ext uri="{FF2B5EF4-FFF2-40B4-BE49-F238E27FC236}">
                <a16:creationId xmlns:a16="http://schemas.microsoft.com/office/drawing/2014/main" id="{5E4E6943-8673-4CB3-3DCC-9B65EE713186}"/>
              </a:ext>
            </a:extLst>
          </p:cNvPr>
          <p:cNvSpPr>
            <a:spLocks noGrp="1"/>
          </p:cNvSpPr>
          <p:nvPr>
            <p:ph type="title"/>
          </p:nvPr>
        </p:nvSpPr>
        <p:spPr>
          <a:xfrm>
            <a:off x="2819400" y="58854"/>
            <a:ext cx="6324600" cy="1084146"/>
          </a:xfrm>
        </p:spPr>
        <p:txBody>
          <a:bodyPr/>
          <a:lstStyle/>
          <a:p>
            <a:r>
              <a:rPr lang="en-US" dirty="0"/>
              <a:t>Acquirer-Supplier Interactions</a:t>
            </a:r>
          </a:p>
        </p:txBody>
      </p:sp>
      <p:sp>
        <p:nvSpPr>
          <p:cNvPr id="4" name="Footer Placeholder 3">
            <a:extLst>
              <a:ext uri="{FF2B5EF4-FFF2-40B4-BE49-F238E27FC236}">
                <a16:creationId xmlns:a16="http://schemas.microsoft.com/office/drawing/2014/main" id="{A6CE0910-558D-73BF-9DE1-451AC81E8A6D}"/>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2BD089AA-9864-05AA-BBBE-CEC4DDFAB333}"/>
              </a:ext>
            </a:extLst>
          </p:cNvPr>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60446287"/>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FB7CEE-DCBD-EF83-2A34-94268D7F5352}"/>
              </a:ext>
            </a:extLst>
          </p:cNvPr>
          <p:cNvSpPr>
            <a:spLocks noGrp="1"/>
          </p:cNvSpPr>
          <p:nvPr>
            <p:ph idx="1"/>
          </p:nvPr>
        </p:nvSpPr>
        <p:spPr/>
        <p:txBody>
          <a:bodyPr/>
          <a:lstStyle/>
          <a:p>
            <a:r>
              <a:rPr lang="en-US" b="1" dirty="0"/>
              <a:t>Challenges:</a:t>
            </a:r>
          </a:p>
          <a:p>
            <a:pPr>
              <a:buFont typeface="Arial" panose="020B0604020202020204" pitchFamily="34" charset="0"/>
              <a:buChar char="•"/>
            </a:pPr>
            <a:r>
              <a:rPr lang="en-US" b="1" dirty="0"/>
              <a:t>Cultural differences</a:t>
            </a:r>
            <a:r>
              <a:rPr lang="en-US" dirty="0"/>
              <a:t>: Offshore teams may hesitate to admit confusion or mistakes.</a:t>
            </a:r>
          </a:p>
          <a:p>
            <a:pPr>
              <a:buFont typeface="Arial" panose="020B0604020202020204" pitchFamily="34" charset="0"/>
              <a:buChar char="•"/>
            </a:pPr>
            <a:r>
              <a:rPr lang="en-US" b="1" dirty="0"/>
              <a:t>Language barriers</a:t>
            </a:r>
            <a:r>
              <a:rPr lang="en-US" dirty="0"/>
              <a:t>: Differences in language can cause literal interpretations of requirements.</a:t>
            </a:r>
          </a:p>
          <a:p>
            <a:r>
              <a:rPr lang="en-US" b="1" dirty="0"/>
              <a:t>Example:</a:t>
            </a:r>
          </a:p>
          <a:p>
            <a:pPr>
              <a:buFont typeface="Arial" panose="020B0604020202020204" pitchFamily="34" charset="0"/>
              <a:buChar char="•"/>
            </a:pPr>
            <a:r>
              <a:rPr lang="en-US" dirty="0"/>
              <a:t>One project failed because an offshore team followed requirements too literally, missing key nuances.</a:t>
            </a:r>
          </a:p>
          <a:p>
            <a:endParaRPr lang="en-US" dirty="0"/>
          </a:p>
        </p:txBody>
      </p:sp>
      <p:sp>
        <p:nvSpPr>
          <p:cNvPr id="3" name="Title 2">
            <a:extLst>
              <a:ext uri="{FF2B5EF4-FFF2-40B4-BE49-F238E27FC236}">
                <a16:creationId xmlns:a16="http://schemas.microsoft.com/office/drawing/2014/main" id="{8037FECB-70EF-5D8E-62AD-B145D56D67FD}"/>
              </a:ext>
            </a:extLst>
          </p:cNvPr>
          <p:cNvSpPr>
            <a:spLocks noGrp="1"/>
          </p:cNvSpPr>
          <p:nvPr>
            <p:ph type="title"/>
          </p:nvPr>
        </p:nvSpPr>
        <p:spPr/>
        <p:txBody>
          <a:bodyPr/>
          <a:lstStyle/>
          <a:p>
            <a:r>
              <a:rPr lang="en-US" dirty="0"/>
              <a:t>Challenges in Acquirer-Supplier Interactions</a:t>
            </a:r>
          </a:p>
        </p:txBody>
      </p:sp>
      <p:sp>
        <p:nvSpPr>
          <p:cNvPr id="4" name="Footer Placeholder 3">
            <a:extLst>
              <a:ext uri="{FF2B5EF4-FFF2-40B4-BE49-F238E27FC236}">
                <a16:creationId xmlns:a16="http://schemas.microsoft.com/office/drawing/2014/main" id="{1F873B27-3386-145F-6A7D-EB07BC391501}"/>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B6BB7D76-B635-8F17-A203-33C8CF29C38C}"/>
              </a:ext>
            </a:extLst>
          </p:cNvPr>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4165619445"/>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595F6CD-CB29-AD3F-DC61-6259DE5EFF8E}"/>
              </a:ext>
            </a:extLst>
          </p:cNvPr>
          <p:cNvPicPr>
            <a:picLocks noGrp="1" noChangeAspect="1"/>
          </p:cNvPicPr>
          <p:nvPr>
            <p:ph idx="1"/>
          </p:nvPr>
        </p:nvPicPr>
        <p:blipFill>
          <a:blip r:embed="rId2"/>
          <a:stretch>
            <a:fillRect/>
          </a:stretch>
        </p:blipFill>
        <p:spPr>
          <a:xfrm>
            <a:off x="1098914" y="1499918"/>
            <a:ext cx="7773485" cy="3858163"/>
          </a:xfrm>
        </p:spPr>
      </p:pic>
      <p:sp>
        <p:nvSpPr>
          <p:cNvPr id="3" name="Title 2">
            <a:extLst>
              <a:ext uri="{FF2B5EF4-FFF2-40B4-BE49-F238E27FC236}">
                <a16:creationId xmlns:a16="http://schemas.microsoft.com/office/drawing/2014/main" id="{71363A52-5E3B-D2C6-2434-6E3DA3DA6FBE}"/>
              </a:ext>
            </a:extLst>
          </p:cNvPr>
          <p:cNvSpPr>
            <a:spLocks noGrp="1"/>
          </p:cNvSpPr>
          <p:nvPr>
            <p:ph type="title"/>
          </p:nvPr>
        </p:nvSpPr>
        <p:spPr/>
        <p:txBody>
          <a:bodyPr/>
          <a:lstStyle/>
          <a:p>
            <a:r>
              <a:rPr lang="en-US" dirty="0"/>
              <a:t>Diagram of Acquirer-Supplier Interactions</a:t>
            </a:r>
          </a:p>
        </p:txBody>
      </p:sp>
      <p:sp>
        <p:nvSpPr>
          <p:cNvPr id="4" name="Footer Placeholder 3">
            <a:extLst>
              <a:ext uri="{FF2B5EF4-FFF2-40B4-BE49-F238E27FC236}">
                <a16:creationId xmlns:a16="http://schemas.microsoft.com/office/drawing/2014/main" id="{1F3D0425-C436-2D2E-60D8-4DE7335E7AEE}"/>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63D85F01-F62B-21C8-2FBC-C071EFBC5533}"/>
              </a:ext>
            </a:extLst>
          </p:cNvPr>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185964765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151D3E-A9BC-2D45-E0F3-0BB951559045}"/>
              </a:ext>
            </a:extLst>
          </p:cNvPr>
          <p:cNvSpPr>
            <a:spLocks noGrp="1"/>
          </p:cNvSpPr>
          <p:nvPr>
            <p:ph idx="1"/>
          </p:nvPr>
        </p:nvSpPr>
        <p:spPr/>
        <p:txBody>
          <a:bodyPr/>
          <a:lstStyle/>
          <a:p>
            <a:r>
              <a:rPr lang="en-US" dirty="0"/>
              <a:t>Change Management is the process of managing changes that occur throughout the software development life cycle.</a:t>
            </a:r>
            <a:endParaRPr lang="vi-VN" dirty="0"/>
          </a:p>
          <a:p>
            <a:endParaRPr lang="vi-VN" dirty="0"/>
          </a:p>
          <a:p>
            <a:endParaRPr lang="vi-VN" dirty="0"/>
          </a:p>
          <a:p>
            <a:r>
              <a:rPr lang="en-US" dirty="0"/>
              <a:t>In modern development environments where requirements and conditions are constantly changing, good change management is one of the factors that ensures a project does not get out of control.</a:t>
            </a:r>
          </a:p>
          <a:p>
            <a:endParaRPr lang="en-US" dirty="0"/>
          </a:p>
        </p:txBody>
      </p:sp>
      <p:sp>
        <p:nvSpPr>
          <p:cNvPr id="3" name="Title 2">
            <a:extLst>
              <a:ext uri="{FF2B5EF4-FFF2-40B4-BE49-F238E27FC236}">
                <a16:creationId xmlns:a16="http://schemas.microsoft.com/office/drawing/2014/main" id="{9C08BF8B-9CA9-E117-37AD-9062F6B12611}"/>
              </a:ext>
            </a:extLst>
          </p:cNvPr>
          <p:cNvSpPr>
            <a:spLocks noGrp="1"/>
          </p:cNvSpPr>
          <p:nvPr>
            <p:ph type="title"/>
          </p:nvPr>
        </p:nvSpPr>
        <p:spPr/>
        <p:txBody>
          <a:bodyPr/>
          <a:lstStyle/>
          <a:p>
            <a:r>
              <a:rPr lang="en-US" b="1" dirty="0"/>
              <a:t>Change Management</a:t>
            </a:r>
            <a:r>
              <a:rPr lang="vi-VN" b="1" dirty="0"/>
              <a:t> ?</a:t>
            </a:r>
            <a:endParaRPr lang="en-US" dirty="0"/>
          </a:p>
        </p:txBody>
      </p:sp>
      <p:sp>
        <p:nvSpPr>
          <p:cNvPr id="4" name="Footer Placeholder 3">
            <a:extLst>
              <a:ext uri="{FF2B5EF4-FFF2-40B4-BE49-F238E27FC236}">
                <a16:creationId xmlns:a16="http://schemas.microsoft.com/office/drawing/2014/main" id="{614A5727-612D-BA49-6FFF-979150C11DEF}"/>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030CD583-BB15-6E0B-A249-87297E6C27B9}"/>
              </a:ext>
            </a:extLst>
          </p:cNvPr>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3849933406"/>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A987F3-8E8D-0152-6C86-716F65927EE7}"/>
              </a:ext>
            </a:extLst>
          </p:cNvPr>
          <p:cNvSpPr>
            <a:spLocks noGrp="1"/>
          </p:cNvSpPr>
          <p:nvPr>
            <p:ph idx="1"/>
          </p:nvPr>
        </p:nvSpPr>
        <p:spPr/>
        <p:txBody>
          <a:bodyPr>
            <a:normAutofit fontScale="92500" lnSpcReduction="20000"/>
          </a:bodyPr>
          <a:lstStyle/>
          <a:p>
            <a:r>
              <a:rPr lang="en-US" sz="4000" dirty="0"/>
              <a:t>Change Request:</a:t>
            </a:r>
          </a:p>
          <a:p>
            <a:pPr marL="0" indent="0">
              <a:buNone/>
            </a:pPr>
            <a:r>
              <a:rPr lang="vi-VN" dirty="0"/>
              <a:t>     </a:t>
            </a:r>
            <a:r>
              <a:rPr lang="en-US" dirty="0"/>
              <a:t>Stakeholders propose changes through a common system.</a:t>
            </a:r>
          </a:p>
          <a:p>
            <a:r>
              <a:rPr lang="en-US" sz="4000" dirty="0"/>
              <a:t>Impact Analysis:</a:t>
            </a:r>
          </a:p>
          <a:p>
            <a:pPr marL="0" indent="0">
              <a:buNone/>
            </a:pPr>
            <a:r>
              <a:rPr lang="vi-VN" dirty="0"/>
              <a:t>     </a:t>
            </a:r>
            <a:r>
              <a:rPr lang="en-US" dirty="0"/>
              <a:t>Evaluate the impact of the change on time, cost, and product quality.</a:t>
            </a:r>
          </a:p>
          <a:p>
            <a:r>
              <a:rPr lang="en-US" sz="4000" dirty="0"/>
              <a:t>Decision and Approval:</a:t>
            </a:r>
          </a:p>
          <a:p>
            <a:pPr marL="0" indent="0">
              <a:buNone/>
            </a:pPr>
            <a:r>
              <a:rPr lang="vi-VN" dirty="0"/>
              <a:t>     </a:t>
            </a:r>
            <a:r>
              <a:rPr lang="en-US" dirty="0"/>
              <a:t>The decision to accept the change is made by those with authority, such as the project manager or customer.</a:t>
            </a:r>
          </a:p>
          <a:p>
            <a:r>
              <a:rPr lang="en-US" sz="4000" dirty="0"/>
              <a:t>Implementation and Update:</a:t>
            </a:r>
          </a:p>
          <a:p>
            <a:pPr marL="0" indent="0">
              <a:buNone/>
            </a:pPr>
            <a:r>
              <a:rPr lang="vi-VN" dirty="0"/>
              <a:t>    </a:t>
            </a:r>
            <a:r>
              <a:rPr lang="en-US" dirty="0"/>
              <a:t>If the change is accepted, it is implemented and updated in the requirements document and the project schedule.</a:t>
            </a:r>
          </a:p>
          <a:p>
            <a:endParaRPr lang="en-US" dirty="0"/>
          </a:p>
        </p:txBody>
      </p:sp>
      <p:sp>
        <p:nvSpPr>
          <p:cNvPr id="3" name="Title 2">
            <a:extLst>
              <a:ext uri="{FF2B5EF4-FFF2-40B4-BE49-F238E27FC236}">
                <a16:creationId xmlns:a16="http://schemas.microsoft.com/office/drawing/2014/main" id="{4351C779-EE93-6D3D-C9C9-D59989BCCC2B}"/>
              </a:ext>
            </a:extLst>
          </p:cNvPr>
          <p:cNvSpPr>
            <a:spLocks noGrp="1"/>
          </p:cNvSpPr>
          <p:nvPr>
            <p:ph type="title"/>
          </p:nvPr>
        </p:nvSpPr>
        <p:spPr/>
        <p:txBody>
          <a:bodyPr/>
          <a:lstStyle/>
          <a:p>
            <a:r>
              <a:rPr lang="en-US" dirty="0"/>
              <a:t>Change management process</a:t>
            </a:r>
          </a:p>
        </p:txBody>
      </p:sp>
      <p:sp>
        <p:nvSpPr>
          <p:cNvPr id="4" name="Footer Placeholder 3">
            <a:extLst>
              <a:ext uri="{FF2B5EF4-FFF2-40B4-BE49-F238E27FC236}">
                <a16:creationId xmlns:a16="http://schemas.microsoft.com/office/drawing/2014/main" id="{97D2F4ED-4FE8-7778-F781-A99799AD5D7F}"/>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EA9EA09A-C3F2-FBFE-DD4C-3393A30F7A45}"/>
              </a:ext>
            </a:extLst>
          </p:cNvPr>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3864146681"/>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ACD277-71B8-9BC5-B69E-D7449F97C815}"/>
              </a:ext>
            </a:extLst>
          </p:cNvPr>
          <p:cNvSpPr>
            <a:spLocks noGrp="1"/>
          </p:cNvSpPr>
          <p:nvPr>
            <p:ph idx="1"/>
          </p:nvPr>
        </p:nvSpPr>
        <p:spPr/>
        <p:txBody>
          <a:bodyPr/>
          <a:lstStyle/>
          <a:p>
            <a:r>
              <a:rPr lang="en-US" dirty="0"/>
              <a:t>Acceptance Criteria is a set of conditions that a product must meet in order to be accepted.</a:t>
            </a:r>
            <a:endParaRPr lang="vi-VN" dirty="0"/>
          </a:p>
          <a:p>
            <a:endParaRPr lang="vi-VN" dirty="0"/>
          </a:p>
          <a:p>
            <a:endParaRPr lang="vi-VN" dirty="0"/>
          </a:p>
          <a:p>
            <a:r>
              <a:rPr lang="en-US" dirty="0"/>
              <a:t>It helps to clearly determine whether the final product has been completed as originally expected.</a:t>
            </a:r>
            <a:endParaRPr lang="vi-VN" dirty="0"/>
          </a:p>
          <a:p>
            <a:endParaRPr lang="vi-VN" dirty="0"/>
          </a:p>
          <a:p>
            <a:endParaRPr lang="vi-VN" dirty="0"/>
          </a:p>
          <a:p>
            <a:r>
              <a:rPr lang="en-US" dirty="0"/>
              <a:t>This is the basis for evaluating quality and deciding whether to pay the supplier or not.</a:t>
            </a:r>
          </a:p>
          <a:p>
            <a:endParaRPr lang="en-US" dirty="0"/>
          </a:p>
        </p:txBody>
      </p:sp>
      <p:sp>
        <p:nvSpPr>
          <p:cNvPr id="3" name="Title 2">
            <a:extLst>
              <a:ext uri="{FF2B5EF4-FFF2-40B4-BE49-F238E27FC236}">
                <a16:creationId xmlns:a16="http://schemas.microsoft.com/office/drawing/2014/main" id="{FBC568F7-DA57-4B18-D593-C0C51AFD10B3}"/>
              </a:ext>
            </a:extLst>
          </p:cNvPr>
          <p:cNvSpPr>
            <a:spLocks noGrp="1"/>
          </p:cNvSpPr>
          <p:nvPr>
            <p:ph type="title"/>
          </p:nvPr>
        </p:nvSpPr>
        <p:spPr/>
        <p:txBody>
          <a:bodyPr/>
          <a:lstStyle/>
          <a:p>
            <a:r>
              <a:rPr lang="en-US" dirty="0"/>
              <a:t>What is Acceptance Criteria</a:t>
            </a:r>
            <a:r>
              <a:rPr lang="vi-VN" dirty="0"/>
              <a:t> ?</a:t>
            </a:r>
            <a:endParaRPr lang="en-US" dirty="0"/>
          </a:p>
        </p:txBody>
      </p:sp>
      <p:sp>
        <p:nvSpPr>
          <p:cNvPr id="4" name="Footer Placeholder 3">
            <a:extLst>
              <a:ext uri="{FF2B5EF4-FFF2-40B4-BE49-F238E27FC236}">
                <a16:creationId xmlns:a16="http://schemas.microsoft.com/office/drawing/2014/main" id="{E1DC512A-977D-B49A-3A06-0EBF5789EC97}"/>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E2200714-9BB8-2D30-0EAF-5AB3A010C4DD}"/>
              </a:ext>
            </a:extLst>
          </p:cNvPr>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328385244"/>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807C93-8A16-6710-A030-F3D7DF538E38}"/>
              </a:ext>
            </a:extLst>
          </p:cNvPr>
          <p:cNvSpPr>
            <a:spLocks noGrp="1"/>
          </p:cNvSpPr>
          <p:nvPr>
            <p:ph idx="1"/>
          </p:nvPr>
        </p:nvSpPr>
        <p:spPr/>
        <p:txBody>
          <a:bodyPr>
            <a:normAutofit fontScale="92500" lnSpcReduction="10000"/>
          </a:bodyPr>
          <a:lstStyle/>
          <a:p>
            <a:r>
              <a:rPr lang="en-US" sz="4000" dirty="0"/>
              <a:t>Development Orientation:</a:t>
            </a:r>
            <a:endParaRPr lang="vi-VN" sz="4000" dirty="0"/>
          </a:p>
          <a:p>
            <a:pPr marL="0" indent="0">
              <a:buNone/>
            </a:pPr>
            <a:r>
              <a:rPr lang="vi-VN" dirty="0"/>
              <a:t>      </a:t>
            </a:r>
            <a:r>
              <a:rPr lang="en-US" dirty="0"/>
              <a:t>According to Stephen Covey: “Begin with the end in mind” (Covey, 2004), defining acceptance criteria in advance helps us understand the end goal at the beginning of the project.</a:t>
            </a:r>
          </a:p>
          <a:p>
            <a:r>
              <a:rPr lang="en-US" sz="4000" dirty="0"/>
              <a:t>Minimize disputes:</a:t>
            </a:r>
          </a:p>
          <a:p>
            <a:pPr marL="0" indent="0">
              <a:buNone/>
            </a:pPr>
            <a:r>
              <a:rPr lang="vi-VN" dirty="0"/>
              <a:t>      </a:t>
            </a:r>
            <a:r>
              <a:rPr lang="en-US" dirty="0"/>
              <a:t>Clear acceptance criteria reduce the risk of disputes between the customer and the supplier over whether the product meets the requirements.</a:t>
            </a:r>
          </a:p>
          <a:p>
            <a:r>
              <a:rPr lang="en-US" sz="4000" dirty="0"/>
              <a:t>Risk Management:</a:t>
            </a:r>
          </a:p>
          <a:p>
            <a:pPr marL="0" indent="0">
              <a:buNone/>
            </a:pPr>
            <a:r>
              <a:rPr lang="vi-VN" dirty="0"/>
              <a:t>      </a:t>
            </a:r>
            <a:r>
              <a:rPr lang="en-US" dirty="0"/>
              <a:t>If the acceptance criteria are not met, it must be clear who is responsible and who will pay for product modifications</a:t>
            </a:r>
          </a:p>
          <a:p>
            <a:endParaRPr lang="en-US" dirty="0"/>
          </a:p>
        </p:txBody>
      </p:sp>
      <p:sp>
        <p:nvSpPr>
          <p:cNvPr id="3" name="Title 2">
            <a:extLst>
              <a:ext uri="{FF2B5EF4-FFF2-40B4-BE49-F238E27FC236}">
                <a16:creationId xmlns:a16="http://schemas.microsoft.com/office/drawing/2014/main" id="{142820D0-B4AB-F9A6-51FA-C22974B5D10E}"/>
              </a:ext>
            </a:extLst>
          </p:cNvPr>
          <p:cNvSpPr>
            <a:spLocks noGrp="1"/>
          </p:cNvSpPr>
          <p:nvPr>
            <p:ph type="title"/>
          </p:nvPr>
        </p:nvSpPr>
        <p:spPr/>
        <p:txBody>
          <a:bodyPr/>
          <a:lstStyle/>
          <a:p>
            <a:r>
              <a:rPr lang="en-US" dirty="0"/>
              <a:t>Why do we need Acceptance Criteria?</a:t>
            </a:r>
          </a:p>
        </p:txBody>
      </p:sp>
      <p:sp>
        <p:nvSpPr>
          <p:cNvPr id="4" name="Footer Placeholder 3">
            <a:extLst>
              <a:ext uri="{FF2B5EF4-FFF2-40B4-BE49-F238E27FC236}">
                <a16:creationId xmlns:a16="http://schemas.microsoft.com/office/drawing/2014/main" id="{7AE33942-C799-FA93-77BF-CB9FD47B99ED}"/>
              </a:ext>
            </a:extLst>
          </p:cNvPr>
          <p:cNvSpPr>
            <a:spLocks noGrp="1"/>
          </p:cNvSpPr>
          <p:nvPr>
            <p:ph type="ftr" sz="quarter" idx="10"/>
          </p:nvPr>
        </p:nvSpPr>
        <p:spPr/>
        <p:txBody>
          <a:bodyPr/>
          <a:lstStyle/>
          <a:p>
            <a:pPr>
              <a:defRPr/>
            </a:pPr>
            <a:r>
              <a:rPr lang="vi-VN"/>
              <a:t>Tuân thủ kỷ luật ở FPT - BayHV</a:t>
            </a:r>
            <a:endParaRPr lang="en-US"/>
          </a:p>
        </p:txBody>
      </p:sp>
      <p:sp>
        <p:nvSpPr>
          <p:cNvPr id="5" name="Slide Number Placeholder 4">
            <a:extLst>
              <a:ext uri="{FF2B5EF4-FFF2-40B4-BE49-F238E27FC236}">
                <a16:creationId xmlns:a16="http://schemas.microsoft.com/office/drawing/2014/main" id="{A11C6234-208F-85A2-F0D6-2463FF6774FA}"/>
              </a:ext>
            </a:extLst>
          </p:cNvPr>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638735164"/>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2E255D-C209-319B-9C06-8BE09346A4A2}"/>
              </a:ext>
            </a:extLst>
          </p:cNvPr>
          <p:cNvSpPr>
            <a:spLocks noGrp="1"/>
          </p:cNvSpPr>
          <p:nvPr>
            <p:ph idx="1"/>
          </p:nvPr>
        </p:nvSpPr>
        <p:spPr/>
        <p:txBody>
          <a:bodyPr/>
          <a:lstStyle/>
          <a:p>
            <a:pPr marL="0" indent="0">
              <a:buNone/>
            </a:pPr>
            <a:r>
              <a:rPr lang="en-US" b="1" dirty="0"/>
              <a:t>1.</a:t>
            </a:r>
            <a:r>
              <a:rPr lang="en-US" dirty="0"/>
              <a:t> What is a primary benefit of outsourcing a project to a third-party vendor?</a:t>
            </a:r>
          </a:p>
          <a:p>
            <a:pPr marL="0" indent="0">
              <a:buNone/>
            </a:pPr>
            <a:r>
              <a:rPr lang="en-US" dirty="0"/>
              <a:t>A. Full control over project resources </a:t>
            </a:r>
          </a:p>
          <a:p>
            <a:pPr marL="0" indent="0">
              <a:buNone/>
            </a:pPr>
            <a:r>
              <a:rPr lang="en-US" dirty="0"/>
              <a:t>B. Access to specialized expertise and cost savings </a:t>
            </a:r>
          </a:p>
          <a:p>
            <a:pPr marL="0" indent="0">
              <a:buNone/>
            </a:pPr>
            <a:r>
              <a:rPr lang="en-US" dirty="0"/>
              <a:t>C. Increased project complexity </a:t>
            </a:r>
          </a:p>
          <a:p>
            <a:pPr marL="0" indent="0">
              <a:buNone/>
            </a:pPr>
            <a:r>
              <a:rPr lang="en-US" dirty="0"/>
              <a:t>D. Full ownership of the project</a:t>
            </a:r>
          </a:p>
          <a:p>
            <a:r>
              <a:rPr lang="en-US" b="1" dirty="0"/>
              <a:t>Correct Answer:</a:t>
            </a:r>
            <a:r>
              <a:rPr lang="en-US" dirty="0"/>
              <a:t> </a:t>
            </a:r>
            <a:r>
              <a:rPr lang="en-US" dirty="0">
                <a:highlight>
                  <a:srgbClr val="FFFF00"/>
                </a:highlight>
              </a:rPr>
              <a:t>B. Access to specialized expertise and cost savings</a:t>
            </a:r>
          </a:p>
          <a:p>
            <a:endParaRPr lang="en-US" dirty="0"/>
          </a:p>
        </p:txBody>
      </p:sp>
      <p:sp>
        <p:nvSpPr>
          <p:cNvPr id="3" name="Title 2">
            <a:extLst>
              <a:ext uri="{FF2B5EF4-FFF2-40B4-BE49-F238E27FC236}">
                <a16:creationId xmlns:a16="http://schemas.microsoft.com/office/drawing/2014/main" id="{2D7CCD19-D432-10A1-D90D-942A3649DC4D}"/>
              </a:ext>
            </a:extLst>
          </p:cNvPr>
          <p:cNvSpPr>
            <a:spLocks noGrp="1"/>
          </p:cNvSpPr>
          <p:nvPr>
            <p:ph type="title"/>
          </p:nvPr>
        </p:nvSpPr>
        <p:spPr/>
        <p:txBody>
          <a:bodyPr/>
          <a:lstStyle/>
          <a:p>
            <a:r>
              <a:rPr lang="en-US" dirty="0"/>
              <a:t>Q&amp;A</a:t>
            </a:r>
          </a:p>
        </p:txBody>
      </p:sp>
      <p:sp>
        <p:nvSpPr>
          <p:cNvPr id="5" name="Slide Number Placeholder 4">
            <a:extLst>
              <a:ext uri="{FF2B5EF4-FFF2-40B4-BE49-F238E27FC236}">
                <a16:creationId xmlns:a16="http://schemas.microsoft.com/office/drawing/2014/main" id="{EF54C5DE-DEF8-7CFA-8C74-C3EBE0EA0B8A}"/>
              </a:ext>
            </a:extLst>
          </p:cNvPr>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1610510963"/>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1000"/>
                                        <p:tgtEl>
                                          <p:spTgt spid="2">
                                            <p:txEl>
                                              <p:pRg st="5" end="5"/>
                                            </p:txEl>
                                          </p:spTgt>
                                        </p:tgtEl>
                                      </p:cBhvr>
                                    </p:animEffect>
                                    <p:anim calcmode="lin" valueType="num">
                                      <p:cBhvr>
                                        <p:cTn id="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9A7B43-C8E3-2B16-596A-9AB0006D1DB1}"/>
              </a:ext>
            </a:extLst>
          </p:cNvPr>
          <p:cNvSpPr>
            <a:spLocks noGrp="1"/>
          </p:cNvSpPr>
          <p:nvPr>
            <p:ph idx="1"/>
          </p:nvPr>
        </p:nvSpPr>
        <p:spPr/>
        <p:txBody>
          <a:bodyPr/>
          <a:lstStyle/>
          <a:p>
            <a:r>
              <a:rPr lang="en-US" b="1" dirty="0"/>
              <a:t>1.</a:t>
            </a:r>
            <a:r>
              <a:rPr lang="en-US" dirty="0"/>
              <a:t> Which of the following is a key aspect of Acquirer-Supplier Interactions?</a:t>
            </a:r>
          </a:p>
          <a:p>
            <a:pPr marL="514350" indent="-514350">
              <a:buAutoNum type="alphaUcPeriod"/>
            </a:pPr>
            <a:r>
              <a:rPr lang="en-US" dirty="0"/>
              <a:t>Sole reliance on written communication </a:t>
            </a:r>
          </a:p>
          <a:p>
            <a:pPr marL="514350" indent="-514350">
              <a:buAutoNum type="alphaUcPeriod"/>
            </a:pPr>
            <a:r>
              <a:rPr lang="en-US" dirty="0"/>
              <a:t>Lack of collaboration between parties </a:t>
            </a:r>
          </a:p>
          <a:p>
            <a:pPr marL="514350" indent="-514350">
              <a:buAutoNum type="alphaUcPeriod"/>
            </a:pPr>
            <a:r>
              <a:rPr lang="en-US" dirty="0"/>
              <a:t>Joint problem-solving and relationship building </a:t>
            </a:r>
          </a:p>
          <a:p>
            <a:pPr marL="514350" indent="-514350">
              <a:buAutoNum type="alphaUcPeriod"/>
            </a:pPr>
            <a:r>
              <a:rPr lang="en-US" dirty="0"/>
              <a:t>Unilateral decision-making by the supplier</a:t>
            </a:r>
          </a:p>
          <a:p>
            <a:r>
              <a:rPr lang="en-US" b="1" dirty="0"/>
              <a:t>Correct Answer: </a:t>
            </a:r>
            <a:r>
              <a:rPr lang="en-US" dirty="0">
                <a:highlight>
                  <a:srgbClr val="FFFF00"/>
                </a:highlight>
              </a:rPr>
              <a:t>C. Joint problem-solving and relationship building</a:t>
            </a:r>
          </a:p>
          <a:p>
            <a:endParaRPr lang="en-US" dirty="0"/>
          </a:p>
        </p:txBody>
      </p:sp>
      <p:sp>
        <p:nvSpPr>
          <p:cNvPr id="5" name="Slide Number Placeholder 4">
            <a:extLst>
              <a:ext uri="{FF2B5EF4-FFF2-40B4-BE49-F238E27FC236}">
                <a16:creationId xmlns:a16="http://schemas.microsoft.com/office/drawing/2014/main" id="{9FFDC5A7-5F46-EF6C-2E86-041E99CE54D5}"/>
              </a:ext>
            </a:extLst>
          </p:cNvPr>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
        <p:nvSpPr>
          <p:cNvPr id="6" name="Title 2">
            <a:extLst>
              <a:ext uri="{FF2B5EF4-FFF2-40B4-BE49-F238E27FC236}">
                <a16:creationId xmlns:a16="http://schemas.microsoft.com/office/drawing/2014/main" id="{AC182321-204F-A59E-3BD5-67EE4F714FE4}"/>
              </a:ext>
            </a:extLst>
          </p:cNvPr>
          <p:cNvSpPr>
            <a:spLocks noGrp="1"/>
          </p:cNvSpPr>
          <p:nvPr>
            <p:ph type="title"/>
          </p:nvPr>
        </p:nvSpPr>
        <p:spPr>
          <a:xfrm>
            <a:off x="2819400" y="27105"/>
            <a:ext cx="6324600" cy="1084146"/>
          </a:xfrm>
        </p:spPr>
        <p:txBody>
          <a:bodyPr/>
          <a:lstStyle/>
          <a:p>
            <a:r>
              <a:rPr lang="en-US" dirty="0"/>
              <a:t>Q&amp;A</a:t>
            </a:r>
          </a:p>
        </p:txBody>
      </p:sp>
    </p:spTree>
    <p:extLst>
      <p:ext uri="{BB962C8B-B14F-4D97-AF65-F5344CB8AC3E}">
        <p14:creationId xmlns:p14="http://schemas.microsoft.com/office/powerpoint/2010/main" val="2227488251"/>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1000"/>
                                        <p:tgtEl>
                                          <p:spTgt spid="2">
                                            <p:txEl>
                                              <p:pRg st="5" end="5"/>
                                            </p:txEl>
                                          </p:spTgt>
                                        </p:tgtEl>
                                      </p:cBhvr>
                                    </p:animEffect>
                                    <p:anim calcmode="lin" valueType="num">
                                      <p:cBhvr>
                                        <p:cTn id="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014194545"/>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296</TotalTime>
  <Words>1171</Words>
  <Application>Microsoft Office PowerPoint</Application>
  <PresentationFormat>On-screen Show (4:3)</PresentationFormat>
  <Paragraphs>129</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Tahoma</vt:lpstr>
      <vt:lpstr>1_template</vt:lpstr>
      <vt:lpstr>CHAPTER 23 Outsourced projects</vt:lpstr>
      <vt:lpstr>Content</vt:lpstr>
      <vt:lpstr>What is an Outsourced Project? </vt:lpstr>
      <vt:lpstr>Benefits and Challenges of Outsourcing</vt:lpstr>
      <vt:lpstr>Appropriate Levels of Requirements Detail</vt:lpstr>
      <vt:lpstr>Benefits of Detailed Requirements</vt:lpstr>
      <vt:lpstr>3. Acquirer-Supplier Interactions </vt:lpstr>
      <vt:lpstr>Acquirer-Supplier Interactions</vt:lpstr>
      <vt:lpstr>Challenges in Acquirer-Supplier Interactions</vt:lpstr>
      <vt:lpstr>Diagram of Acquirer-Supplier Interactions</vt:lpstr>
      <vt:lpstr>Change Management ?</vt:lpstr>
      <vt:lpstr>Change management process</vt:lpstr>
      <vt:lpstr>What is Acceptance Criteria ?</vt:lpstr>
      <vt:lpstr>Why do we need Acceptance Criteria?</vt:lpstr>
      <vt:lpstr>Q&amp;A</vt:lpstr>
      <vt:lpstr>Q&amp;A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Lam Le Huan</cp:lastModifiedBy>
  <cp:revision>160</cp:revision>
  <dcterms:created xsi:type="dcterms:W3CDTF">2018-03-29T02:18:15Z</dcterms:created>
  <dcterms:modified xsi:type="dcterms:W3CDTF">2026-03-02T08:45:57Z</dcterms:modified>
</cp:coreProperties>
</file>