
<file path=[Content_Types].xml><?xml version="1.0" encoding="utf-8"?>
<Types xmlns="http://schemas.openxmlformats.org/package/2006/content-types">
  <Default Extension="emf" ContentType="image/x-emf"/>
  <Default Extension="gif" ContentType="image/gif"/>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autoCompressPictures="0">
  <p:sldMasterIdLst>
    <p:sldMasterId id="2147483676" r:id="rId1"/>
  </p:sldMasterIdLst>
  <p:notesMasterIdLst>
    <p:notesMasterId r:id="rId37"/>
  </p:notesMasterIdLst>
  <p:sldIdLst>
    <p:sldId id="257" r:id="rId2"/>
    <p:sldId id="258" r:id="rId3"/>
    <p:sldId id="259" r:id="rId4"/>
    <p:sldId id="260" r:id="rId5"/>
    <p:sldId id="261" r:id="rId6"/>
    <p:sldId id="269" r:id="rId7"/>
    <p:sldId id="262" r:id="rId8"/>
    <p:sldId id="263" r:id="rId9"/>
    <p:sldId id="270" r:id="rId10"/>
    <p:sldId id="271" r:id="rId11"/>
    <p:sldId id="272" r:id="rId12"/>
    <p:sldId id="273" r:id="rId13"/>
    <p:sldId id="274" r:id="rId14"/>
    <p:sldId id="275" r:id="rId15"/>
    <p:sldId id="276" r:id="rId16"/>
    <p:sldId id="264" r:id="rId17"/>
    <p:sldId id="265" r:id="rId18"/>
    <p:sldId id="293" r:id="rId19"/>
    <p:sldId id="277" r:id="rId20"/>
    <p:sldId id="266" r:id="rId21"/>
    <p:sldId id="267" r:id="rId22"/>
    <p:sldId id="279" r:id="rId23"/>
    <p:sldId id="280" r:id="rId24"/>
    <p:sldId id="281" r:id="rId25"/>
    <p:sldId id="282" r:id="rId26"/>
    <p:sldId id="283" r:id="rId27"/>
    <p:sldId id="278" r:id="rId28"/>
    <p:sldId id="284" r:id="rId29"/>
    <p:sldId id="286" r:id="rId30"/>
    <p:sldId id="288" r:id="rId31"/>
    <p:sldId id="290" r:id="rId32"/>
    <p:sldId id="289" r:id="rId33"/>
    <p:sldId id="268" r:id="rId34"/>
    <p:sldId id="291" r:id="rId35"/>
    <p:sldId id="292" r:id="rId3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33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83" autoAdjust="0"/>
    <p:restoredTop sz="65189" autoAdjust="0"/>
  </p:normalViewPr>
  <p:slideViewPr>
    <p:cSldViewPr snapToGrid="0">
      <p:cViewPr varScale="1">
        <p:scale>
          <a:sx n="56" d="100"/>
          <a:sy n="56" d="100"/>
        </p:scale>
        <p:origin x="1616"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12CFB79-D300-4D62-B1BB-417A70210E0C}" type="datetimeFigureOut">
              <a:rPr lang="en-US" smtClean="0"/>
              <a:t>9/7/21</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DD28F83-BFBF-48E5-9812-FA471493D536}" type="slidenum">
              <a:rPr lang="en-US" smtClean="0"/>
              <a:t>‹#›</a:t>
            </a:fld>
            <a:endParaRPr lang="en-US"/>
          </a:p>
        </p:txBody>
      </p:sp>
    </p:spTree>
    <p:extLst>
      <p:ext uri="{BB962C8B-B14F-4D97-AF65-F5344CB8AC3E}">
        <p14:creationId xmlns:p14="http://schemas.microsoft.com/office/powerpoint/2010/main" val="139276933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a:t>
            </a:r>
            <a:r>
              <a:rPr lang="en-US" dirty="0" err="1"/>
              <a:t>coggle.it</a:t>
            </a:r>
            <a:r>
              <a:rPr lang="en-US" dirty="0"/>
              <a:t>/diagram/XDRkq9ktvd9kWBYb/t/chapter-1-the-essential-of-software-requirement</a:t>
            </a:r>
            <a:endParaRPr lang="en-KR" dirty="0"/>
          </a:p>
        </p:txBody>
      </p:sp>
      <p:sp>
        <p:nvSpPr>
          <p:cNvPr id="4" name="Slide Number Placeholder 3"/>
          <p:cNvSpPr>
            <a:spLocks noGrp="1"/>
          </p:cNvSpPr>
          <p:nvPr>
            <p:ph type="sldNum" sz="quarter" idx="5"/>
          </p:nvPr>
        </p:nvSpPr>
        <p:spPr/>
        <p:txBody>
          <a:bodyPr/>
          <a:lstStyle/>
          <a:p>
            <a:fld id="{EDD28F83-BFBF-48E5-9812-FA471493D536}" type="slidenum">
              <a:rPr lang="en-US" smtClean="0"/>
              <a:t>1</a:t>
            </a:fld>
            <a:endParaRPr lang="en-US"/>
          </a:p>
        </p:txBody>
      </p:sp>
    </p:spTree>
    <p:extLst>
      <p:ext uri="{BB962C8B-B14F-4D97-AF65-F5344CB8AC3E}">
        <p14:creationId xmlns:p14="http://schemas.microsoft.com/office/powerpoint/2010/main" val="26608493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requirement engineering? </a:t>
            </a:r>
            <a:r>
              <a:rPr lang="en-US" dirty="0" err="1"/>
              <a:t>Tại</a:t>
            </a:r>
            <a:r>
              <a:rPr lang="en-US" baseline="0" dirty="0"/>
              <a:t> </a:t>
            </a:r>
            <a:r>
              <a:rPr lang="en-US" baseline="0" dirty="0" err="1"/>
              <a:t>sao</a:t>
            </a:r>
            <a:r>
              <a:rPr lang="en-US" baseline="0" dirty="0"/>
              <a:t> </a:t>
            </a:r>
            <a:r>
              <a:rPr lang="en-US" baseline="0" dirty="0" err="1"/>
              <a:t>yc</a:t>
            </a:r>
            <a:r>
              <a:rPr lang="en-US" baseline="0" dirty="0"/>
              <a:t> </a:t>
            </a:r>
            <a:r>
              <a:rPr lang="en-US" baseline="0" dirty="0" err="1"/>
              <a:t>kỹ</a:t>
            </a:r>
            <a:r>
              <a:rPr lang="en-US" baseline="0" dirty="0"/>
              <a:t> </a:t>
            </a:r>
            <a:r>
              <a:rPr lang="en-US" baseline="0" dirty="0" err="1"/>
              <a:t>thuật</a:t>
            </a:r>
            <a:r>
              <a:rPr lang="en-US" baseline="0" dirty="0"/>
              <a:t>?</a:t>
            </a:r>
          </a:p>
          <a:p>
            <a:r>
              <a:rPr lang="en-US" sz="1200" dirty="0"/>
              <a:t>Software requirements defined: </a:t>
            </a:r>
            <a:r>
              <a:rPr lang="vi-VN" sz="1200" dirty="0"/>
              <a:t>Yêu cầu phần mềm được </a:t>
            </a:r>
            <a:r>
              <a:rPr lang="en-US" sz="1200" dirty="0" err="1"/>
              <a:t>định</a:t>
            </a:r>
            <a:r>
              <a:rPr lang="en-US" sz="1200" baseline="0" dirty="0"/>
              <a:t> </a:t>
            </a:r>
            <a:r>
              <a:rPr lang="en-US" sz="1200" baseline="0" dirty="0" err="1"/>
              <a:t>nghĩa</a:t>
            </a:r>
            <a:r>
              <a:rPr lang="en-US" sz="1200" baseline="0" dirty="0"/>
              <a:t>.</a:t>
            </a:r>
          </a:p>
          <a:p>
            <a:r>
              <a:rPr lang="en-US" sz="1200" dirty="0"/>
              <a:t>When bad requirements happen to good people: </a:t>
            </a:r>
            <a:r>
              <a:rPr lang="vi-VN" sz="1200" dirty="0"/>
              <a:t>Khi yêu cầu xấu xảy ra với người tốt.</a:t>
            </a:r>
            <a:endParaRPr lang="en-US" sz="1200" dirty="0"/>
          </a:p>
          <a:p>
            <a:r>
              <a:rPr lang="en-US" sz="1200" dirty="0"/>
              <a:t>Benefits from a high-quality requirements process: </a:t>
            </a:r>
            <a:r>
              <a:rPr lang="vi-VN" sz="1200" dirty="0"/>
              <a:t>Lợi ích từ quy trình yêu cầu chất lượng cao</a:t>
            </a:r>
            <a:endParaRPr lang="en-US" dirty="0"/>
          </a:p>
        </p:txBody>
      </p:sp>
      <p:sp>
        <p:nvSpPr>
          <p:cNvPr id="4" name="Slide Number Placeholder 3"/>
          <p:cNvSpPr>
            <a:spLocks noGrp="1"/>
          </p:cNvSpPr>
          <p:nvPr>
            <p:ph type="sldNum" sz="quarter" idx="10"/>
          </p:nvPr>
        </p:nvSpPr>
        <p:spPr/>
        <p:txBody>
          <a:bodyPr/>
          <a:lstStyle/>
          <a:p>
            <a:fld id="{EDD28F83-BFBF-48E5-9812-FA471493D536}" type="slidenum">
              <a:rPr lang="en-US" smtClean="0"/>
              <a:t>3</a:t>
            </a:fld>
            <a:endParaRPr lang="en-US"/>
          </a:p>
        </p:txBody>
      </p:sp>
    </p:spTree>
    <p:extLst>
      <p:ext uri="{BB962C8B-B14F-4D97-AF65-F5344CB8AC3E}">
        <p14:creationId xmlns:p14="http://schemas.microsoft.com/office/powerpoint/2010/main" val="311381970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Slide Image Placeholder 1"/>
          <p:cNvSpPr>
            <a:spLocks noGrp="1" noRot="1" noChangeAspect="1" noTextEdit="1"/>
          </p:cNvSpPr>
          <p:nvPr>
            <p:ph type="sldImg"/>
          </p:nvPr>
        </p:nvSpPr>
        <p:spPr>
          <a:xfrm>
            <a:off x="1371600" y="1143000"/>
            <a:ext cx="4114800" cy="3086100"/>
          </a:xfrm>
          <a:ln/>
        </p:spPr>
      </p:sp>
      <p:sp>
        <p:nvSpPr>
          <p:cNvPr id="9219"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dirty="0">
              <a:latin typeface="Arial" panose="020B0604020202020204" pitchFamily="34" charset="0"/>
            </a:endParaRPr>
          </a:p>
        </p:txBody>
      </p:sp>
      <p:sp>
        <p:nvSpPr>
          <p:cNvPr id="9220"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Arial" panose="020B0604020202020204" pitchFamily="34" charset="0"/>
              </a:defRPr>
            </a:lvl1pPr>
            <a:lvl2pPr marL="742950" indent="-285750">
              <a:defRPr b="1">
                <a:solidFill>
                  <a:schemeClr val="tx1"/>
                </a:solidFill>
                <a:latin typeface="Arial" panose="020B0604020202020204" pitchFamily="34" charset="0"/>
              </a:defRPr>
            </a:lvl2pPr>
            <a:lvl3pPr marL="1143000" indent="-228600">
              <a:defRPr b="1">
                <a:solidFill>
                  <a:schemeClr val="tx1"/>
                </a:solidFill>
                <a:latin typeface="Arial" panose="020B0604020202020204" pitchFamily="34" charset="0"/>
              </a:defRPr>
            </a:lvl3pPr>
            <a:lvl4pPr marL="1600200" indent="-228600">
              <a:defRPr b="1">
                <a:solidFill>
                  <a:schemeClr val="tx1"/>
                </a:solidFill>
                <a:latin typeface="Arial" panose="020B0604020202020204" pitchFamily="34" charset="0"/>
              </a:defRPr>
            </a:lvl4pPr>
            <a:lvl5pPr marL="2057400" indent="-228600">
              <a:defRPr b="1">
                <a:solidFill>
                  <a:schemeClr val="tx1"/>
                </a:solidFill>
                <a:latin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defRPr>
            </a:lvl9pPr>
          </a:lstStyle>
          <a:p>
            <a:fld id="{6DCFBB0B-C735-424C-9268-2C95A4A80A0D}" type="slidenum">
              <a:rPr lang="en-US" b="0" smtClean="0"/>
              <a:pPr/>
              <a:t>4</a:t>
            </a:fld>
            <a:endParaRPr lang="en-US" b="0"/>
          </a:p>
        </p:txBody>
      </p:sp>
    </p:spTree>
    <p:extLst>
      <p:ext uri="{BB962C8B-B14F-4D97-AF65-F5344CB8AC3E}">
        <p14:creationId xmlns:p14="http://schemas.microsoft.com/office/powerpoint/2010/main" val="300603080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r>
              <a:rPr lang="en-US" dirty="0">
                <a:latin typeface="Arial" panose="020B0604020202020204" pitchFamily="34" charset="0"/>
              </a:rPr>
              <a:t>The errors introduced during requirements activities account for 40 to 50% of all defects found in software product: </a:t>
            </a:r>
            <a:r>
              <a:rPr lang="vi-VN" dirty="0">
                <a:latin typeface="+mn-lt"/>
              </a:rPr>
              <a:t>Các lỗi </a:t>
            </a:r>
            <a:r>
              <a:rPr lang="en-US" dirty="0" err="1">
                <a:latin typeface="+mn-lt"/>
              </a:rPr>
              <a:t>trong</a:t>
            </a:r>
            <a:r>
              <a:rPr lang="en-US" baseline="0" dirty="0">
                <a:latin typeface="+mn-lt"/>
              </a:rPr>
              <a:t> </a:t>
            </a:r>
            <a:r>
              <a:rPr lang="en-US" baseline="0" dirty="0" err="1">
                <a:latin typeface="+mn-lt"/>
              </a:rPr>
              <a:t>giai</a:t>
            </a:r>
            <a:r>
              <a:rPr lang="en-US" baseline="0" dirty="0">
                <a:latin typeface="+mn-lt"/>
              </a:rPr>
              <a:t> </a:t>
            </a:r>
            <a:r>
              <a:rPr lang="en-US" baseline="0" dirty="0" err="1">
                <a:latin typeface="+mn-lt"/>
              </a:rPr>
              <a:t>đoạn</a:t>
            </a:r>
            <a:r>
              <a:rPr lang="en-US" baseline="0" dirty="0">
                <a:latin typeface="+mn-lt"/>
              </a:rPr>
              <a:t> </a:t>
            </a:r>
            <a:r>
              <a:rPr lang="en-US" baseline="0" dirty="0" err="1">
                <a:latin typeface="+mn-lt"/>
              </a:rPr>
              <a:t>lấy</a:t>
            </a:r>
            <a:r>
              <a:rPr lang="en-US" baseline="0" dirty="0">
                <a:latin typeface="+mn-lt"/>
              </a:rPr>
              <a:t> </a:t>
            </a:r>
            <a:r>
              <a:rPr lang="vi-VN" dirty="0">
                <a:latin typeface="+mn-lt"/>
              </a:rPr>
              <a:t>yêu cầu chiếm 40 đến 50% tất cả các lỗi được tìm thấy trong sản phẩm phần mềm.</a:t>
            </a:r>
            <a:endParaRPr lang="en-US" dirty="0">
              <a:latin typeface="+mn-lt"/>
            </a:endParaRPr>
          </a:p>
          <a:p>
            <a:pPr marL="171450" indent="-171450">
              <a:buFontTx/>
              <a:buChar char="-"/>
            </a:pPr>
            <a:r>
              <a:rPr lang="en-US" dirty="0">
                <a:latin typeface="+mn-lt"/>
              </a:rPr>
              <a:t>Inadequate user input</a:t>
            </a:r>
            <a:r>
              <a:rPr lang="en-US" baseline="0" dirty="0">
                <a:latin typeface="+mn-lt"/>
              </a:rPr>
              <a:t> and shortcomings in specifying and managing customer requirements are major contributors to successful projects: </a:t>
            </a:r>
            <a:r>
              <a:rPr lang="vi-VN" baseline="0" dirty="0">
                <a:latin typeface="+mn-lt"/>
              </a:rPr>
              <a:t>Đầu vào của người dùng không đầy đủ và những thiếu sót trong việc chỉ </a:t>
            </a:r>
            <a:r>
              <a:rPr lang="en-US" baseline="0" dirty="0" err="1">
                <a:latin typeface="+mn-lt"/>
              </a:rPr>
              <a:t>ra</a:t>
            </a:r>
            <a:r>
              <a:rPr lang="vi-VN" baseline="0" dirty="0">
                <a:latin typeface="+mn-lt"/>
              </a:rPr>
              <a:t> và quản lý các yêu cầu của khách hàng là những đóng góp chính cho các dự án thành công.</a:t>
            </a:r>
            <a:endParaRPr lang="en-US" dirty="0">
              <a:latin typeface="Arial" panose="020B0604020202020204" pitchFamily="34" charset="0"/>
            </a:endParaRPr>
          </a:p>
          <a:p>
            <a:endParaRPr lang="en-US" dirty="0"/>
          </a:p>
        </p:txBody>
      </p:sp>
      <p:sp>
        <p:nvSpPr>
          <p:cNvPr id="4" name="Slide Number Placeholder 3"/>
          <p:cNvSpPr>
            <a:spLocks noGrp="1"/>
          </p:cNvSpPr>
          <p:nvPr>
            <p:ph type="sldNum" sz="quarter" idx="10"/>
          </p:nvPr>
        </p:nvSpPr>
        <p:spPr/>
        <p:txBody>
          <a:bodyPr/>
          <a:lstStyle/>
          <a:p>
            <a:fld id="{EDD28F83-BFBF-48E5-9812-FA471493D536}" type="slidenum">
              <a:rPr lang="en-US" smtClean="0"/>
              <a:t>5</a:t>
            </a:fld>
            <a:endParaRPr lang="en-US"/>
          </a:p>
        </p:txBody>
      </p:sp>
    </p:spTree>
    <p:extLst>
      <p:ext uri="{BB962C8B-B14F-4D97-AF65-F5344CB8AC3E}">
        <p14:creationId xmlns:p14="http://schemas.microsoft.com/office/powerpoint/2010/main" val="285458129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r>
              <a:rPr lang="en-US" dirty="0"/>
              <a:t>anything that drives design choices: </a:t>
            </a:r>
            <a:r>
              <a:rPr lang="en-US" dirty="0" err="1"/>
              <a:t>bất</a:t>
            </a:r>
            <a:r>
              <a:rPr lang="en-US" dirty="0"/>
              <a:t> </a:t>
            </a:r>
            <a:r>
              <a:rPr lang="en-US" dirty="0" err="1"/>
              <a:t>cứ</a:t>
            </a:r>
            <a:r>
              <a:rPr lang="en-US" dirty="0"/>
              <a:t> </a:t>
            </a:r>
            <a:r>
              <a:rPr lang="en-US" dirty="0" err="1"/>
              <a:t>điều</a:t>
            </a:r>
            <a:r>
              <a:rPr lang="en-US" dirty="0"/>
              <a:t> </a:t>
            </a:r>
            <a:r>
              <a:rPr lang="en-US" dirty="0" err="1"/>
              <a:t>gì</a:t>
            </a:r>
            <a:r>
              <a:rPr lang="en-US" dirty="0"/>
              <a:t> </a:t>
            </a:r>
            <a:r>
              <a:rPr lang="en-US" dirty="0" err="1"/>
              <a:t>thúc</a:t>
            </a:r>
            <a:r>
              <a:rPr lang="en-US" dirty="0"/>
              <a:t> </a:t>
            </a:r>
            <a:r>
              <a:rPr lang="en-US" dirty="0" err="1"/>
              <a:t>đẩy</a:t>
            </a:r>
            <a:r>
              <a:rPr lang="en-US" dirty="0"/>
              <a:t> </a:t>
            </a:r>
            <a:r>
              <a:rPr lang="en-US" dirty="0" err="1"/>
              <a:t>sự</a:t>
            </a:r>
            <a:r>
              <a:rPr lang="en-US" dirty="0"/>
              <a:t> </a:t>
            </a:r>
            <a:r>
              <a:rPr lang="en-US" dirty="0" err="1"/>
              <a:t>lựa</a:t>
            </a:r>
            <a:r>
              <a:rPr lang="en-US" dirty="0"/>
              <a:t> </a:t>
            </a:r>
            <a:r>
              <a:rPr lang="en-US" dirty="0" err="1"/>
              <a:t>chọn</a:t>
            </a:r>
            <a:r>
              <a:rPr lang="en-US" dirty="0"/>
              <a:t> </a:t>
            </a:r>
            <a:r>
              <a:rPr lang="en-US" dirty="0" err="1"/>
              <a:t>thiết</a:t>
            </a:r>
            <a:r>
              <a:rPr lang="en-US" dirty="0"/>
              <a:t> kế.</a:t>
            </a:r>
          </a:p>
          <a:p>
            <a:pPr marL="171450" indent="-171450">
              <a:buFontTx/>
              <a:buChar char="-"/>
            </a:pPr>
            <a:r>
              <a:rPr lang="en-US" b="0" dirty="0">
                <a:solidFill>
                  <a:srgbClr val="003399"/>
                </a:solidFill>
              </a:rPr>
              <a:t>Requirements are a specification of what should be implemented. They are descriptions of how the system should behave, or of a system property or attribute. They may be a constraint on the development process of the system: </a:t>
            </a:r>
            <a:r>
              <a:rPr lang="vi-VN" b="0" dirty="0">
                <a:solidFill>
                  <a:srgbClr val="003399"/>
                </a:solidFill>
              </a:rPr>
              <a:t>Yêu cầu là một đặc điểm kỹ thuật của những gì nên được </a:t>
            </a:r>
            <a:r>
              <a:rPr lang="en-US" b="0" dirty="0" err="1">
                <a:solidFill>
                  <a:srgbClr val="003399"/>
                </a:solidFill>
              </a:rPr>
              <a:t>cài</a:t>
            </a:r>
            <a:r>
              <a:rPr lang="en-US" b="0" baseline="0" dirty="0">
                <a:solidFill>
                  <a:srgbClr val="003399"/>
                </a:solidFill>
              </a:rPr>
              <a:t> </a:t>
            </a:r>
            <a:r>
              <a:rPr lang="en-US" b="0" baseline="0" dirty="0" err="1">
                <a:solidFill>
                  <a:srgbClr val="003399"/>
                </a:solidFill>
              </a:rPr>
              <a:t>đặt</a:t>
            </a:r>
            <a:r>
              <a:rPr lang="vi-VN" b="0" dirty="0">
                <a:solidFill>
                  <a:srgbClr val="003399"/>
                </a:solidFill>
              </a:rPr>
              <a:t>. Chúng là những mô tả về cách hệ thống nên hoạt động, hoặc thuộc tính của hệ thống. Chúng có thể là một</a:t>
            </a:r>
            <a:r>
              <a:rPr lang="en-US" b="0" baseline="0" dirty="0">
                <a:solidFill>
                  <a:srgbClr val="003399"/>
                </a:solidFill>
              </a:rPr>
              <a:t> </a:t>
            </a:r>
            <a:r>
              <a:rPr lang="en-US" b="0" baseline="0" dirty="0" err="1">
                <a:solidFill>
                  <a:srgbClr val="003399"/>
                </a:solidFill>
              </a:rPr>
              <a:t>ràng</a:t>
            </a:r>
            <a:r>
              <a:rPr lang="en-US" b="0" baseline="0" dirty="0">
                <a:solidFill>
                  <a:srgbClr val="003399"/>
                </a:solidFill>
              </a:rPr>
              <a:t> </a:t>
            </a:r>
            <a:r>
              <a:rPr lang="en-US" b="0" baseline="0" dirty="0" err="1">
                <a:solidFill>
                  <a:srgbClr val="003399"/>
                </a:solidFill>
              </a:rPr>
              <a:t>buộc</a:t>
            </a:r>
            <a:r>
              <a:rPr lang="vi-VN" b="0" dirty="0">
                <a:solidFill>
                  <a:srgbClr val="003399"/>
                </a:solidFill>
              </a:rPr>
              <a:t> đối với quá trình phát triển của hệ thống.</a:t>
            </a:r>
            <a:endParaRPr lang="en-US" b="0" dirty="0"/>
          </a:p>
        </p:txBody>
      </p:sp>
      <p:sp>
        <p:nvSpPr>
          <p:cNvPr id="4" name="Slide Number Placeholder 3"/>
          <p:cNvSpPr>
            <a:spLocks noGrp="1"/>
          </p:cNvSpPr>
          <p:nvPr>
            <p:ph type="sldNum" sz="quarter" idx="10"/>
          </p:nvPr>
        </p:nvSpPr>
        <p:spPr/>
        <p:txBody>
          <a:bodyPr/>
          <a:lstStyle/>
          <a:p>
            <a:fld id="{EDD28F83-BFBF-48E5-9812-FA471493D536}" type="slidenum">
              <a:rPr lang="en-US" smtClean="0"/>
              <a:t>6</a:t>
            </a:fld>
            <a:endParaRPr lang="en-US"/>
          </a:p>
        </p:txBody>
      </p:sp>
    </p:spTree>
    <p:extLst>
      <p:ext uri="{BB962C8B-B14F-4D97-AF65-F5344CB8AC3E}">
        <p14:creationId xmlns:p14="http://schemas.microsoft.com/office/powerpoint/2010/main" val="45657823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r>
              <a:rPr lang="en-US" dirty="0"/>
              <a:t>A </a:t>
            </a:r>
            <a:r>
              <a:rPr lang="en-US" dirty="0" err="1"/>
              <a:t>hight</a:t>
            </a:r>
            <a:r>
              <a:rPr lang="en-US" dirty="0"/>
              <a:t>-level business objective of the organization that builds a product or of a customer who procures it:</a:t>
            </a:r>
            <a:r>
              <a:rPr lang="en-US" baseline="0" dirty="0"/>
              <a:t> </a:t>
            </a:r>
            <a:r>
              <a:rPr lang="en-US" baseline="0" dirty="0" err="1"/>
              <a:t>Một</a:t>
            </a:r>
            <a:r>
              <a:rPr lang="en-US" baseline="0" dirty="0"/>
              <a:t> </a:t>
            </a:r>
            <a:r>
              <a:rPr lang="en-US" baseline="0" dirty="0" err="1"/>
              <a:t>mục</a:t>
            </a:r>
            <a:r>
              <a:rPr lang="en-US" baseline="0" dirty="0"/>
              <a:t> </a:t>
            </a:r>
            <a:r>
              <a:rPr lang="en-US" baseline="0" dirty="0" err="1"/>
              <a:t>tiêu</a:t>
            </a:r>
            <a:r>
              <a:rPr lang="en-US" baseline="0" dirty="0"/>
              <a:t> </a:t>
            </a:r>
            <a:r>
              <a:rPr lang="en-US" baseline="0" dirty="0" err="1"/>
              <a:t>kinh</a:t>
            </a:r>
            <a:r>
              <a:rPr lang="en-US" baseline="0" dirty="0"/>
              <a:t> </a:t>
            </a:r>
            <a:r>
              <a:rPr lang="en-US" baseline="0" dirty="0" err="1"/>
              <a:t>doanh</a:t>
            </a:r>
            <a:r>
              <a:rPr lang="en-US" baseline="0" dirty="0"/>
              <a:t> </a:t>
            </a:r>
            <a:r>
              <a:rPr lang="en-US" baseline="0" dirty="0" err="1"/>
              <a:t>cấp</a:t>
            </a:r>
            <a:r>
              <a:rPr lang="en-US" baseline="0" dirty="0"/>
              <a:t> </a:t>
            </a:r>
            <a:r>
              <a:rPr lang="en-US" baseline="0" dirty="0" err="1"/>
              <a:t>cao</a:t>
            </a:r>
            <a:r>
              <a:rPr lang="en-US" baseline="0" dirty="0"/>
              <a:t> </a:t>
            </a:r>
            <a:r>
              <a:rPr lang="en-US" baseline="0" dirty="0" err="1"/>
              <a:t>của</a:t>
            </a:r>
            <a:r>
              <a:rPr lang="en-US" baseline="0" dirty="0"/>
              <a:t> </a:t>
            </a:r>
            <a:r>
              <a:rPr lang="en-US" baseline="0" dirty="0" err="1"/>
              <a:t>tổ</a:t>
            </a:r>
            <a:r>
              <a:rPr lang="en-US" baseline="0" dirty="0"/>
              <a:t> </a:t>
            </a:r>
            <a:r>
              <a:rPr lang="en-US" baseline="0" dirty="0" err="1"/>
              <a:t>chức</a:t>
            </a:r>
            <a:r>
              <a:rPr lang="en-US" baseline="0" dirty="0"/>
              <a:t> </a:t>
            </a:r>
            <a:r>
              <a:rPr lang="en-US" baseline="0" dirty="0" err="1"/>
              <a:t>là</a:t>
            </a:r>
            <a:r>
              <a:rPr lang="en-US" baseline="0" dirty="0"/>
              <a:t> </a:t>
            </a:r>
            <a:r>
              <a:rPr lang="en-US" baseline="0" dirty="0" err="1"/>
              <a:t>xây</a:t>
            </a:r>
            <a:r>
              <a:rPr lang="en-US" baseline="0" dirty="0"/>
              <a:t> </a:t>
            </a:r>
            <a:r>
              <a:rPr lang="en-US" baseline="0" dirty="0" err="1"/>
              <a:t>dựng</a:t>
            </a:r>
            <a:r>
              <a:rPr lang="en-US" baseline="0" dirty="0"/>
              <a:t> </a:t>
            </a:r>
            <a:r>
              <a:rPr lang="en-US" baseline="0" dirty="0" err="1"/>
              <a:t>một</a:t>
            </a:r>
            <a:r>
              <a:rPr lang="en-US" baseline="0" dirty="0"/>
              <a:t> </a:t>
            </a:r>
            <a:r>
              <a:rPr lang="en-US" baseline="0" dirty="0" err="1"/>
              <a:t>sản</a:t>
            </a:r>
            <a:r>
              <a:rPr lang="en-US" baseline="0" dirty="0"/>
              <a:t> </a:t>
            </a:r>
            <a:r>
              <a:rPr lang="en-US" baseline="0" dirty="0" err="1"/>
              <a:t>phẩm</a:t>
            </a:r>
            <a:r>
              <a:rPr lang="en-US" baseline="0" dirty="0"/>
              <a:t> </a:t>
            </a:r>
            <a:r>
              <a:rPr lang="en-US" baseline="0" dirty="0" err="1"/>
              <a:t>hoặc</a:t>
            </a:r>
            <a:r>
              <a:rPr lang="en-US" baseline="0" dirty="0"/>
              <a:t> </a:t>
            </a:r>
            <a:r>
              <a:rPr lang="en-US" baseline="0" dirty="0" err="1"/>
              <a:t>bán</a:t>
            </a:r>
            <a:r>
              <a:rPr lang="en-US" baseline="0" dirty="0"/>
              <a:t> </a:t>
            </a:r>
            <a:r>
              <a:rPr lang="en-US" baseline="0" dirty="0" err="1"/>
              <a:t>nó</a:t>
            </a:r>
            <a:r>
              <a:rPr lang="en-US" baseline="0" dirty="0"/>
              <a:t> </a:t>
            </a:r>
            <a:r>
              <a:rPr lang="en-US" baseline="0" dirty="0" err="1"/>
              <a:t>cho</a:t>
            </a:r>
            <a:r>
              <a:rPr lang="en-US" baseline="0" dirty="0"/>
              <a:t> </a:t>
            </a:r>
            <a:r>
              <a:rPr lang="en-US" baseline="0" dirty="0" err="1"/>
              <a:t>một</a:t>
            </a:r>
            <a:r>
              <a:rPr lang="en-US" baseline="0" dirty="0"/>
              <a:t> </a:t>
            </a:r>
            <a:r>
              <a:rPr lang="en-US" baseline="0" dirty="0" err="1"/>
              <a:t>khách</a:t>
            </a:r>
            <a:r>
              <a:rPr lang="en-US" baseline="0" dirty="0"/>
              <a:t> </a:t>
            </a:r>
            <a:r>
              <a:rPr lang="en-US" baseline="0" dirty="0" err="1"/>
              <a:t>hàng</a:t>
            </a:r>
            <a:endParaRPr lang="en-US" baseline="0" dirty="0"/>
          </a:p>
          <a:p>
            <a:pPr marL="171450" indent="-171450">
              <a:buFontTx/>
              <a:buChar char="-"/>
            </a:pPr>
            <a:r>
              <a:rPr lang="en-US" dirty="0"/>
              <a:t>A restriction that is imposed on the choices available to the developer for the design and construction of a product:</a:t>
            </a:r>
            <a:r>
              <a:rPr lang="en-US" baseline="0" dirty="0"/>
              <a:t> </a:t>
            </a:r>
            <a:r>
              <a:rPr lang="vi-VN" baseline="0" dirty="0"/>
              <a:t>Một hạn chế</a:t>
            </a:r>
            <a:r>
              <a:rPr lang="en-US" baseline="0" dirty="0"/>
              <a:t>/</a:t>
            </a:r>
            <a:r>
              <a:rPr lang="en-US" baseline="0" dirty="0" err="1"/>
              <a:t>giới</a:t>
            </a:r>
            <a:r>
              <a:rPr lang="en-US" baseline="0" dirty="0"/>
              <a:t> </a:t>
            </a:r>
            <a:r>
              <a:rPr lang="en-US" baseline="0" dirty="0" err="1"/>
              <a:t>hạn</a:t>
            </a:r>
            <a:r>
              <a:rPr lang="vi-VN" baseline="0" dirty="0"/>
              <a:t> được áp đặt cho các lựa chọn có sẵn </a:t>
            </a:r>
            <a:r>
              <a:rPr lang="en-US" baseline="0" dirty="0" err="1"/>
              <a:t>để</a:t>
            </a:r>
            <a:r>
              <a:rPr lang="vi-VN" baseline="0" dirty="0"/>
              <a:t> nhà phát triển việc thiết kế và xây dựng một sản phẩm.</a:t>
            </a:r>
            <a:endParaRPr lang="en-US" baseline="0" dirty="0"/>
          </a:p>
          <a:p>
            <a:pPr marL="171450" indent="-171450">
              <a:buFontTx/>
              <a:buChar char="-"/>
            </a:pPr>
            <a:r>
              <a:rPr lang="en-US" dirty="0"/>
              <a:t>a description of a </a:t>
            </a:r>
            <a:r>
              <a:rPr lang="en-US" dirty="0" err="1"/>
              <a:t>behaviour</a:t>
            </a:r>
            <a:r>
              <a:rPr lang="en-US" dirty="0"/>
              <a:t> that a system must exhibit or a constraint that it must respect:</a:t>
            </a:r>
            <a:r>
              <a:rPr lang="en-US" baseline="0" dirty="0"/>
              <a:t> </a:t>
            </a:r>
            <a:r>
              <a:rPr lang="en-US" baseline="0" dirty="0" err="1"/>
              <a:t>một</a:t>
            </a:r>
            <a:r>
              <a:rPr lang="en-US" baseline="0" dirty="0"/>
              <a:t> </a:t>
            </a:r>
            <a:r>
              <a:rPr lang="en-US" baseline="0" dirty="0" err="1"/>
              <a:t>mô</a:t>
            </a:r>
            <a:r>
              <a:rPr lang="en-US" baseline="0" dirty="0"/>
              <a:t> </a:t>
            </a:r>
            <a:r>
              <a:rPr lang="en-US" baseline="0" dirty="0" err="1"/>
              <a:t>tả</a:t>
            </a:r>
            <a:r>
              <a:rPr lang="en-US" baseline="0" dirty="0"/>
              <a:t> </a:t>
            </a:r>
            <a:r>
              <a:rPr lang="en-US" baseline="0" dirty="0" err="1"/>
              <a:t>về</a:t>
            </a:r>
            <a:r>
              <a:rPr lang="en-US" baseline="0" dirty="0"/>
              <a:t> </a:t>
            </a:r>
            <a:r>
              <a:rPr lang="en-US" baseline="0" dirty="0" err="1"/>
              <a:t>một</a:t>
            </a:r>
            <a:r>
              <a:rPr lang="en-US" baseline="0" dirty="0"/>
              <a:t> </a:t>
            </a:r>
            <a:r>
              <a:rPr lang="en-US" baseline="0" dirty="0" err="1"/>
              <a:t>hành</a:t>
            </a:r>
            <a:r>
              <a:rPr lang="en-US" baseline="0" dirty="0"/>
              <a:t> vi </a:t>
            </a:r>
            <a:r>
              <a:rPr lang="en-US" baseline="0" dirty="0" err="1"/>
              <a:t>mà</a:t>
            </a:r>
            <a:r>
              <a:rPr lang="en-US" baseline="0" dirty="0"/>
              <a:t> </a:t>
            </a:r>
            <a:r>
              <a:rPr lang="en-US" baseline="0" dirty="0" err="1"/>
              <a:t>một</a:t>
            </a:r>
            <a:r>
              <a:rPr lang="en-US" baseline="0" dirty="0"/>
              <a:t> </a:t>
            </a:r>
            <a:r>
              <a:rPr lang="en-US" baseline="0" dirty="0" err="1"/>
              <a:t>hệ</a:t>
            </a:r>
            <a:r>
              <a:rPr lang="en-US" baseline="0" dirty="0"/>
              <a:t> </a:t>
            </a:r>
            <a:r>
              <a:rPr lang="en-US" baseline="0" dirty="0" err="1"/>
              <a:t>thống</a:t>
            </a:r>
            <a:r>
              <a:rPr lang="en-US" baseline="0" dirty="0"/>
              <a:t> </a:t>
            </a:r>
            <a:r>
              <a:rPr lang="en-US" baseline="0" dirty="0" err="1"/>
              <a:t>phải</a:t>
            </a:r>
            <a:r>
              <a:rPr lang="en-US" baseline="0" dirty="0"/>
              <a:t> </a:t>
            </a:r>
            <a:r>
              <a:rPr lang="en-US" baseline="0" dirty="0" err="1"/>
              <a:t>thể</a:t>
            </a:r>
            <a:r>
              <a:rPr lang="en-US" baseline="0" dirty="0"/>
              <a:t> </a:t>
            </a:r>
            <a:r>
              <a:rPr lang="en-US" baseline="0" dirty="0" err="1"/>
              <a:t>hiện</a:t>
            </a:r>
            <a:r>
              <a:rPr lang="en-US" baseline="0" dirty="0"/>
              <a:t> </a:t>
            </a:r>
            <a:r>
              <a:rPr lang="en-US" baseline="0" dirty="0" err="1"/>
              <a:t>hoặc</a:t>
            </a:r>
            <a:r>
              <a:rPr lang="en-US" baseline="0" dirty="0"/>
              <a:t> </a:t>
            </a:r>
            <a:r>
              <a:rPr lang="en-US" baseline="0" dirty="0" err="1"/>
              <a:t>một</a:t>
            </a:r>
            <a:r>
              <a:rPr lang="en-US" baseline="0" dirty="0"/>
              <a:t> </a:t>
            </a:r>
            <a:r>
              <a:rPr lang="en-US" baseline="0" dirty="0" err="1"/>
              <a:t>ràng</a:t>
            </a:r>
            <a:r>
              <a:rPr lang="en-US" baseline="0" dirty="0"/>
              <a:t> </a:t>
            </a:r>
            <a:r>
              <a:rPr lang="en-US" baseline="0" dirty="0" err="1"/>
              <a:t>buộc</a:t>
            </a:r>
            <a:r>
              <a:rPr lang="en-US" baseline="0" dirty="0"/>
              <a:t> </a:t>
            </a:r>
            <a:r>
              <a:rPr lang="en-US" baseline="0" dirty="0" err="1"/>
              <a:t>mà</a:t>
            </a:r>
            <a:r>
              <a:rPr lang="en-US" baseline="0" dirty="0"/>
              <a:t> </a:t>
            </a:r>
            <a:r>
              <a:rPr lang="en-US" baseline="0" dirty="0" err="1"/>
              <a:t>nó</a:t>
            </a:r>
            <a:r>
              <a:rPr lang="en-US" baseline="0" dirty="0"/>
              <a:t> </a:t>
            </a:r>
            <a:r>
              <a:rPr lang="en-US" baseline="0" dirty="0" err="1"/>
              <a:t>phải</a:t>
            </a:r>
            <a:r>
              <a:rPr lang="en-US" baseline="0" dirty="0"/>
              <a:t> </a:t>
            </a:r>
            <a:r>
              <a:rPr lang="en-US" baseline="0" dirty="0" err="1"/>
              <a:t>tôn</a:t>
            </a:r>
            <a:r>
              <a:rPr lang="en-US" baseline="0" dirty="0"/>
              <a:t> </a:t>
            </a:r>
            <a:r>
              <a:rPr lang="en-US" baseline="0" dirty="0" err="1"/>
              <a:t>trọng</a:t>
            </a:r>
            <a:r>
              <a:rPr lang="en-US" baseline="0" dirty="0"/>
              <a:t>/</a:t>
            </a:r>
            <a:r>
              <a:rPr lang="en-US" baseline="0" dirty="0" err="1"/>
              <a:t>tuân</a:t>
            </a:r>
            <a:r>
              <a:rPr lang="en-US" baseline="0" dirty="0"/>
              <a:t> </a:t>
            </a:r>
            <a:r>
              <a:rPr lang="en-US" baseline="0" dirty="0" err="1"/>
              <a:t>thủ</a:t>
            </a:r>
            <a:r>
              <a:rPr lang="en-US" baseline="0" dirty="0"/>
              <a:t>.</a:t>
            </a:r>
            <a:endParaRPr lang="en-US" dirty="0"/>
          </a:p>
        </p:txBody>
      </p:sp>
      <p:sp>
        <p:nvSpPr>
          <p:cNvPr id="4" name="Slide Number Placeholder 3"/>
          <p:cNvSpPr>
            <a:spLocks noGrp="1"/>
          </p:cNvSpPr>
          <p:nvPr>
            <p:ph type="sldNum" sz="quarter" idx="10"/>
          </p:nvPr>
        </p:nvSpPr>
        <p:spPr/>
        <p:txBody>
          <a:bodyPr/>
          <a:lstStyle/>
          <a:p>
            <a:fld id="{EDD28F83-BFBF-48E5-9812-FA471493D536}" type="slidenum">
              <a:rPr lang="en-US" smtClean="0"/>
              <a:t>7</a:t>
            </a:fld>
            <a:endParaRPr lang="en-US"/>
          </a:p>
        </p:txBody>
      </p:sp>
    </p:spTree>
    <p:extLst>
      <p:ext uri="{BB962C8B-B14F-4D97-AF65-F5344CB8AC3E}">
        <p14:creationId xmlns:p14="http://schemas.microsoft.com/office/powerpoint/2010/main" val="20413175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software </a:t>
            </a:r>
            <a:r>
              <a:rPr lang="en-US" dirty="0" err="1"/>
              <a:t>requiements</a:t>
            </a:r>
            <a:r>
              <a:rPr lang="en-US" dirty="0"/>
              <a:t> specification:</a:t>
            </a:r>
            <a:r>
              <a:rPr lang="en-US" baseline="0" dirty="0"/>
              <a:t> </a:t>
            </a:r>
            <a:r>
              <a:rPr lang="en-US" baseline="0" dirty="0" err="1"/>
              <a:t>Yêu</a:t>
            </a:r>
            <a:r>
              <a:rPr lang="en-US" baseline="0" dirty="0"/>
              <a:t> </a:t>
            </a:r>
            <a:r>
              <a:rPr lang="en-US" baseline="0" dirty="0" err="1"/>
              <a:t>cầu</a:t>
            </a:r>
            <a:r>
              <a:rPr lang="en-US" baseline="0" dirty="0"/>
              <a:t> </a:t>
            </a:r>
            <a:r>
              <a:rPr lang="en-US" baseline="0" dirty="0" err="1"/>
              <a:t>kỹ</a:t>
            </a:r>
            <a:r>
              <a:rPr lang="en-US" baseline="0" dirty="0"/>
              <a:t> </a:t>
            </a:r>
            <a:r>
              <a:rPr lang="en-US" baseline="0" dirty="0" err="1"/>
              <a:t>thuật</a:t>
            </a:r>
            <a:r>
              <a:rPr lang="en-US" baseline="0" dirty="0"/>
              <a:t> PM</a:t>
            </a:r>
            <a:endParaRPr lang="en-US" dirty="0"/>
          </a:p>
        </p:txBody>
      </p:sp>
      <p:sp>
        <p:nvSpPr>
          <p:cNvPr id="4" name="Slide Number Placeholder 3"/>
          <p:cNvSpPr>
            <a:spLocks noGrp="1"/>
          </p:cNvSpPr>
          <p:nvPr>
            <p:ph type="sldNum" sz="quarter" idx="10"/>
          </p:nvPr>
        </p:nvSpPr>
        <p:spPr/>
        <p:txBody>
          <a:bodyPr/>
          <a:lstStyle/>
          <a:p>
            <a:fld id="{EDD28F83-BFBF-48E5-9812-FA471493D536}" type="slidenum">
              <a:rPr lang="en-US" smtClean="0"/>
              <a:t>8</a:t>
            </a:fld>
            <a:endParaRPr lang="en-US"/>
          </a:p>
        </p:txBody>
      </p:sp>
    </p:spTree>
    <p:extLst>
      <p:ext uri="{BB962C8B-B14F-4D97-AF65-F5344CB8AC3E}">
        <p14:creationId xmlns:p14="http://schemas.microsoft.com/office/powerpoint/2010/main" val="24842433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t>
            </a:r>
            <a:r>
              <a:rPr lang="en-US" sz="1200" dirty="0"/>
              <a:t>Biz requirements typically come from the funding sponsor for a project, the acquiring customers, the manager of the actual users, the marketing department, or a product visionary:</a:t>
            </a:r>
            <a:r>
              <a:rPr lang="en-US" sz="1200" baseline="0" dirty="0"/>
              <a:t> </a:t>
            </a:r>
            <a:r>
              <a:rPr lang="vi-VN" sz="1200" baseline="0" dirty="0"/>
              <a:t>Các yêu cầu kinh doanh thường đến từ nhà tài </a:t>
            </a:r>
            <a:r>
              <a:rPr lang="en-US" sz="1200" baseline="0" dirty="0" err="1"/>
              <a:t>của</a:t>
            </a:r>
            <a:r>
              <a:rPr lang="en-US" sz="1200" baseline="0" dirty="0"/>
              <a:t> </a:t>
            </a:r>
            <a:r>
              <a:rPr lang="vi-VN" sz="1200" baseline="0"/>
              <a:t>một </a:t>
            </a:r>
            <a:r>
              <a:rPr lang="vi-VN" sz="1200" baseline="0" dirty="0"/>
              <a:t>dự án, khách hàng có được, người quản lý của người dùng thực tế, bộ phận tiếp thị hoặc một người có tầm nhìn sản phẩm.</a:t>
            </a:r>
            <a:endParaRPr lang="en-US" dirty="0"/>
          </a:p>
        </p:txBody>
      </p:sp>
      <p:sp>
        <p:nvSpPr>
          <p:cNvPr id="4" name="Slide Number Placeholder 3"/>
          <p:cNvSpPr>
            <a:spLocks noGrp="1"/>
          </p:cNvSpPr>
          <p:nvPr>
            <p:ph type="sldNum" sz="quarter" idx="10"/>
          </p:nvPr>
        </p:nvSpPr>
        <p:spPr/>
        <p:txBody>
          <a:bodyPr/>
          <a:lstStyle/>
          <a:p>
            <a:fld id="{EDD28F83-BFBF-48E5-9812-FA471493D536}" type="slidenum">
              <a:rPr lang="en-US" smtClean="0"/>
              <a:t>9</a:t>
            </a:fld>
            <a:endParaRPr lang="en-US"/>
          </a:p>
        </p:txBody>
      </p:sp>
    </p:spTree>
    <p:extLst>
      <p:ext uri="{BB962C8B-B14F-4D97-AF65-F5344CB8AC3E}">
        <p14:creationId xmlns:p14="http://schemas.microsoft.com/office/powerpoint/2010/main" val="191929848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DD28F83-BFBF-48E5-9812-FA471493D536}" type="slidenum">
              <a:rPr lang="en-US" smtClean="0"/>
              <a:t>10</a:t>
            </a:fld>
            <a:endParaRPr lang="en-US"/>
          </a:p>
        </p:txBody>
      </p:sp>
    </p:spTree>
    <p:extLst>
      <p:ext uri="{BB962C8B-B14F-4D97-AF65-F5344CB8AC3E}">
        <p14:creationId xmlns:p14="http://schemas.microsoft.com/office/powerpoint/2010/main" val="94402485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DD28F83-BFBF-48E5-9812-FA471493D536}" type="slidenum">
              <a:rPr lang="en-US" smtClean="0"/>
              <a:t>11</a:t>
            </a:fld>
            <a:endParaRPr lang="en-US"/>
          </a:p>
        </p:txBody>
      </p:sp>
    </p:spTree>
    <p:extLst>
      <p:ext uri="{BB962C8B-B14F-4D97-AF65-F5344CB8AC3E}">
        <p14:creationId xmlns:p14="http://schemas.microsoft.com/office/powerpoint/2010/main" val="12170633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DD28F83-BFBF-48E5-9812-FA471493D536}" type="slidenum">
              <a:rPr lang="en-US" smtClean="0"/>
              <a:t>12</a:t>
            </a:fld>
            <a:endParaRPr lang="en-US"/>
          </a:p>
        </p:txBody>
      </p:sp>
    </p:spTree>
    <p:extLst>
      <p:ext uri="{BB962C8B-B14F-4D97-AF65-F5344CB8AC3E}">
        <p14:creationId xmlns:p14="http://schemas.microsoft.com/office/powerpoint/2010/main" val="84728136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dirty="0"/>
              <a:t>- </a:t>
            </a:r>
            <a:r>
              <a:rPr lang="vi-VN" dirty="0">
                <a:latin typeface="Calibri" panose="020F0502020204030204" pitchFamily="34" charset="0"/>
                <a:cs typeface="Calibri" panose="020F0502020204030204" pitchFamily="34" charset="0"/>
              </a:rPr>
              <a:t>People and processes are part of a system, too, so certain system functions might be allocated to human being: Con người và quy trình cũng là một phần của một hệ thống, do đó, một số chức năng hệ thống nhất định có thể được phân bổ cho con người.</a:t>
            </a:r>
            <a:endParaRPr lang="en-US" dirty="0"/>
          </a:p>
        </p:txBody>
      </p:sp>
      <p:sp>
        <p:nvSpPr>
          <p:cNvPr id="4" name="Slide Number Placeholder 3"/>
          <p:cNvSpPr>
            <a:spLocks noGrp="1"/>
          </p:cNvSpPr>
          <p:nvPr>
            <p:ph type="sldNum" sz="quarter" idx="10"/>
          </p:nvPr>
        </p:nvSpPr>
        <p:spPr/>
        <p:txBody>
          <a:bodyPr/>
          <a:lstStyle/>
          <a:p>
            <a:fld id="{EDD28F83-BFBF-48E5-9812-FA471493D536}" type="slidenum">
              <a:rPr lang="en-US" smtClean="0"/>
              <a:t>13</a:t>
            </a:fld>
            <a:endParaRPr lang="en-US"/>
          </a:p>
        </p:txBody>
      </p:sp>
    </p:spTree>
    <p:extLst>
      <p:ext uri="{BB962C8B-B14F-4D97-AF65-F5344CB8AC3E}">
        <p14:creationId xmlns:p14="http://schemas.microsoft.com/office/powerpoint/2010/main" val="392253518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DD28F83-BFBF-48E5-9812-FA471493D536}" type="slidenum">
              <a:rPr lang="en-US" smtClean="0"/>
              <a:t>14</a:t>
            </a:fld>
            <a:endParaRPr lang="en-US"/>
          </a:p>
        </p:txBody>
      </p:sp>
    </p:spTree>
    <p:extLst>
      <p:ext uri="{BB962C8B-B14F-4D97-AF65-F5344CB8AC3E}">
        <p14:creationId xmlns:p14="http://schemas.microsoft.com/office/powerpoint/2010/main" val="295513412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DD28F83-BFBF-48E5-9812-FA471493D536}" type="slidenum">
              <a:rPr lang="en-US" smtClean="0"/>
              <a:t>15</a:t>
            </a:fld>
            <a:endParaRPr lang="en-US"/>
          </a:p>
        </p:txBody>
      </p:sp>
    </p:spTree>
    <p:extLst>
      <p:ext uri="{BB962C8B-B14F-4D97-AF65-F5344CB8AC3E}">
        <p14:creationId xmlns:p14="http://schemas.microsoft.com/office/powerpoint/2010/main" val="295310089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r>
              <a:rPr lang="en-US"/>
              <a:t>Working with three levels</a:t>
            </a:r>
          </a:p>
        </p:txBody>
      </p:sp>
      <p:sp>
        <p:nvSpPr>
          <p:cNvPr id="4" name="Slide Number Placeholder 3"/>
          <p:cNvSpPr>
            <a:spLocks noGrp="1"/>
          </p:cNvSpPr>
          <p:nvPr>
            <p:ph type="sldNum" sz="quarter" idx="10"/>
          </p:nvPr>
        </p:nvSpPr>
        <p:spPr/>
        <p:txBody>
          <a:bodyPr/>
          <a:lstStyle/>
          <a:p>
            <a:fld id="{D6D8E87D-860B-4D07-AA9C-845386AB8A4E}" type="slidenum">
              <a:rPr lang="en-US" smtClean="0"/>
              <a:t>16</a:t>
            </a:fld>
            <a:endParaRPr lang="en-US"/>
          </a:p>
        </p:txBody>
      </p:sp>
    </p:spTree>
    <p:extLst>
      <p:ext uri="{BB962C8B-B14F-4D97-AF65-F5344CB8AC3E}">
        <p14:creationId xmlns:p14="http://schemas.microsoft.com/office/powerpoint/2010/main" val="72674074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r>
              <a:rPr lang="en-US" sz="1200" b="0" i="0" kern="1200">
                <a:solidFill>
                  <a:schemeClr val="tx1"/>
                </a:solidFill>
                <a:effectLst/>
                <a:latin typeface="+mn-lt"/>
                <a:ea typeface="+mn-ea"/>
                <a:cs typeface="+mn-cs"/>
              </a:rPr>
              <a:t>Product requirements consist of technical requirements, performance requirements and security requirements while Project requirements consist of delivery requirements, business requirements and project management requirements.</a:t>
            </a:r>
            <a:endParaRPr lang="en-US" dirty="0"/>
          </a:p>
        </p:txBody>
      </p:sp>
      <p:sp>
        <p:nvSpPr>
          <p:cNvPr id="4" name="Slide Number Placeholder 3"/>
          <p:cNvSpPr>
            <a:spLocks noGrp="1"/>
          </p:cNvSpPr>
          <p:nvPr>
            <p:ph type="sldNum" sz="quarter" idx="10"/>
          </p:nvPr>
        </p:nvSpPr>
        <p:spPr/>
        <p:txBody>
          <a:bodyPr/>
          <a:lstStyle/>
          <a:p>
            <a:fld id="{D6D8E87D-860B-4D07-AA9C-845386AB8A4E}" type="slidenum">
              <a:rPr lang="en-US" smtClean="0"/>
              <a:t>17</a:t>
            </a:fld>
            <a:endParaRPr lang="en-US"/>
          </a:p>
        </p:txBody>
      </p:sp>
    </p:spTree>
    <p:extLst>
      <p:ext uri="{BB962C8B-B14F-4D97-AF65-F5344CB8AC3E}">
        <p14:creationId xmlns:p14="http://schemas.microsoft.com/office/powerpoint/2010/main" val="341496271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KR" dirty="0"/>
          </a:p>
        </p:txBody>
      </p:sp>
      <p:sp>
        <p:nvSpPr>
          <p:cNvPr id="4" name="Slide Number Placeholder 3"/>
          <p:cNvSpPr>
            <a:spLocks noGrp="1"/>
          </p:cNvSpPr>
          <p:nvPr>
            <p:ph type="sldNum" sz="quarter" idx="5"/>
          </p:nvPr>
        </p:nvSpPr>
        <p:spPr/>
        <p:txBody>
          <a:bodyPr/>
          <a:lstStyle/>
          <a:p>
            <a:fld id="{EDD28F83-BFBF-48E5-9812-FA471493D536}" type="slidenum">
              <a:rPr lang="en-US" smtClean="0"/>
              <a:t>18</a:t>
            </a:fld>
            <a:endParaRPr lang="en-US"/>
          </a:p>
        </p:txBody>
      </p:sp>
    </p:spTree>
    <p:extLst>
      <p:ext uri="{BB962C8B-B14F-4D97-AF65-F5344CB8AC3E}">
        <p14:creationId xmlns:p14="http://schemas.microsoft.com/office/powerpoint/2010/main" val="139658534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r>
              <a:rPr lang="en-US"/>
              <a:t>Teacher should</a:t>
            </a:r>
            <a:r>
              <a:rPr lang="en-US" baseline="0"/>
              <a:t> explain more detail about every type of requirements</a:t>
            </a:r>
            <a:endParaRPr lang="en-US"/>
          </a:p>
        </p:txBody>
      </p:sp>
      <p:sp>
        <p:nvSpPr>
          <p:cNvPr id="4" name="Slide Number Placeholder 3"/>
          <p:cNvSpPr>
            <a:spLocks noGrp="1"/>
          </p:cNvSpPr>
          <p:nvPr>
            <p:ph type="sldNum" sz="quarter" idx="10"/>
          </p:nvPr>
        </p:nvSpPr>
        <p:spPr/>
        <p:txBody>
          <a:bodyPr/>
          <a:lstStyle/>
          <a:p>
            <a:fld id="{D6D8E87D-860B-4D07-AA9C-845386AB8A4E}" type="slidenum">
              <a:rPr lang="en-US" smtClean="0"/>
              <a:t>19</a:t>
            </a:fld>
            <a:endParaRPr lang="en-US"/>
          </a:p>
        </p:txBody>
      </p:sp>
    </p:spTree>
    <p:extLst>
      <p:ext uri="{BB962C8B-B14F-4D97-AF65-F5344CB8AC3E}">
        <p14:creationId xmlns:p14="http://schemas.microsoft.com/office/powerpoint/2010/main" val="173695321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pPr marL="171450" indent="-171450">
              <a:buFontTx/>
              <a:buChar char="-"/>
            </a:pPr>
            <a:r>
              <a:rPr lang="en-US" dirty="0"/>
              <a:t>confusion about requirements terminology extends even to what to call the whole discipline.: </a:t>
            </a:r>
            <a:r>
              <a:rPr lang="en-US" dirty="0" err="1"/>
              <a:t>sự</a:t>
            </a:r>
            <a:r>
              <a:rPr lang="en-US" dirty="0"/>
              <a:t> </a:t>
            </a:r>
            <a:r>
              <a:rPr lang="en-US" dirty="0" err="1"/>
              <a:t>nhầm</a:t>
            </a:r>
            <a:r>
              <a:rPr lang="en-US" dirty="0"/>
              <a:t> </a:t>
            </a:r>
            <a:r>
              <a:rPr lang="en-US" dirty="0" err="1"/>
              <a:t>lẫn</a:t>
            </a:r>
            <a:r>
              <a:rPr lang="en-US" dirty="0"/>
              <a:t> </a:t>
            </a:r>
            <a:r>
              <a:rPr lang="en-US" dirty="0" err="1"/>
              <a:t>về</a:t>
            </a:r>
            <a:r>
              <a:rPr lang="en-US" dirty="0"/>
              <a:t> </a:t>
            </a:r>
            <a:r>
              <a:rPr lang="en-US" dirty="0" err="1"/>
              <a:t>thuật</a:t>
            </a:r>
            <a:r>
              <a:rPr lang="en-US" dirty="0"/>
              <a:t> </a:t>
            </a:r>
            <a:r>
              <a:rPr lang="en-US" dirty="0" err="1"/>
              <a:t>ngữ</a:t>
            </a:r>
            <a:r>
              <a:rPr lang="en-US" dirty="0"/>
              <a:t> </a:t>
            </a:r>
            <a:r>
              <a:rPr lang="en-US" dirty="0" err="1"/>
              <a:t>yêu</a:t>
            </a:r>
            <a:r>
              <a:rPr lang="en-US" dirty="0"/>
              <a:t> </a:t>
            </a:r>
            <a:r>
              <a:rPr lang="en-US" dirty="0" err="1"/>
              <a:t>cầu</a:t>
            </a:r>
            <a:r>
              <a:rPr lang="en-US" dirty="0"/>
              <a:t> </a:t>
            </a:r>
            <a:r>
              <a:rPr lang="en-US" dirty="0" err="1"/>
              <a:t>thậm</a:t>
            </a:r>
            <a:r>
              <a:rPr lang="en-US" dirty="0"/>
              <a:t> </a:t>
            </a:r>
            <a:r>
              <a:rPr lang="en-US" dirty="0" err="1"/>
              <a:t>chí</a:t>
            </a:r>
            <a:r>
              <a:rPr lang="en-US" dirty="0"/>
              <a:t> </a:t>
            </a:r>
            <a:r>
              <a:rPr lang="en-US" dirty="0" err="1"/>
              <a:t>còn</a:t>
            </a:r>
            <a:r>
              <a:rPr lang="en-US" dirty="0"/>
              <a:t> </a:t>
            </a:r>
            <a:r>
              <a:rPr lang="en-US" dirty="0" err="1"/>
              <a:t>mở</a:t>
            </a:r>
            <a:r>
              <a:rPr lang="en-US" dirty="0"/>
              <a:t> </a:t>
            </a:r>
            <a:r>
              <a:rPr lang="en-US" dirty="0" err="1"/>
              <a:t>rộng</a:t>
            </a:r>
            <a:r>
              <a:rPr lang="en-US" dirty="0"/>
              <a:t> </a:t>
            </a:r>
            <a:r>
              <a:rPr lang="en-US" dirty="0" err="1"/>
              <a:t>đến</a:t>
            </a:r>
            <a:r>
              <a:rPr lang="en-US" dirty="0"/>
              <a:t> </a:t>
            </a:r>
            <a:r>
              <a:rPr lang="en-US" dirty="0" err="1"/>
              <a:t>những</a:t>
            </a:r>
            <a:r>
              <a:rPr lang="en-US" dirty="0"/>
              <a:t> </a:t>
            </a:r>
            <a:r>
              <a:rPr lang="en-US" dirty="0" err="1"/>
              <a:t>gì</a:t>
            </a:r>
            <a:r>
              <a:rPr lang="en-US" dirty="0"/>
              <a:t> </a:t>
            </a:r>
            <a:r>
              <a:rPr lang="en-US" dirty="0" err="1"/>
              <a:t>để</a:t>
            </a:r>
            <a:r>
              <a:rPr lang="en-US" dirty="0"/>
              <a:t> </a:t>
            </a:r>
            <a:r>
              <a:rPr lang="en-US" dirty="0" err="1"/>
              <a:t>gọi</a:t>
            </a:r>
            <a:r>
              <a:rPr lang="en-US" dirty="0"/>
              <a:t> </a:t>
            </a:r>
            <a:r>
              <a:rPr lang="en-US" dirty="0" err="1"/>
              <a:t>toàn</a:t>
            </a:r>
            <a:r>
              <a:rPr lang="en-US" dirty="0"/>
              <a:t> </a:t>
            </a:r>
            <a:r>
              <a:rPr lang="en-US" dirty="0" err="1"/>
              <a:t>bộ</a:t>
            </a:r>
            <a:r>
              <a:rPr lang="en-US" dirty="0"/>
              <a:t> </a:t>
            </a:r>
            <a:r>
              <a:rPr lang="en-US" dirty="0" err="1"/>
              <a:t>ngành</a:t>
            </a:r>
            <a:r>
              <a:rPr lang="en-US" dirty="0"/>
              <a:t> </a:t>
            </a:r>
            <a:r>
              <a:rPr lang="en-US" dirty="0" err="1"/>
              <a:t>học</a:t>
            </a:r>
            <a:r>
              <a:rPr lang="en-US" dirty="0"/>
              <a:t>.</a:t>
            </a:r>
          </a:p>
          <a:p>
            <a:pPr marL="171450" indent="-171450">
              <a:buFontTx/>
              <a:buChar char="-"/>
            </a:pPr>
            <a:r>
              <a:rPr lang="en-US" dirty="0"/>
              <a:t>requirements engineering:</a:t>
            </a:r>
            <a:r>
              <a:rPr lang="en-US" baseline="0" dirty="0"/>
              <a:t> YC </a:t>
            </a:r>
            <a:r>
              <a:rPr lang="en-US" baseline="0" dirty="0" err="1"/>
              <a:t>kỹ</a:t>
            </a:r>
            <a:r>
              <a:rPr lang="en-US" baseline="0" dirty="0"/>
              <a:t> </a:t>
            </a:r>
            <a:r>
              <a:rPr lang="en-US" baseline="0" dirty="0" err="1"/>
              <a:t>thuật</a:t>
            </a:r>
            <a:endParaRPr lang="en-US" baseline="0" dirty="0"/>
          </a:p>
          <a:p>
            <a:pPr marL="171450" indent="-171450">
              <a:buFontTx/>
              <a:buChar char="-"/>
            </a:pPr>
            <a:endParaRPr lang="en-US" dirty="0"/>
          </a:p>
        </p:txBody>
      </p:sp>
      <p:sp>
        <p:nvSpPr>
          <p:cNvPr id="4" name="Slide Number Placeholder 3"/>
          <p:cNvSpPr>
            <a:spLocks noGrp="1"/>
          </p:cNvSpPr>
          <p:nvPr>
            <p:ph type="sldNum" sz="quarter" idx="10"/>
          </p:nvPr>
        </p:nvSpPr>
        <p:spPr/>
        <p:txBody>
          <a:bodyPr/>
          <a:lstStyle/>
          <a:p>
            <a:fld id="{D6D8E87D-860B-4D07-AA9C-845386AB8A4E}" type="slidenum">
              <a:rPr lang="en-US" smtClean="0"/>
              <a:t>20</a:t>
            </a:fld>
            <a:endParaRPr lang="en-US"/>
          </a:p>
        </p:txBody>
      </p:sp>
    </p:spTree>
    <p:extLst>
      <p:ext uri="{BB962C8B-B14F-4D97-AF65-F5344CB8AC3E}">
        <p14:creationId xmlns:p14="http://schemas.microsoft.com/office/powerpoint/2010/main" val="372167401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 risk with product-centric is that you might implement features that don’t get used much, even if they </a:t>
            </a:r>
            <a:r>
              <a:rPr lang="en-US" dirty="0" err="1"/>
              <a:t>semed</a:t>
            </a:r>
            <a:r>
              <a:rPr lang="en-US" dirty="0"/>
              <a:t> like a good idea at the time.: </a:t>
            </a:r>
            <a:r>
              <a:rPr lang="vi-VN" dirty="0"/>
              <a:t>Một rủi ro với </a:t>
            </a:r>
            <a:r>
              <a:rPr lang="en-US" dirty="0" err="1"/>
              <a:t>tiếp</a:t>
            </a:r>
            <a:r>
              <a:rPr lang="en-US" dirty="0"/>
              <a:t> </a:t>
            </a:r>
            <a:r>
              <a:rPr lang="en-US" dirty="0" err="1"/>
              <a:t>cận</a:t>
            </a:r>
            <a:r>
              <a:rPr lang="en-US" baseline="0" dirty="0"/>
              <a:t> </a:t>
            </a:r>
            <a:r>
              <a:rPr lang="vi-VN" dirty="0"/>
              <a:t>sản phẩm</a:t>
            </a:r>
            <a:r>
              <a:rPr lang="en-US" dirty="0"/>
              <a:t>-</a:t>
            </a:r>
            <a:r>
              <a:rPr lang="en-US" dirty="0" err="1"/>
              <a:t>tập</a:t>
            </a:r>
            <a:r>
              <a:rPr lang="en-US" baseline="0" dirty="0"/>
              <a:t> </a:t>
            </a:r>
            <a:r>
              <a:rPr lang="en-US" baseline="0" dirty="0" err="1"/>
              <a:t>trung</a:t>
            </a:r>
            <a:r>
              <a:rPr lang="vi-VN" dirty="0"/>
              <a:t> là bạn có thể triển khai các tính năng mà </a:t>
            </a:r>
            <a:r>
              <a:rPr lang="en-US" dirty="0" err="1"/>
              <a:t>chúng</a:t>
            </a:r>
            <a:r>
              <a:rPr lang="en-US" baseline="0" dirty="0"/>
              <a:t> </a:t>
            </a:r>
            <a:r>
              <a:rPr lang="en-US" baseline="0" dirty="0" err="1"/>
              <a:t>ko</a:t>
            </a:r>
            <a:r>
              <a:rPr lang="en-US" baseline="0" dirty="0"/>
              <a:t> </a:t>
            </a:r>
            <a:r>
              <a:rPr lang="en-US" baseline="0" dirty="0" err="1"/>
              <a:t>được</a:t>
            </a:r>
            <a:r>
              <a:rPr lang="en-US" baseline="0" dirty="0"/>
              <a:t> </a:t>
            </a:r>
            <a:r>
              <a:rPr lang="vi-VN" dirty="0"/>
              <a:t>sử dụng nhiều, ngay cả khi chúng được coi là một ý tưởng tốt vào thời điểm đó.</a:t>
            </a:r>
            <a:endParaRPr lang="en-US" dirty="0"/>
          </a:p>
        </p:txBody>
      </p:sp>
      <p:sp>
        <p:nvSpPr>
          <p:cNvPr id="4" name="Slide Number Placeholder 3"/>
          <p:cNvSpPr>
            <a:spLocks noGrp="1"/>
          </p:cNvSpPr>
          <p:nvPr>
            <p:ph type="sldNum" sz="quarter" idx="10"/>
          </p:nvPr>
        </p:nvSpPr>
        <p:spPr/>
        <p:txBody>
          <a:bodyPr/>
          <a:lstStyle/>
          <a:p>
            <a:fld id="{EDD28F83-BFBF-48E5-9812-FA471493D536}" type="slidenum">
              <a:rPr lang="en-US" smtClean="0"/>
              <a:t>22</a:t>
            </a:fld>
            <a:endParaRPr lang="en-US"/>
          </a:p>
        </p:txBody>
      </p:sp>
    </p:spTree>
    <p:extLst>
      <p:ext uri="{BB962C8B-B14F-4D97-AF65-F5344CB8AC3E}">
        <p14:creationId xmlns:p14="http://schemas.microsoft.com/office/powerpoint/2010/main" val="45112753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DD28F83-BFBF-48E5-9812-FA471493D536}" type="slidenum">
              <a:rPr lang="en-US" smtClean="0"/>
              <a:t>23</a:t>
            </a:fld>
            <a:endParaRPr lang="en-US"/>
          </a:p>
        </p:txBody>
      </p:sp>
    </p:spTree>
    <p:extLst>
      <p:ext uri="{BB962C8B-B14F-4D97-AF65-F5344CB8AC3E}">
        <p14:creationId xmlns:p14="http://schemas.microsoft.com/office/powerpoint/2010/main" val="369257257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DD28F83-BFBF-48E5-9812-FA471493D536}" type="slidenum">
              <a:rPr lang="en-US" smtClean="0"/>
              <a:t>24</a:t>
            </a:fld>
            <a:endParaRPr lang="en-US"/>
          </a:p>
        </p:txBody>
      </p:sp>
    </p:spTree>
    <p:extLst>
      <p:ext uri="{BB962C8B-B14F-4D97-AF65-F5344CB8AC3E}">
        <p14:creationId xmlns:p14="http://schemas.microsoft.com/office/powerpoint/2010/main" val="1639850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marR="0" indent="-171450" algn="l" defTabSz="914400" rtl="0" eaLnBrk="1" fontAlgn="auto" latinLnBrk="0" hangingPunct="1">
              <a:lnSpc>
                <a:spcPct val="100000"/>
              </a:lnSpc>
              <a:spcBef>
                <a:spcPts val="0"/>
              </a:spcBef>
              <a:spcAft>
                <a:spcPts val="0"/>
              </a:spcAft>
              <a:buClrTx/>
              <a:buSzTx/>
              <a:buFontTx/>
              <a:buChar char="-"/>
              <a:tabLst/>
              <a:defRPr/>
            </a:pPr>
            <a:r>
              <a:rPr lang="en-US" sz="1200" dirty="0"/>
              <a:t>Defining the requirements baseline, a snapshot in time that represents an agreed-upon, reviewed, and approved set of functional and nonfunctional requirements, often for a specific product release or development iteration.:</a:t>
            </a:r>
            <a:r>
              <a:rPr lang="en-US" sz="1200" baseline="0" dirty="0"/>
              <a:t> </a:t>
            </a:r>
            <a:r>
              <a:rPr lang="vi-VN" sz="1200" baseline="0" dirty="0"/>
              <a:t>Xác định đường cơ sở yêu cầu, ảnh chụp nhanh theo thời gian thể hiện một tập hợp các yêu cầu chức năng và không chức năng đã được thống nhất, </a:t>
            </a:r>
            <a:r>
              <a:rPr lang="en-US" sz="1200" baseline="0" dirty="0" err="1"/>
              <a:t>xem</a:t>
            </a:r>
            <a:r>
              <a:rPr lang="en-US" sz="1200" baseline="0" dirty="0"/>
              <a:t> </a:t>
            </a:r>
            <a:r>
              <a:rPr lang="en-US" sz="1200" baseline="0" dirty="0" err="1"/>
              <a:t>xét</a:t>
            </a:r>
            <a:r>
              <a:rPr lang="en-US" sz="1200" baseline="0" dirty="0"/>
              <a:t> </a:t>
            </a:r>
            <a:r>
              <a:rPr lang="en-US" sz="1200" baseline="0" dirty="0" err="1"/>
              <a:t>và</a:t>
            </a:r>
            <a:r>
              <a:rPr lang="en-US" sz="1200" baseline="0" dirty="0"/>
              <a:t> </a:t>
            </a:r>
            <a:r>
              <a:rPr lang="en-US" sz="1200" baseline="0" dirty="0" err="1"/>
              <a:t>phe</a:t>
            </a:r>
            <a:r>
              <a:rPr lang="en-US" sz="1200" baseline="0" dirty="0"/>
              <a:t> </a:t>
            </a:r>
            <a:r>
              <a:rPr lang="en-US" sz="1200" baseline="0" dirty="0" err="1"/>
              <a:t>duyệt</a:t>
            </a:r>
            <a:r>
              <a:rPr lang="en-US" sz="1200" baseline="0" dirty="0"/>
              <a:t> </a:t>
            </a:r>
            <a:r>
              <a:rPr lang="en-US" sz="1200" baseline="0" dirty="0" err="1"/>
              <a:t>thu</a:t>
            </a:r>
            <a:r>
              <a:rPr lang="vi-VN" sz="1200" baseline="0" dirty="0"/>
              <a:t>ờng cho </a:t>
            </a:r>
            <a:r>
              <a:rPr lang="en-US" sz="1200" baseline="0" dirty="0" err="1"/>
              <a:t>triển</a:t>
            </a:r>
            <a:r>
              <a:rPr lang="en-US" sz="1200" baseline="0" dirty="0"/>
              <a:t> </a:t>
            </a:r>
            <a:r>
              <a:rPr lang="en-US" sz="1200" baseline="0" dirty="0" err="1"/>
              <a:t>khai</a:t>
            </a:r>
            <a:r>
              <a:rPr lang="en-US" sz="1200" baseline="0" dirty="0"/>
              <a:t> </a:t>
            </a:r>
            <a:r>
              <a:rPr lang="vi-VN" sz="1200" baseline="0" dirty="0"/>
              <a:t>sản phẩm cụ thể hoặc lặp lại phát triển.</a:t>
            </a:r>
            <a:endParaRPr lang="en-US" sz="1200" baseline="0" dirty="0"/>
          </a:p>
          <a:p>
            <a:pPr marL="171450" marR="0" indent="-171450" algn="l" defTabSz="914400" rtl="0" eaLnBrk="1" fontAlgn="auto" latinLnBrk="0" hangingPunct="1">
              <a:lnSpc>
                <a:spcPct val="100000"/>
              </a:lnSpc>
              <a:spcBef>
                <a:spcPts val="0"/>
              </a:spcBef>
              <a:spcAft>
                <a:spcPts val="0"/>
              </a:spcAft>
              <a:buClrTx/>
              <a:buSzTx/>
              <a:buFontTx/>
              <a:buChar char="-"/>
              <a:tabLst/>
              <a:defRPr/>
            </a:pPr>
            <a:r>
              <a:rPr lang="en-US" sz="1200" dirty="0"/>
              <a:t>Evaluating the impact of proposed requirements changes and incorporating approved changes into the project in a controlled way.:</a:t>
            </a:r>
            <a:r>
              <a:rPr lang="en-US" sz="1200" baseline="0" dirty="0"/>
              <a:t> </a:t>
            </a:r>
            <a:r>
              <a:rPr lang="vi-VN" sz="1200" baseline="0" dirty="0"/>
              <a:t>Đánh giá tác động của </a:t>
            </a:r>
            <a:r>
              <a:rPr lang="en-US" sz="1200" baseline="0" dirty="0" err="1"/>
              <a:t>những</a:t>
            </a:r>
            <a:r>
              <a:rPr lang="vi-VN" sz="1200" baseline="0" dirty="0"/>
              <a:t> thay đổi yêu cầu </a:t>
            </a:r>
            <a:r>
              <a:rPr lang="en-US" sz="1200" baseline="0" dirty="0" err="1"/>
              <a:t>được</a:t>
            </a:r>
            <a:r>
              <a:rPr lang="en-US" sz="1200" baseline="0" dirty="0"/>
              <a:t> </a:t>
            </a:r>
            <a:r>
              <a:rPr lang="en-US" sz="1200" baseline="0" dirty="0" err="1"/>
              <a:t>đề</a:t>
            </a:r>
            <a:r>
              <a:rPr lang="en-US" sz="1200" baseline="0" dirty="0"/>
              <a:t> </a:t>
            </a:r>
            <a:r>
              <a:rPr lang="en-US" sz="1200" baseline="0" dirty="0" err="1"/>
              <a:t>nghị</a:t>
            </a:r>
            <a:r>
              <a:rPr lang="en-US" sz="1200" baseline="0" dirty="0"/>
              <a:t> </a:t>
            </a:r>
            <a:r>
              <a:rPr lang="vi-VN" sz="1200" baseline="0" dirty="0"/>
              <a:t>và kết hợp </a:t>
            </a:r>
            <a:r>
              <a:rPr lang="en-US" sz="1200" baseline="0" dirty="0" err="1"/>
              <a:t>những</a:t>
            </a:r>
            <a:r>
              <a:rPr lang="vi-VN" sz="1200" baseline="0" dirty="0"/>
              <a:t> thay đổi được phê duyệt vào dự án một cách có kiểm soát.</a:t>
            </a:r>
            <a:endParaRPr lang="en-US" sz="1200" dirty="0"/>
          </a:p>
        </p:txBody>
      </p:sp>
      <p:sp>
        <p:nvSpPr>
          <p:cNvPr id="4" name="Slide Number Placeholder 3"/>
          <p:cNvSpPr>
            <a:spLocks noGrp="1"/>
          </p:cNvSpPr>
          <p:nvPr>
            <p:ph type="sldNum" sz="quarter" idx="10"/>
          </p:nvPr>
        </p:nvSpPr>
        <p:spPr/>
        <p:txBody>
          <a:bodyPr/>
          <a:lstStyle/>
          <a:p>
            <a:fld id="{EDD28F83-BFBF-48E5-9812-FA471493D536}" type="slidenum">
              <a:rPr lang="en-US" smtClean="0"/>
              <a:t>25</a:t>
            </a:fld>
            <a:endParaRPr lang="en-US"/>
          </a:p>
        </p:txBody>
      </p:sp>
    </p:spTree>
    <p:extLst>
      <p:ext uri="{BB962C8B-B14F-4D97-AF65-F5344CB8AC3E}">
        <p14:creationId xmlns:p14="http://schemas.microsoft.com/office/powerpoint/2010/main" val="245560519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marR="0" indent="-171450" algn="l" defTabSz="914400" rtl="0" eaLnBrk="1" fontAlgn="auto" latinLnBrk="0" hangingPunct="1">
              <a:lnSpc>
                <a:spcPct val="100000"/>
              </a:lnSpc>
              <a:spcBef>
                <a:spcPts val="0"/>
              </a:spcBef>
              <a:spcAft>
                <a:spcPts val="0"/>
              </a:spcAft>
              <a:buClrTx/>
              <a:buSzTx/>
              <a:buFontTx/>
              <a:buChar char="-"/>
              <a:tabLst/>
              <a:defRPr/>
            </a:pPr>
            <a:endParaRPr lang="en-US" sz="1200" dirty="0"/>
          </a:p>
        </p:txBody>
      </p:sp>
      <p:sp>
        <p:nvSpPr>
          <p:cNvPr id="4" name="Slide Number Placeholder 3"/>
          <p:cNvSpPr>
            <a:spLocks noGrp="1"/>
          </p:cNvSpPr>
          <p:nvPr>
            <p:ph type="sldNum" sz="quarter" idx="10"/>
          </p:nvPr>
        </p:nvSpPr>
        <p:spPr/>
        <p:txBody>
          <a:bodyPr/>
          <a:lstStyle/>
          <a:p>
            <a:fld id="{EDD28F83-BFBF-48E5-9812-FA471493D536}" type="slidenum">
              <a:rPr lang="en-US" smtClean="0"/>
              <a:t>26</a:t>
            </a:fld>
            <a:endParaRPr lang="en-US"/>
          </a:p>
        </p:txBody>
      </p:sp>
    </p:spTree>
    <p:extLst>
      <p:ext uri="{BB962C8B-B14F-4D97-AF65-F5344CB8AC3E}">
        <p14:creationId xmlns:p14="http://schemas.microsoft.com/office/powerpoint/2010/main" val="291865081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r>
              <a:rPr lang="en-US" dirty="0"/>
              <a:t>Cripple (v): </a:t>
            </a:r>
            <a:r>
              <a:rPr lang="en-US" dirty="0" err="1"/>
              <a:t>phá</a:t>
            </a:r>
            <a:r>
              <a:rPr lang="en-US" baseline="0" dirty="0"/>
              <a:t> </a:t>
            </a:r>
            <a:r>
              <a:rPr lang="en-US" baseline="0" dirty="0" err="1"/>
              <a:t>hỏng</a:t>
            </a:r>
            <a:r>
              <a:rPr lang="en-US" baseline="0" dirty="0"/>
              <a:t> / </a:t>
            </a:r>
            <a:r>
              <a:rPr lang="en-US" baseline="0" dirty="0" err="1"/>
              <a:t>làm</a:t>
            </a:r>
            <a:r>
              <a:rPr lang="en-US" baseline="0" dirty="0"/>
              <a:t> </a:t>
            </a:r>
            <a:r>
              <a:rPr lang="en-US" baseline="0" dirty="0" err="1"/>
              <a:t>tê</a:t>
            </a:r>
            <a:r>
              <a:rPr lang="en-US" baseline="0" dirty="0"/>
              <a:t> </a:t>
            </a:r>
            <a:r>
              <a:rPr lang="en-US" baseline="0" dirty="0" err="1"/>
              <a:t>liệt</a:t>
            </a:r>
            <a:r>
              <a:rPr lang="en-US" baseline="0" dirty="0"/>
              <a:t>, </a:t>
            </a:r>
            <a:r>
              <a:rPr lang="en-US" baseline="0" dirty="0" err="1"/>
              <a:t>làm</a:t>
            </a:r>
            <a:r>
              <a:rPr lang="en-US" baseline="0" dirty="0"/>
              <a:t> </a:t>
            </a:r>
            <a:r>
              <a:rPr lang="en-US" baseline="0" dirty="0" err="1"/>
              <a:t>què</a:t>
            </a:r>
            <a:r>
              <a:rPr lang="en-US" baseline="0" dirty="0"/>
              <a:t> / </a:t>
            </a:r>
            <a:r>
              <a:rPr lang="en-US" baseline="0" dirty="0" err="1"/>
              <a:t>đi</a:t>
            </a:r>
            <a:r>
              <a:rPr lang="en-US" baseline="0" dirty="0"/>
              <a:t> </a:t>
            </a:r>
            <a:r>
              <a:rPr lang="en-US" baseline="0" dirty="0" err="1"/>
              <a:t>khập</a:t>
            </a:r>
            <a:r>
              <a:rPr lang="en-US" baseline="0" dirty="0"/>
              <a:t> </a:t>
            </a:r>
            <a:r>
              <a:rPr lang="en-US" baseline="0" dirty="0" err="1"/>
              <a:t>khiểng</a:t>
            </a:r>
            <a:endParaRPr lang="en-US" baseline="0" dirty="0"/>
          </a:p>
          <a:p>
            <a:pPr marL="171450" indent="-171450">
              <a:buFontTx/>
              <a:buChar char="-"/>
            </a:pPr>
            <a:r>
              <a:rPr lang="en-US" dirty="0"/>
              <a:t>No other part of the work so cripples the resulting system if done wrong: </a:t>
            </a:r>
            <a:r>
              <a:rPr lang="en-US" dirty="0" err="1"/>
              <a:t>Không</a:t>
            </a:r>
            <a:r>
              <a:rPr lang="en-US" dirty="0"/>
              <a:t> </a:t>
            </a:r>
            <a:r>
              <a:rPr lang="en-US" dirty="0" err="1"/>
              <a:t>có</a:t>
            </a:r>
            <a:r>
              <a:rPr lang="en-US" dirty="0"/>
              <a:t> </a:t>
            </a:r>
            <a:r>
              <a:rPr lang="en-US" dirty="0" err="1"/>
              <a:t>phần</a:t>
            </a:r>
            <a:r>
              <a:rPr lang="en-US" dirty="0"/>
              <a:t> </a:t>
            </a:r>
            <a:r>
              <a:rPr lang="en-US" dirty="0" err="1"/>
              <a:t>nào</a:t>
            </a:r>
            <a:r>
              <a:rPr lang="en-US" dirty="0"/>
              <a:t> </a:t>
            </a:r>
            <a:r>
              <a:rPr lang="en-US" dirty="0" err="1"/>
              <a:t>khác</a:t>
            </a:r>
            <a:r>
              <a:rPr lang="en-US" dirty="0"/>
              <a:t> </a:t>
            </a:r>
            <a:r>
              <a:rPr lang="en-US" dirty="0" err="1"/>
              <a:t>của</a:t>
            </a:r>
            <a:r>
              <a:rPr lang="en-US" dirty="0"/>
              <a:t> </a:t>
            </a:r>
            <a:r>
              <a:rPr lang="en-US" dirty="0" err="1"/>
              <a:t>công</a:t>
            </a:r>
            <a:r>
              <a:rPr lang="en-US" dirty="0"/>
              <a:t> </a:t>
            </a:r>
            <a:r>
              <a:rPr lang="en-US" dirty="0" err="1"/>
              <a:t>việc</a:t>
            </a:r>
            <a:r>
              <a:rPr lang="en-US" dirty="0"/>
              <a:t> </a:t>
            </a:r>
            <a:r>
              <a:rPr lang="en-US" dirty="0" err="1"/>
              <a:t>làm</a:t>
            </a:r>
            <a:r>
              <a:rPr lang="en-US" dirty="0"/>
              <a:t> </a:t>
            </a:r>
            <a:r>
              <a:rPr lang="en-US" dirty="0" err="1"/>
              <a:t>hỏng</a:t>
            </a:r>
            <a:r>
              <a:rPr lang="en-US" baseline="0" dirty="0"/>
              <a:t> </a:t>
            </a:r>
            <a:r>
              <a:rPr lang="en-US" dirty="0" err="1"/>
              <a:t>hệ</a:t>
            </a:r>
            <a:r>
              <a:rPr lang="en-US" dirty="0"/>
              <a:t> </a:t>
            </a:r>
            <a:r>
              <a:rPr lang="en-US" dirty="0" err="1"/>
              <a:t>thống</a:t>
            </a:r>
            <a:r>
              <a:rPr lang="en-US" dirty="0"/>
              <a:t> </a:t>
            </a:r>
            <a:r>
              <a:rPr lang="en-US" dirty="0" err="1"/>
              <a:t>kết</a:t>
            </a:r>
            <a:r>
              <a:rPr lang="en-US" dirty="0"/>
              <a:t> </a:t>
            </a:r>
            <a:r>
              <a:rPr lang="en-US" dirty="0" err="1"/>
              <a:t>quả</a:t>
            </a:r>
            <a:r>
              <a:rPr lang="en-US" dirty="0"/>
              <a:t> </a:t>
            </a:r>
            <a:r>
              <a:rPr lang="en-US" dirty="0" err="1"/>
              <a:t>nếu</a:t>
            </a:r>
            <a:r>
              <a:rPr lang="en-US" dirty="0"/>
              <a:t> </a:t>
            </a:r>
            <a:r>
              <a:rPr lang="en-US" dirty="0" err="1"/>
              <a:t>chạy</a:t>
            </a:r>
            <a:r>
              <a:rPr lang="en-US" dirty="0"/>
              <a:t> </a:t>
            </a:r>
            <a:r>
              <a:rPr lang="en-US" dirty="0" err="1"/>
              <a:t>sai</a:t>
            </a:r>
            <a:r>
              <a:rPr lang="en-US" dirty="0"/>
              <a:t>.</a:t>
            </a:r>
          </a:p>
          <a:p>
            <a:pPr marL="171450" indent="-171450">
              <a:buFontTx/>
              <a:buChar char="-"/>
            </a:pPr>
            <a:r>
              <a:rPr lang="en-US" dirty="0"/>
              <a:t>No other part of conceptual work is as difficult as establishing the detailed technical requirements, including all the interfaces to people, to machines, and to other SW systems: No other part of conceptual work is as difficult as establishing the detailed technical requirements, including all the interfaces to people, to machines, and to other software systems.</a:t>
            </a:r>
          </a:p>
        </p:txBody>
      </p:sp>
      <p:sp>
        <p:nvSpPr>
          <p:cNvPr id="4" name="Slide Number Placeholder 3"/>
          <p:cNvSpPr>
            <a:spLocks noGrp="1"/>
          </p:cNvSpPr>
          <p:nvPr>
            <p:ph type="sldNum" sz="quarter" idx="10"/>
          </p:nvPr>
        </p:nvSpPr>
        <p:spPr/>
        <p:txBody>
          <a:bodyPr/>
          <a:lstStyle/>
          <a:p>
            <a:fld id="{EDD28F83-BFBF-48E5-9812-FA471493D536}" type="slidenum">
              <a:rPr lang="en-US" smtClean="0"/>
              <a:t>27</a:t>
            </a:fld>
            <a:endParaRPr lang="en-US"/>
          </a:p>
        </p:txBody>
      </p:sp>
    </p:spTree>
    <p:extLst>
      <p:ext uri="{BB962C8B-B14F-4D97-AF65-F5344CB8AC3E}">
        <p14:creationId xmlns:p14="http://schemas.microsoft.com/office/powerpoint/2010/main" val="37971633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r>
              <a:rPr lang="en-US" sz="1200" dirty="0"/>
              <a:t>Vague, poorly understood requirements lead to overly optimistic estimates, which come back to haunt you when the inevitable overruns occur.: </a:t>
            </a:r>
            <a:r>
              <a:rPr lang="vi-VN" sz="1200" dirty="0"/>
              <a:t>Những yêu cầu mơ hồ, kém hiểu biết dẫn đến những ước tính quá lạc quan, nó quay trở lại ám ảnh bạn khi những sự vượt quá không thể tránh khỏi xảy ra.</a:t>
            </a:r>
            <a:endParaRPr lang="en-US" sz="1200" dirty="0"/>
          </a:p>
          <a:p>
            <a:pPr marL="171450" indent="-171450">
              <a:buFontTx/>
              <a:buChar char="-"/>
            </a:pPr>
            <a:r>
              <a:rPr lang="en-US" sz="1200" dirty="0"/>
              <a:t>The top contributors to poor software cost estimation are frequent changes, missing requirements, insufficient communication with users, poor specification of requirements and insufficient requirements analysis : </a:t>
            </a:r>
            <a:r>
              <a:rPr lang="vi-VN" sz="1200" dirty="0"/>
              <a:t>Những đóng góp hàng đầu cho việc ước tính chi phí phần mềm kém là những thay đổi thường xuyên, thiếu yêu cầu, giao tiếp không đủ với người dùng, đặc tả kỹ thuật của yêu cầu kém và phân tích yêu cầu không đủ.</a:t>
            </a:r>
            <a:endParaRPr lang="en-US" sz="1200" dirty="0"/>
          </a:p>
          <a:p>
            <a:pPr marL="171450" indent="-171450">
              <a:buFontTx/>
              <a:buChar char="-"/>
            </a:pPr>
            <a:endParaRPr lang="en-US" dirty="0"/>
          </a:p>
        </p:txBody>
      </p:sp>
      <p:sp>
        <p:nvSpPr>
          <p:cNvPr id="4" name="Slide Number Placeholder 3"/>
          <p:cNvSpPr>
            <a:spLocks noGrp="1"/>
          </p:cNvSpPr>
          <p:nvPr>
            <p:ph type="sldNum" sz="quarter" idx="10"/>
          </p:nvPr>
        </p:nvSpPr>
        <p:spPr/>
        <p:txBody>
          <a:bodyPr/>
          <a:lstStyle/>
          <a:p>
            <a:fld id="{EDD28F83-BFBF-48E5-9812-FA471493D536}" type="slidenum">
              <a:rPr lang="en-US" smtClean="0"/>
              <a:t>29</a:t>
            </a:fld>
            <a:endParaRPr lang="en-US"/>
          </a:p>
        </p:txBody>
      </p:sp>
    </p:spTree>
    <p:extLst>
      <p:ext uri="{BB962C8B-B14F-4D97-AF65-F5344CB8AC3E}">
        <p14:creationId xmlns:p14="http://schemas.microsoft.com/office/powerpoint/2010/main" val="343283734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r>
              <a:rPr lang="en-US" dirty="0"/>
              <a:t>Creeping (</a:t>
            </a:r>
            <a:r>
              <a:rPr lang="en-US" dirty="0" err="1"/>
              <a:t>adj</a:t>
            </a:r>
            <a:r>
              <a:rPr lang="en-US" dirty="0"/>
              <a:t>): </a:t>
            </a:r>
            <a:r>
              <a:rPr lang="en-US" dirty="0" err="1"/>
              <a:t>Từ</a:t>
            </a:r>
            <a:r>
              <a:rPr lang="en-US" baseline="0" dirty="0"/>
              <a:t> </a:t>
            </a:r>
            <a:r>
              <a:rPr lang="en-US" baseline="0" dirty="0" err="1"/>
              <a:t>từ</a:t>
            </a:r>
            <a:r>
              <a:rPr lang="en-US" baseline="0" dirty="0"/>
              <a:t>, </a:t>
            </a:r>
            <a:r>
              <a:rPr lang="en-US" baseline="0" dirty="0" err="1"/>
              <a:t>dần</a:t>
            </a:r>
            <a:r>
              <a:rPr lang="en-US" baseline="0" dirty="0"/>
              <a:t> </a:t>
            </a:r>
            <a:r>
              <a:rPr lang="en-US" baseline="0" dirty="0" err="1"/>
              <a:t>dần</a:t>
            </a:r>
            <a:r>
              <a:rPr lang="en-US" baseline="0" dirty="0"/>
              <a:t>, </a:t>
            </a:r>
            <a:r>
              <a:rPr lang="en-US" baseline="0" dirty="0" err="1"/>
              <a:t>giãn</a:t>
            </a:r>
            <a:r>
              <a:rPr lang="en-US" baseline="0" dirty="0"/>
              <a:t> </a:t>
            </a:r>
            <a:r>
              <a:rPr lang="en-US" baseline="0" dirty="0" err="1"/>
              <a:t>ra</a:t>
            </a:r>
            <a:endParaRPr lang="en-US" baseline="0" dirty="0"/>
          </a:p>
          <a:p>
            <a:pPr marL="171450" indent="-171450">
              <a:buFontTx/>
              <a:buChar char="-"/>
            </a:pPr>
            <a:r>
              <a:rPr lang="en-US" baseline="0" dirty="0"/>
              <a:t>Creep (v): </a:t>
            </a:r>
            <a:r>
              <a:rPr lang="en-US" baseline="0" dirty="0" err="1"/>
              <a:t>bò</a:t>
            </a:r>
            <a:r>
              <a:rPr lang="en-US" baseline="0" dirty="0"/>
              <a:t>, </a:t>
            </a:r>
            <a:r>
              <a:rPr lang="en-US" baseline="0" dirty="0" err="1"/>
              <a:t>trườn</a:t>
            </a:r>
            <a:endParaRPr lang="en-US" baseline="0" dirty="0"/>
          </a:p>
          <a:p>
            <a:pPr marL="171450" indent="-171450">
              <a:buFontTx/>
              <a:buChar char="-"/>
            </a:pPr>
            <a:r>
              <a:rPr lang="en-US" sz="1200" dirty="0"/>
              <a:t>derail (v): </a:t>
            </a:r>
            <a:r>
              <a:rPr lang="en-US" sz="1200" dirty="0" err="1"/>
              <a:t>phá</a:t>
            </a:r>
            <a:r>
              <a:rPr lang="en-US" sz="1200" baseline="0" dirty="0"/>
              <a:t> </a:t>
            </a:r>
            <a:r>
              <a:rPr lang="en-US" sz="1200" baseline="0" dirty="0" err="1"/>
              <a:t>hỏng</a:t>
            </a:r>
            <a:r>
              <a:rPr lang="en-US" sz="1200" baseline="0" dirty="0"/>
              <a:t>/</a:t>
            </a:r>
            <a:r>
              <a:rPr lang="en-US" sz="1200" baseline="0" dirty="0" err="1"/>
              <a:t>làm</a:t>
            </a:r>
            <a:r>
              <a:rPr lang="en-US" sz="1200" baseline="0" dirty="0"/>
              <a:t> </a:t>
            </a:r>
            <a:r>
              <a:rPr lang="en-US" sz="1200" baseline="0" dirty="0" err="1"/>
              <a:t>trật</a:t>
            </a:r>
            <a:r>
              <a:rPr lang="en-US" sz="1200" baseline="0" dirty="0"/>
              <a:t> </a:t>
            </a:r>
            <a:r>
              <a:rPr lang="en-US" sz="1200" baseline="0" dirty="0" err="1"/>
              <a:t>đường</a:t>
            </a:r>
            <a:r>
              <a:rPr lang="en-US" sz="1200" baseline="0" dirty="0"/>
              <a:t> ray</a:t>
            </a:r>
          </a:p>
          <a:p>
            <a:pPr marL="171450" indent="-171450">
              <a:buFontTx/>
              <a:buChar char="-"/>
            </a:pPr>
            <a:endParaRPr lang="en-US" dirty="0"/>
          </a:p>
        </p:txBody>
      </p:sp>
      <p:sp>
        <p:nvSpPr>
          <p:cNvPr id="4" name="Slide Number Placeholder 3"/>
          <p:cNvSpPr>
            <a:spLocks noGrp="1"/>
          </p:cNvSpPr>
          <p:nvPr>
            <p:ph type="sldNum" sz="quarter" idx="10"/>
          </p:nvPr>
        </p:nvSpPr>
        <p:spPr/>
        <p:txBody>
          <a:bodyPr/>
          <a:lstStyle/>
          <a:p>
            <a:fld id="{EDD28F83-BFBF-48E5-9812-FA471493D536}" type="slidenum">
              <a:rPr lang="en-US" smtClean="0"/>
              <a:t>30</a:t>
            </a:fld>
            <a:endParaRPr lang="en-US"/>
          </a:p>
        </p:txBody>
      </p:sp>
    </p:spTree>
    <p:extLst>
      <p:ext uri="{BB962C8B-B14F-4D97-AF65-F5344CB8AC3E}">
        <p14:creationId xmlns:p14="http://schemas.microsoft.com/office/powerpoint/2010/main" val="64634826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r>
              <a:rPr lang="en-US" dirty="0"/>
              <a:t>Ferret</a:t>
            </a:r>
            <a:r>
              <a:rPr lang="en-US" baseline="0" dirty="0"/>
              <a:t> o</a:t>
            </a:r>
            <a:r>
              <a:rPr lang="en-US" dirty="0"/>
              <a:t>ut (v): </a:t>
            </a:r>
            <a:r>
              <a:rPr lang="en-US" dirty="0" err="1"/>
              <a:t>khám</a:t>
            </a:r>
            <a:r>
              <a:rPr lang="en-US" baseline="0" dirty="0"/>
              <a:t> </a:t>
            </a:r>
            <a:r>
              <a:rPr lang="en-US" baseline="0" dirty="0" err="1"/>
              <a:t>phá</a:t>
            </a:r>
            <a:endParaRPr lang="en-US" dirty="0"/>
          </a:p>
        </p:txBody>
      </p:sp>
      <p:sp>
        <p:nvSpPr>
          <p:cNvPr id="4" name="Slide Number Placeholder 3"/>
          <p:cNvSpPr>
            <a:spLocks noGrp="1"/>
          </p:cNvSpPr>
          <p:nvPr>
            <p:ph type="sldNum" sz="quarter" idx="10"/>
          </p:nvPr>
        </p:nvSpPr>
        <p:spPr/>
        <p:txBody>
          <a:bodyPr/>
          <a:lstStyle/>
          <a:p>
            <a:fld id="{EDD28F83-BFBF-48E5-9812-FA471493D536}" type="slidenum">
              <a:rPr lang="en-US" smtClean="0"/>
              <a:t>31</a:t>
            </a:fld>
            <a:endParaRPr lang="en-US"/>
          </a:p>
        </p:txBody>
      </p:sp>
    </p:spTree>
    <p:extLst>
      <p:ext uri="{BB962C8B-B14F-4D97-AF65-F5344CB8AC3E}">
        <p14:creationId xmlns:p14="http://schemas.microsoft.com/office/powerpoint/2010/main" val="230749290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r>
              <a:rPr lang="en-US" dirty="0"/>
              <a:t>Gold plating: </a:t>
            </a:r>
            <a:r>
              <a:rPr lang="en-US" dirty="0" err="1"/>
              <a:t>mạ</a:t>
            </a:r>
            <a:r>
              <a:rPr lang="en-US" baseline="0" dirty="0"/>
              <a:t> </a:t>
            </a:r>
            <a:r>
              <a:rPr lang="en-US" baseline="0" dirty="0" err="1"/>
              <a:t>vàng</a:t>
            </a:r>
            <a:endParaRPr lang="en-US" baseline="0" dirty="0"/>
          </a:p>
          <a:p>
            <a:pPr marL="171450" indent="-171450">
              <a:buFontTx/>
              <a:buChar char="-"/>
            </a:pPr>
            <a:r>
              <a:rPr lang="en-US" baseline="0" dirty="0"/>
              <a:t>Take place when: </a:t>
            </a:r>
            <a:r>
              <a:rPr lang="en-US" baseline="0" dirty="0" err="1"/>
              <a:t>xảy</a:t>
            </a:r>
            <a:r>
              <a:rPr lang="en-US" baseline="0" dirty="0"/>
              <a:t> </a:t>
            </a:r>
            <a:r>
              <a:rPr lang="en-US" baseline="0" dirty="0" err="1"/>
              <a:t>ra</a:t>
            </a:r>
            <a:r>
              <a:rPr lang="en-US" baseline="0" dirty="0"/>
              <a:t> </a:t>
            </a:r>
            <a:r>
              <a:rPr lang="en-US" baseline="0" dirty="0" err="1"/>
              <a:t>khi</a:t>
            </a:r>
            <a:endParaRPr lang="en-US" baseline="0" dirty="0"/>
          </a:p>
          <a:p>
            <a:pPr marL="171450" marR="0" indent="-171450" algn="l" defTabSz="914400" rtl="0" eaLnBrk="1" fontAlgn="auto" latinLnBrk="0" hangingPunct="1">
              <a:lnSpc>
                <a:spcPct val="100000"/>
              </a:lnSpc>
              <a:spcBef>
                <a:spcPts val="0"/>
              </a:spcBef>
              <a:spcAft>
                <a:spcPts val="0"/>
              </a:spcAft>
              <a:buClrTx/>
              <a:buSzTx/>
              <a:buFontTx/>
              <a:buChar char="-"/>
              <a:tabLst/>
              <a:defRPr/>
            </a:pPr>
            <a:r>
              <a:rPr lang="en-US" sz="1200" dirty="0"/>
              <a:t>Overlooked stakeholders:</a:t>
            </a:r>
            <a:r>
              <a:rPr lang="en-US" sz="1200" baseline="0" dirty="0"/>
              <a:t> </a:t>
            </a:r>
            <a:r>
              <a:rPr lang="en-US" sz="1200" baseline="0" dirty="0" err="1"/>
              <a:t>Các</a:t>
            </a:r>
            <a:r>
              <a:rPr lang="en-US" sz="1200" baseline="0" dirty="0"/>
              <a:t> </a:t>
            </a:r>
            <a:r>
              <a:rPr lang="en-US" sz="1200" baseline="0" dirty="0" err="1"/>
              <a:t>bên</a:t>
            </a:r>
            <a:r>
              <a:rPr lang="en-US" sz="1200" baseline="0" dirty="0"/>
              <a:t> </a:t>
            </a:r>
            <a:r>
              <a:rPr lang="en-US" sz="1200" baseline="0" dirty="0" err="1"/>
              <a:t>liên</a:t>
            </a:r>
            <a:r>
              <a:rPr lang="en-US" sz="1200" baseline="0" dirty="0"/>
              <a:t> </a:t>
            </a:r>
            <a:r>
              <a:rPr lang="en-US" sz="1200" baseline="0" dirty="0" err="1"/>
              <a:t>quan</a:t>
            </a:r>
            <a:r>
              <a:rPr lang="en-US" sz="1200" baseline="0" dirty="0"/>
              <a:t> </a:t>
            </a:r>
            <a:r>
              <a:rPr lang="en-US" sz="1200" baseline="0" dirty="0" err="1"/>
              <a:t>bị</a:t>
            </a:r>
            <a:r>
              <a:rPr lang="en-US" sz="1200" baseline="0" dirty="0"/>
              <a:t> </a:t>
            </a:r>
            <a:r>
              <a:rPr lang="en-US" sz="1200" baseline="0" dirty="0" err="1"/>
              <a:t>bỏ</a:t>
            </a:r>
            <a:r>
              <a:rPr lang="en-US" sz="1200" baseline="0" dirty="0"/>
              <a:t> qua</a:t>
            </a:r>
          </a:p>
          <a:p>
            <a:pPr marL="171450" marR="0" indent="-171450" algn="l" defTabSz="914400" rtl="0" eaLnBrk="1" fontAlgn="auto" latinLnBrk="0" hangingPunct="1">
              <a:lnSpc>
                <a:spcPct val="100000"/>
              </a:lnSpc>
              <a:spcBef>
                <a:spcPts val="0"/>
              </a:spcBef>
              <a:spcAft>
                <a:spcPts val="0"/>
              </a:spcAft>
              <a:buClrTx/>
              <a:buSzTx/>
              <a:buFontTx/>
              <a:buChar char="-"/>
              <a:tabLst/>
              <a:defRPr/>
            </a:pPr>
            <a:endParaRPr lang="en-US" sz="1600" dirty="0"/>
          </a:p>
        </p:txBody>
      </p:sp>
      <p:sp>
        <p:nvSpPr>
          <p:cNvPr id="4" name="Slide Number Placeholder 3"/>
          <p:cNvSpPr>
            <a:spLocks noGrp="1"/>
          </p:cNvSpPr>
          <p:nvPr>
            <p:ph type="sldNum" sz="quarter" idx="10"/>
          </p:nvPr>
        </p:nvSpPr>
        <p:spPr/>
        <p:txBody>
          <a:bodyPr/>
          <a:lstStyle/>
          <a:p>
            <a:fld id="{EDD28F83-BFBF-48E5-9812-FA471493D536}" type="slidenum">
              <a:rPr lang="en-US" smtClean="0"/>
              <a:t>32</a:t>
            </a:fld>
            <a:endParaRPr lang="en-US"/>
          </a:p>
        </p:txBody>
      </p:sp>
    </p:spTree>
    <p:extLst>
      <p:ext uri="{BB962C8B-B14F-4D97-AF65-F5344CB8AC3E}">
        <p14:creationId xmlns:p14="http://schemas.microsoft.com/office/powerpoint/2010/main" val="339051993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r>
              <a:rPr lang="en-US" dirty="0"/>
              <a:t>Sound requirements processes emphasize a collaborative approach to product development that involves stakeholders in a partnership throughout the project.: </a:t>
            </a:r>
            <a:r>
              <a:rPr lang="en-US" dirty="0" err="1"/>
              <a:t>Các</a:t>
            </a:r>
            <a:r>
              <a:rPr lang="en-US" dirty="0"/>
              <a:t> </a:t>
            </a:r>
            <a:r>
              <a:rPr lang="en-US" dirty="0" err="1"/>
              <a:t>quy</a:t>
            </a:r>
            <a:r>
              <a:rPr lang="en-US" dirty="0"/>
              <a:t> </a:t>
            </a:r>
            <a:r>
              <a:rPr lang="en-US" dirty="0" err="1"/>
              <a:t>trình</a:t>
            </a:r>
            <a:r>
              <a:rPr lang="en-US" dirty="0"/>
              <a:t> </a:t>
            </a:r>
            <a:r>
              <a:rPr lang="en-US" dirty="0" err="1"/>
              <a:t>yêu</a:t>
            </a:r>
            <a:r>
              <a:rPr lang="en-US" dirty="0"/>
              <a:t> </a:t>
            </a:r>
            <a:r>
              <a:rPr lang="en-US" dirty="0" err="1"/>
              <a:t>cầu</a:t>
            </a:r>
            <a:r>
              <a:rPr lang="en-US" dirty="0"/>
              <a:t> </a:t>
            </a:r>
            <a:r>
              <a:rPr lang="en-US" dirty="0" err="1"/>
              <a:t>hợp</a:t>
            </a:r>
            <a:r>
              <a:rPr lang="en-US" dirty="0"/>
              <a:t> lý </a:t>
            </a:r>
            <a:r>
              <a:rPr lang="en-US" dirty="0" err="1"/>
              <a:t>nhấn</a:t>
            </a:r>
            <a:r>
              <a:rPr lang="en-US" dirty="0"/>
              <a:t> </a:t>
            </a:r>
            <a:r>
              <a:rPr lang="en-US" dirty="0" err="1"/>
              <a:t>mạnh</a:t>
            </a:r>
            <a:r>
              <a:rPr lang="en-US" dirty="0"/>
              <a:t> </a:t>
            </a:r>
            <a:r>
              <a:rPr lang="en-US" dirty="0" err="1"/>
              <a:t>cách</a:t>
            </a:r>
            <a:r>
              <a:rPr lang="en-US" dirty="0"/>
              <a:t> </a:t>
            </a:r>
            <a:r>
              <a:rPr lang="en-US" dirty="0" err="1"/>
              <a:t>tiếp</a:t>
            </a:r>
            <a:r>
              <a:rPr lang="en-US" dirty="0"/>
              <a:t> </a:t>
            </a:r>
            <a:r>
              <a:rPr lang="en-US" dirty="0" err="1"/>
              <a:t>cận</a:t>
            </a:r>
            <a:r>
              <a:rPr lang="en-US" dirty="0"/>
              <a:t> </a:t>
            </a:r>
            <a:r>
              <a:rPr lang="en-US" dirty="0" err="1"/>
              <a:t>hợp</a:t>
            </a:r>
            <a:r>
              <a:rPr lang="en-US" dirty="0"/>
              <a:t> </a:t>
            </a:r>
            <a:r>
              <a:rPr lang="en-US" dirty="0" err="1"/>
              <a:t>tác</a:t>
            </a:r>
            <a:r>
              <a:rPr lang="en-US" dirty="0"/>
              <a:t> </a:t>
            </a:r>
            <a:r>
              <a:rPr lang="en-US" dirty="0" err="1"/>
              <a:t>để</a:t>
            </a:r>
            <a:r>
              <a:rPr lang="en-US" dirty="0"/>
              <a:t> </a:t>
            </a:r>
            <a:r>
              <a:rPr lang="en-US" dirty="0" err="1"/>
              <a:t>phát</a:t>
            </a:r>
            <a:r>
              <a:rPr lang="en-US" dirty="0"/>
              <a:t> </a:t>
            </a:r>
            <a:r>
              <a:rPr lang="en-US" dirty="0" err="1"/>
              <a:t>triển</a:t>
            </a:r>
            <a:r>
              <a:rPr lang="en-US" dirty="0"/>
              <a:t> </a:t>
            </a:r>
            <a:r>
              <a:rPr lang="en-US" dirty="0" err="1"/>
              <a:t>sản</a:t>
            </a:r>
            <a:r>
              <a:rPr lang="en-US" dirty="0"/>
              <a:t> </a:t>
            </a:r>
            <a:r>
              <a:rPr lang="en-US" dirty="0" err="1"/>
              <a:t>phẩm</a:t>
            </a:r>
            <a:r>
              <a:rPr lang="en-US" dirty="0"/>
              <a:t> </a:t>
            </a:r>
            <a:r>
              <a:rPr lang="en-US" dirty="0" err="1"/>
              <a:t>có</a:t>
            </a:r>
            <a:r>
              <a:rPr lang="en-US" dirty="0"/>
              <a:t> </a:t>
            </a:r>
            <a:r>
              <a:rPr lang="en-US" dirty="0" err="1"/>
              <a:t>sự</a:t>
            </a:r>
            <a:r>
              <a:rPr lang="en-US" dirty="0"/>
              <a:t> </a:t>
            </a:r>
            <a:r>
              <a:rPr lang="en-US" dirty="0" err="1"/>
              <a:t>tham</a:t>
            </a:r>
            <a:r>
              <a:rPr lang="en-US" dirty="0"/>
              <a:t> </a:t>
            </a:r>
            <a:r>
              <a:rPr lang="en-US" dirty="0" err="1"/>
              <a:t>gia</a:t>
            </a:r>
            <a:r>
              <a:rPr lang="en-US" dirty="0"/>
              <a:t> </a:t>
            </a:r>
            <a:r>
              <a:rPr lang="en-US" dirty="0" err="1"/>
              <a:t>của</a:t>
            </a:r>
            <a:r>
              <a:rPr lang="en-US" dirty="0"/>
              <a:t> </a:t>
            </a:r>
            <a:r>
              <a:rPr lang="en-US" dirty="0" err="1"/>
              <a:t>các</a:t>
            </a:r>
            <a:r>
              <a:rPr lang="en-US" dirty="0"/>
              <a:t> </a:t>
            </a:r>
            <a:r>
              <a:rPr lang="en-US" dirty="0" err="1"/>
              <a:t>bên</a:t>
            </a:r>
            <a:r>
              <a:rPr lang="en-US" dirty="0"/>
              <a:t> </a:t>
            </a:r>
            <a:r>
              <a:rPr lang="en-US" dirty="0" err="1"/>
              <a:t>liên</a:t>
            </a:r>
            <a:r>
              <a:rPr lang="en-US" dirty="0"/>
              <a:t> </a:t>
            </a:r>
            <a:r>
              <a:rPr lang="en-US" dirty="0" err="1"/>
              <a:t>quan</a:t>
            </a:r>
            <a:r>
              <a:rPr lang="en-US" dirty="0"/>
              <a:t> </a:t>
            </a:r>
            <a:r>
              <a:rPr lang="en-US" dirty="0" err="1"/>
              <a:t>trong</a:t>
            </a:r>
            <a:r>
              <a:rPr lang="en-US" dirty="0"/>
              <a:t> </a:t>
            </a:r>
            <a:r>
              <a:rPr lang="en-US" dirty="0" err="1"/>
              <a:t>quan</a:t>
            </a:r>
            <a:r>
              <a:rPr lang="en-US" dirty="0"/>
              <a:t> </a:t>
            </a:r>
            <a:r>
              <a:rPr lang="en-US" dirty="0" err="1"/>
              <a:t>hệ</a:t>
            </a:r>
            <a:r>
              <a:rPr lang="en-US" dirty="0"/>
              <a:t> </a:t>
            </a:r>
            <a:r>
              <a:rPr lang="en-US" dirty="0" err="1"/>
              <a:t>đối</a:t>
            </a:r>
            <a:r>
              <a:rPr lang="en-US" dirty="0"/>
              <a:t> </a:t>
            </a:r>
            <a:r>
              <a:rPr lang="en-US" dirty="0" err="1"/>
              <a:t>tác</a:t>
            </a:r>
            <a:r>
              <a:rPr lang="en-US" dirty="0"/>
              <a:t> </a:t>
            </a:r>
            <a:r>
              <a:rPr lang="en-US" dirty="0" err="1"/>
              <a:t>trong</a:t>
            </a:r>
            <a:r>
              <a:rPr lang="en-US" dirty="0"/>
              <a:t> </a:t>
            </a:r>
            <a:r>
              <a:rPr lang="en-US" dirty="0" err="1"/>
              <a:t>suốt</a:t>
            </a:r>
            <a:r>
              <a:rPr lang="en-US" dirty="0"/>
              <a:t> </a:t>
            </a:r>
            <a:r>
              <a:rPr lang="en-US" dirty="0" err="1"/>
              <a:t>dự</a:t>
            </a:r>
            <a:r>
              <a:rPr lang="en-US" dirty="0"/>
              <a:t> </a:t>
            </a:r>
            <a:r>
              <a:rPr lang="en-US" dirty="0" err="1"/>
              <a:t>án</a:t>
            </a:r>
            <a:r>
              <a:rPr lang="en-US" dirty="0"/>
              <a:t>.</a:t>
            </a:r>
          </a:p>
          <a:p>
            <a:pPr marL="171450" indent="-171450">
              <a:buFontTx/>
              <a:buChar char="-"/>
            </a:pPr>
            <a:r>
              <a:rPr lang="en-US" dirty="0"/>
              <a:t>The cost of better requirements includes developing new procedures and document templates, training the team, and buying tools.: </a:t>
            </a:r>
            <a:r>
              <a:rPr lang="vi-VN" dirty="0"/>
              <a:t>Chi phí cho</a:t>
            </a:r>
            <a:r>
              <a:rPr lang="en-US" dirty="0"/>
              <a:t> </a:t>
            </a:r>
            <a:r>
              <a:rPr lang="en-US" dirty="0" err="1"/>
              <a:t>việc</a:t>
            </a:r>
            <a:r>
              <a:rPr lang="en-US" baseline="0" dirty="0"/>
              <a:t> </a:t>
            </a:r>
            <a:r>
              <a:rPr lang="en-US" baseline="0" dirty="0" err="1"/>
              <a:t>lấy</a:t>
            </a:r>
            <a:r>
              <a:rPr lang="vi-VN" dirty="0"/>
              <a:t> các yêu cầu tốt hơn bao gồm phát triển các quy trình và mẫu tài liệu mới, đào tạo nhóm và mua các công cụ.</a:t>
            </a:r>
            <a:endParaRPr lang="en-US" dirty="0"/>
          </a:p>
        </p:txBody>
      </p:sp>
      <p:sp>
        <p:nvSpPr>
          <p:cNvPr id="4" name="Slide Number Placeholder 3"/>
          <p:cNvSpPr>
            <a:spLocks noGrp="1"/>
          </p:cNvSpPr>
          <p:nvPr>
            <p:ph type="sldNum" sz="quarter" idx="10"/>
          </p:nvPr>
        </p:nvSpPr>
        <p:spPr/>
        <p:txBody>
          <a:bodyPr/>
          <a:lstStyle/>
          <a:p>
            <a:fld id="{EDD28F83-BFBF-48E5-9812-FA471493D536}" type="slidenum">
              <a:rPr lang="en-US" smtClean="0"/>
              <a:t>33</a:t>
            </a:fld>
            <a:endParaRPr lang="en-US"/>
          </a:p>
        </p:txBody>
      </p:sp>
    </p:spTree>
    <p:extLst>
      <p:ext uri="{BB962C8B-B14F-4D97-AF65-F5344CB8AC3E}">
        <p14:creationId xmlns:p14="http://schemas.microsoft.com/office/powerpoint/2010/main" val="265913309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pay-off (n): chi </a:t>
            </a:r>
            <a:r>
              <a:rPr lang="en-US" dirty="0" err="1"/>
              <a:t>trả</a:t>
            </a:r>
            <a:endParaRPr lang="en-US" dirty="0"/>
          </a:p>
        </p:txBody>
      </p:sp>
      <p:sp>
        <p:nvSpPr>
          <p:cNvPr id="4" name="Slide Number Placeholder 3"/>
          <p:cNvSpPr>
            <a:spLocks noGrp="1"/>
          </p:cNvSpPr>
          <p:nvPr>
            <p:ph type="sldNum" sz="quarter" idx="10"/>
          </p:nvPr>
        </p:nvSpPr>
        <p:spPr/>
        <p:txBody>
          <a:bodyPr/>
          <a:lstStyle/>
          <a:p>
            <a:fld id="{EDD28F83-BFBF-48E5-9812-FA471493D536}" type="slidenum">
              <a:rPr lang="en-US" smtClean="0"/>
              <a:t>34</a:t>
            </a:fld>
            <a:endParaRPr lang="en-US"/>
          </a:p>
        </p:txBody>
      </p:sp>
    </p:spTree>
    <p:extLst>
      <p:ext uri="{BB962C8B-B14F-4D97-AF65-F5344CB8AC3E}">
        <p14:creationId xmlns:p14="http://schemas.microsoft.com/office/powerpoint/2010/main" val="349527117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pay-off (n): chi </a:t>
            </a:r>
            <a:r>
              <a:rPr lang="en-US" dirty="0" err="1"/>
              <a:t>trả</a:t>
            </a:r>
            <a:endParaRPr lang="en-US" dirty="0"/>
          </a:p>
        </p:txBody>
      </p:sp>
      <p:sp>
        <p:nvSpPr>
          <p:cNvPr id="4" name="Slide Number Placeholder 3"/>
          <p:cNvSpPr>
            <a:spLocks noGrp="1"/>
          </p:cNvSpPr>
          <p:nvPr>
            <p:ph type="sldNum" sz="quarter" idx="10"/>
          </p:nvPr>
        </p:nvSpPr>
        <p:spPr/>
        <p:txBody>
          <a:bodyPr/>
          <a:lstStyle/>
          <a:p>
            <a:fld id="{EDD28F83-BFBF-48E5-9812-FA471493D536}" type="slidenum">
              <a:rPr lang="en-US" smtClean="0"/>
              <a:t>35</a:t>
            </a:fld>
            <a:endParaRPr lang="en-US"/>
          </a:p>
        </p:txBody>
      </p:sp>
    </p:spTree>
    <p:extLst>
      <p:ext uri="{BB962C8B-B14F-4D97-AF65-F5344CB8AC3E}">
        <p14:creationId xmlns:p14="http://schemas.microsoft.com/office/powerpoint/2010/main" val="679333163"/>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image" Target="../media/image2.gif"/><Relationship Id="rId1" Type="http://schemas.openxmlformats.org/officeDocument/2006/relationships/slideMaster" Target="../slideMasters/slideMaster1.xml"/><Relationship Id="rId5" Type="http://schemas.openxmlformats.org/officeDocument/2006/relationships/image" Target="../media/image1.png"/><Relationship Id="rId4" Type="http://schemas.openxmlformats.org/officeDocument/2006/relationships/image" Target="../media/image4.gif"/></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4" name="Picture 3"/>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190500"/>
            <a:ext cx="9144000" cy="6477000"/>
          </a:xfrm>
          <a:prstGeom prst="rect">
            <a:avLst/>
          </a:prstGeom>
        </p:spPr>
      </p:pic>
      <p:sp>
        <p:nvSpPr>
          <p:cNvPr id="3" name="Subtitle 2"/>
          <p:cNvSpPr>
            <a:spLocks noGrp="1"/>
          </p:cNvSpPr>
          <p:nvPr>
            <p:ph type="subTitle" idx="1"/>
          </p:nvPr>
        </p:nvSpPr>
        <p:spPr>
          <a:xfrm>
            <a:off x="1371600" y="4343400"/>
            <a:ext cx="6400800" cy="990600"/>
          </a:xfrm>
        </p:spPr>
        <p:txBody>
          <a:bodyPr/>
          <a:lstStyle>
            <a:lvl1pPr marL="0" indent="0" algn="ctr">
              <a:buNone/>
              <a:defRPr>
                <a:solidFill>
                  <a:schemeClr val="accent2">
                    <a:lumMod val="75000"/>
                  </a:schemeClr>
                </a:solidFill>
                <a:latin typeface="Tahoma" pitchFamily="34" charset="0"/>
                <a:cs typeface="Tahoma"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
        <p:nvSpPr>
          <p:cNvPr id="6" name="Title 7"/>
          <p:cNvSpPr>
            <a:spLocks noGrp="1"/>
          </p:cNvSpPr>
          <p:nvPr>
            <p:ph type="ctrTitle"/>
          </p:nvPr>
        </p:nvSpPr>
        <p:spPr>
          <a:xfrm>
            <a:off x="685800" y="3276600"/>
            <a:ext cx="7772400" cy="1048773"/>
          </a:xfrm>
        </p:spPr>
        <p:txBody>
          <a:bodyPr/>
          <a:lstStyle/>
          <a:p>
            <a:endParaRPr lang="en-US"/>
          </a:p>
        </p:txBody>
      </p:sp>
      <p:sp>
        <p:nvSpPr>
          <p:cNvPr id="2" name="TextBox 1"/>
          <p:cNvSpPr txBox="1"/>
          <p:nvPr userDrawn="1"/>
        </p:nvSpPr>
        <p:spPr>
          <a:xfrm>
            <a:off x="4343400" y="196840"/>
            <a:ext cx="4046685" cy="584775"/>
          </a:xfrm>
          <a:prstGeom prst="rect">
            <a:avLst/>
          </a:prstGeom>
          <a:noFill/>
        </p:spPr>
        <p:txBody>
          <a:bodyPr wrap="none" rtlCol="0">
            <a:spAutoFit/>
          </a:bodyPr>
          <a:lstStyle/>
          <a:p>
            <a:r>
              <a:rPr lang="en-US" sz="3200" b="1" dirty="0">
                <a:solidFill>
                  <a:srgbClr val="0000FF"/>
                </a:solidFill>
                <a:latin typeface="+mn-lt"/>
              </a:rPr>
              <a:t>ĐẠI</a:t>
            </a:r>
            <a:r>
              <a:rPr lang="en-US" sz="3200" b="1" baseline="0" dirty="0">
                <a:solidFill>
                  <a:srgbClr val="0000FF"/>
                </a:solidFill>
                <a:latin typeface="+mn-lt"/>
              </a:rPr>
              <a:t> HỌC FPT CẦN THƠ</a:t>
            </a:r>
            <a:endParaRPr lang="en-US" sz="3200" b="1" dirty="0">
              <a:solidFill>
                <a:srgbClr val="0000FF"/>
              </a:solidFill>
              <a:latin typeface="+mn-lt"/>
            </a:endParaRPr>
          </a:p>
        </p:txBody>
      </p:sp>
      <p:pic>
        <p:nvPicPr>
          <p:cNvPr id="1026" name="Picture 2"/>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0" y="19222"/>
            <a:ext cx="2559370" cy="76239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184628932"/>
      </p:ext>
    </p:extLst>
  </p:cSld>
  <p:clrMapOvr>
    <a:masterClrMapping/>
  </p:clrMapOvr>
  <p:transition>
    <p:split orient="vert"/>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cxnSp>
        <p:nvCxnSpPr>
          <p:cNvPr id="5" name="Straight Connector 4"/>
          <p:cNvCxnSpPr/>
          <p:nvPr userDrawn="1"/>
        </p:nvCxnSpPr>
        <p:spPr>
          <a:xfrm>
            <a:off x="457200" y="6324600"/>
            <a:ext cx="8229600"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3" name="Content Placeholder 2"/>
          <p:cNvSpPr>
            <a:spLocks noGrp="1"/>
          </p:cNvSpPr>
          <p:nvPr>
            <p:ph idx="1"/>
          </p:nvPr>
        </p:nvSpPr>
        <p:spPr/>
        <p:txBody>
          <a:bodyPr/>
          <a:lstStyle>
            <a:lvl1pPr>
              <a:buFontTx/>
              <a:buBlip>
                <a:blip r:embed="rId2"/>
              </a:buBlip>
              <a:defRPr sz="2800">
                <a:solidFill>
                  <a:schemeClr val="tx1"/>
                </a:solidFill>
                <a:latin typeface="+mn-lt"/>
                <a:cs typeface="Tahoma" pitchFamily="34" charset="0"/>
              </a:defRPr>
            </a:lvl1pPr>
            <a:lvl2pPr>
              <a:buFontTx/>
              <a:buBlip>
                <a:blip r:embed="rId3"/>
              </a:buBlip>
              <a:defRPr sz="2400">
                <a:solidFill>
                  <a:schemeClr val="tx1"/>
                </a:solidFill>
                <a:latin typeface="+mn-lt"/>
                <a:cs typeface="Tahoma" pitchFamily="34" charset="0"/>
              </a:defRPr>
            </a:lvl2pPr>
            <a:lvl3pPr>
              <a:buFontTx/>
              <a:buBlip>
                <a:blip r:embed="rId4"/>
              </a:buBlip>
              <a:defRPr sz="2000">
                <a:solidFill>
                  <a:schemeClr val="tx1"/>
                </a:solidFill>
                <a:latin typeface="+mn-lt"/>
                <a:cs typeface="Tahoma" pitchFamily="34" charset="0"/>
              </a:defRPr>
            </a:lvl3pPr>
            <a:lvl4pPr>
              <a:defRPr sz="1800">
                <a:solidFill>
                  <a:schemeClr val="tx1"/>
                </a:solidFill>
                <a:latin typeface="+mn-lt"/>
                <a:cs typeface="Tahoma" pitchFamily="34" charset="0"/>
              </a:defRPr>
            </a:lvl4pPr>
            <a:lvl5pPr>
              <a:defRPr sz="1800">
                <a:solidFill>
                  <a:schemeClr val="tx1"/>
                </a:solidFill>
                <a:latin typeface="+mn-lt"/>
                <a:cs typeface="Tahoma"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itle 7"/>
          <p:cNvSpPr>
            <a:spLocks noGrp="1"/>
          </p:cNvSpPr>
          <p:nvPr>
            <p:ph type="title"/>
          </p:nvPr>
        </p:nvSpPr>
        <p:spPr>
          <a:xfrm>
            <a:off x="2819400" y="27105"/>
            <a:ext cx="6324600" cy="914399"/>
          </a:xfrm>
        </p:spPr>
        <p:txBody>
          <a:bodyPr/>
          <a:lstStyle>
            <a:lvl1pPr algn="r">
              <a:defRPr sz="2800" b="1">
                <a:solidFill>
                  <a:srgbClr val="0070C0"/>
                </a:solidFill>
              </a:defRPr>
            </a:lvl1pPr>
          </a:lstStyle>
          <a:p>
            <a:r>
              <a:rPr lang="en-US" dirty="0"/>
              <a:t>Click to edit Master title style</a:t>
            </a:r>
          </a:p>
        </p:txBody>
      </p:sp>
      <p:sp>
        <p:nvSpPr>
          <p:cNvPr id="6" name="Footer Placeholder 4"/>
          <p:cNvSpPr>
            <a:spLocks noGrp="1"/>
          </p:cNvSpPr>
          <p:nvPr>
            <p:ph type="ftr" sz="quarter" idx="10"/>
          </p:nvPr>
        </p:nvSpPr>
        <p:spPr>
          <a:xfrm>
            <a:off x="457200" y="6340475"/>
            <a:ext cx="6096000" cy="365125"/>
          </a:xfrm>
        </p:spPr>
        <p:txBody>
          <a:bodyPr/>
          <a:lstStyle>
            <a:lvl1pPr algn="l">
              <a:defRPr dirty="0">
                <a:latin typeface="Tahoma" pitchFamily="34" charset="0"/>
                <a:cs typeface="Tahoma" pitchFamily="34" charset="0"/>
              </a:defRPr>
            </a:lvl1pPr>
          </a:lstStyle>
          <a:p>
            <a:pPr>
              <a:defRPr/>
            </a:pPr>
            <a:r>
              <a:rPr lang="en-US"/>
              <a:t>Chapter 1_The essential SW requirement - BAYHV</a:t>
            </a:r>
          </a:p>
        </p:txBody>
      </p:sp>
      <p:sp>
        <p:nvSpPr>
          <p:cNvPr id="7" name="Slide Number Placeholder 5"/>
          <p:cNvSpPr>
            <a:spLocks noGrp="1"/>
          </p:cNvSpPr>
          <p:nvPr>
            <p:ph type="sldNum" sz="quarter" idx="11"/>
          </p:nvPr>
        </p:nvSpPr>
        <p:spPr>
          <a:xfrm>
            <a:off x="6629400" y="6356350"/>
            <a:ext cx="2133600" cy="365125"/>
          </a:xfrm>
        </p:spPr>
        <p:txBody>
          <a:bodyPr/>
          <a:lstStyle>
            <a:lvl1pPr>
              <a:defRPr>
                <a:latin typeface="Tahoma" pitchFamily="34" charset="0"/>
                <a:cs typeface="Tahoma" pitchFamily="34" charset="0"/>
              </a:defRPr>
            </a:lvl1pPr>
          </a:lstStyle>
          <a:p>
            <a:pPr>
              <a:defRPr/>
            </a:pPr>
            <a:fld id="{38F81FAE-D748-4BFC-A8B0-D2E750E8899F}" type="slidenum">
              <a:rPr lang="en-US"/>
              <a:pPr>
                <a:defRPr/>
              </a:pPr>
              <a:t>‹#›</a:t>
            </a:fld>
            <a:endParaRPr lang="en-US" dirty="0"/>
          </a:p>
        </p:txBody>
      </p:sp>
      <p:sp>
        <p:nvSpPr>
          <p:cNvPr id="2" name="Rectangle 1"/>
          <p:cNvSpPr/>
          <p:nvPr userDrawn="1"/>
        </p:nvSpPr>
        <p:spPr>
          <a:xfrm>
            <a:off x="76200" y="0"/>
            <a:ext cx="1447800" cy="914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2"/>
          <p:cNvPicPr>
            <a:picLocks noChangeAspect="1" noChangeArrowheads="1"/>
          </p:cNvPicPr>
          <p:nvPr userDrawn="1"/>
        </p:nvPicPr>
        <p:blipFill>
          <a:blip r:embed="rId5" cstate="print">
            <a:extLst>
              <a:ext uri="{28A0092B-C50C-407E-A947-70E740481C1C}">
                <a14:useLocalDpi xmlns:a14="http://schemas.microsoft.com/office/drawing/2010/main" val="0"/>
              </a:ext>
            </a:extLst>
          </a:blip>
          <a:srcRect/>
          <a:stretch>
            <a:fillRect/>
          </a:stretch>
        </p:blipFill>
        <p:spPr bwMode="auto">
          <a:xfrm>
            <a:off x="0" y="19222"/>
            <a:ext cx="2559370" cy="76239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684134530"/>
      </p:ext>
    </p:extLst>
  </p:cSld>
  <p:clrMapOvr>
    <a:masterClrMapping/>
  </p:clrMapOvr>
  <p:transition>
    <p:split orient="vert"/>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1_Title and Content">
    <p:spTree>
      <p:nvGrpSpPr>
        <p:cNvPr id="1" name=""/>
        <p:cNvGrpSpPr/>
        <p:nvPr/>
      </p:nvGrpSpPr>
      <p:grpSpPr>
        <a:xfrm>
          <a:off x="0" y="0"/>
          <a:ext cx="0" cy="0"/>
          <a:chOff x="0" y="0"/>
          <a:chExt cx="0" cy="0"/>
        </a:xfrm>
      </p:grpSpPr>
      <p:cxnSp>
        <p:nvCxnSpPr>
          <p:cNvPr id="5" name="Straight Connector 4"/>
          <p:cNvCxnSpPr/>
          <p:nvPr userDrawn="1"/>
        </p:nvCxnSpPr>
        <p:spPr>
          <a:xfrm>
            <a:off x="457200" y="6324600"/>
            <a:ext cx="8229600"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a:xfrm>
            <a:off x="3021722" y="19222"/>
            <a:ext cx="6096002" cy="990600"/>
          </a:xfrm>
        </p:spPr>
        <p:txBody>
          <a:bodyPr/>
          <a:lstStyle>
            <a:lvl1pPr algn="r">
              <a:defRPr sz="2800" b="1" i="0">
                <a:solidFill>
                  <a:srgbClr val="0070C0"/>
                </a:solidFill>
              </a:defRPr>
            </a:lvl1pPr>
          </a:lstStyle>
          <a:p>
            <a:r>
              <a:rPr lang="en-US" dirty="0"/>
              <a:t>Click to edit Master title style</a:t>
            </a:r>
          </a:p>
        </p:txBody>
      </p:sp>
      <p:sp>
        <p:nvSpPr>
          <p:cNvPr id="3" name="Content Placeholder 2"/>
          <p:cNvSpPr>
            <a:spLocks noGrp="1"/>
          </p:cNvSpPr>
          <p:nvPr>
            <p:ph idx="1"/>
          </p:nvPr>
        </p:nvSpPr>
        <p:spPr/>
        <p:txBody>
          <a:bodyPr/>
          <a:lstStyle>
            <a:lvl1pPr>
              <a:defRPr sz="2800">
                <a:solidFill>
                  <a:schemeClr val="tx1"/>
                </a:solidFill>
                <a:latin typeface="+mn-lt"/>
                <a:cs typeface="Tahoma" pitchFamily="34" charset="0"/>
              </a:defRPr>
            </a:lvl1pPr>
            <a:lvl2pPr>
              <a:defRPr sz="2400">
                <a:solidFill>
                  <a:schemeClr val="tx1"/>
                </a:solidFill>
                <a:latin typeface="+mn-lt"/>
                <a:cs typeface="Tahoma" pitchFamily="34" charset="0"/>
              </a:defRPr>
            </a:lvl2pPr>
            <a:lvl3pPr>
              <a:defRPr sz="2000">
                <a:solidFill>
                  <a:schemeClr val="tx1"/>
                </a:solidFill>
                <a:latin typeface="+mn-lt"/>
                <a:cs typeface="Tahoma" pitchFamily="34" charset="0"/>
              </a:defRPr>
            </a:lvl3pPr>
            <a:lvl4pPr>
              <a:defRPr sz="1800">
                <a:solidFill>
                  <a:schemeClr val="tx1"/>
                </a:solidFill>
                <a:latin typeface="+mn-lt"/>
                <a:cs typeface="Tahoma" pitchFamily="34" charset="0"/>
              </a:defRPr>
            </a:lvl4pPr>
            <a:lvl5pPr>
              <a:defRPr sz="1800">
                <a:solidFill>
                  <a:schemeClr val="tx1"/>
                </a:solidFill>
                <a:latin typeface="+mn-lt"/>
                <a:cs typeface="Tahoma"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4"/>
          <p:cNvSpPr>
            <a:spLocks noGrp="1"/>
          </p:cNvSpPr>
          <p:nvPr>
            <p:ph type="ftr" sz="quarter" idx="10"/>
          </p:nvPr>
        </p:nvSpPr>
        <p:spPr>
          <a:xfrm>
            <a:off x="457200" y="6340475"/>
            <a:ext cx="6096000" cy="365125"/>
          </a:xfrm>
        </p:spPr>
        <p:txBody>
          <a:bodyPr/>
          <a:lstStyle>
            <a:lvl1pPr algn="l">
              <a:defRPr>
                <a:latin typeface="Tahoma" pitchFamily="34" charset="0"/>
                <a:cs typeface="Tahoma" pitchFamily="34" charset="0"/>
              </a:defRPr>
            </a:lvl1pPr>
          </a:lstStyle>
          <a:p>
            <a:pPr>
              <a:defRPr/>
            </a:pPr>
            <a:r>
              <a:rPr lang="en-US"/>
              <a:t>Chapter 1_The essential SW requirement - BAYHV</a:t>
            </a:r>
          </a:p>
        </p:txBody>
      </p:sp>
      <p:sp>
        <p:nvSpPr>
          <p:cNvPr id="7" name="Slide Number Placeholder 5"/>
          <p:cNvSpPr>
            <a:spLocks noGrp="1"/>
          </p:cNvSpPr>
          <p:nvPr>
            <p:ph type="sldNum" sz="quarter" idx="11"/>
          </p:nvPr>
        </p:nvSpPr>
        <p:spPr>
          <a:xfrm>
            <a:off x="6629400" y="6356350"/>
            <a:ext cx="2133600" cy="365125"/>
          </a:xfrm>
        </p:spPr>
        <p:txBody>
          <a:bodyPr/>
          <a:lstStyle>
            <a:lvl1pPr>
              <a:defRPr>
                <a:latin typeface="Tahoma" pitchFamily="34" charset="0"/>
                <a:cs typeface="Tahoma" pitchFamily="34" charset="0"/>
              </a:defRPr>
            </a:lvl1pPr>
          </a:lstStyle>
          <a:p>
            <a:pPr>
              <a:defRPr/>
            </a:pPr>
            <a:fld id="{0269FD7F-F1B9-4EBE-8876-2DA927AD43EA}" type="slidenum">
              <a:rPr lang="en-US"/>
              <a:pPr>
                <a:defRPr/>
              </a:pPr>
              <a:t>‹#›</a:t>
            </a:fld>
            <a:endParaRPr lang="en-US" dirty="0"/>
          </a:p>
        </p:txBody>
      </p:sp>
      <p:sp>
        <p:nvSpPr>
          <p:cNvPr id="10" name="Rectangle 9"/>
          <p:cNvSpPr/>
          <p:nvPr userDrawn="1"/>
        </p:nvSpPr>
        <p:spPr>
          <a:xfrm>
            <a:off x="76200" y="0"/>
            <a:ext cx="1447800" cy="914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2"/>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0" y="19222"/>
            <a:ext cx="2559370" cy="76239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4184198670"/>
      </p:ext>
    </p:extLst>
  </p:cSld>
  <p:clrMapOvr>
    <a:masterClrMapping/>
  </p:clrMapOvr>
  <p:transition>
    <p:split orient="vert"/>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2_Title and Content">
    <p:spTree>
      <p:nvGrpSpPr>
        <p:cNvPr id="1" name=""/>
        <p:cNvGrpSpPr/>
        <p:nvPr/>
      </p:nvGrpSpPr>
      <p:grpSpPr>
        <a:xfrm>
          <a:off x="0" y="0"/>
          <a:ext cx="0" cy="0"/>
          <a:chOff x="0" y="0"/>
          <a:chExt cx="0" cy="0"/>
        </a:xfrm>
      </p:grpSpPr>
      <p:cxnSp>
        <p:nvCxnSpPr>
          <p:cNvPr id="5" name="Straight Connector 4"/>
          <p:cNvCxnSpPr/>
          <p:nvPr userDrawn="1"/>
        </p:nvCxnSpPr>
        <p:spPr>
          <a:xfrm>
            <a:off x="457200" y="6324600"/>
            <a:ext cx="8229600"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a:xfrm>
            <a:off x="2779986" y="13967"/>
            <a:ext cx="6400800" cy="990600"/>
          </a:xfrm>
        </p:spPr>
        <p:txBody>
          <a:bodyPr/>
          <a:lstStyle>
            <a:lvl1pPr algn="r">
              <a:defRPr sz="2800" b="1">
                <a:solidFill>
                  <a:srgbClr val="0070C0"/>
                </a:solidFill>
              </a:defRPr>
            </a:lvl1pPr>
          </a:lstStyle>
          <a:p>
            <a:r>
              <a:rPr lang="en-US" dirty="0"/>
              <a:t>Click to edit Master title style</a:t>
            </a:r>
          </a:p>
        </p:txBody>
      </p:sp>
      <p:sp>
        <p:nvSpPr>
          <p:cNvPr id="3" name="Content Placeholder 2"/>
          <p:cNvSpPr>
            <a:spLocks noGrp="1"/>
          </p:cNvSpPr>
          <p:nvPr>
            <p:ph idx="1"/>
          </p:nvPr>
        </p:nvSpPr>
        <p:spPr/>
        <p:txBody>
          <a:bodyPr/>
          <a:lstStyle>
            <a:lvl1pPr>
              <a:defRPr sz="2800">
                <a:solidFill>
                  <a:schemeClr val="tx1"/>
                </a:solidFill>
                <a:latin typeface="+mn-lt"/>
                <a:cs typeface="Tahoma" pitchFamily="34" charset="0"/>
              </a:defRPr>
            </a:lvl1pPr>
            <a:lvl2pPr>
              <a:defRPr sz="2400">
                <a:solidFill>
                  <a:schemeClr val="tx1"/>
                </a:solidFill>
                <a:latin typeface="+mn-lt"/>
                <a:cs typeface="Tahoma" pitchFamily="34" charset="0"/>
              </a:defRPr>
            </a:lvl2pPr>
            <a:lvl3pPr>
              <a:defRPr sz="2000">
                <a:solidFill>
                  <a:schemeClr val="tx1"/>
                </a:solidFill>
                <a:latin typeface="+mn-lt"/>
                <a:cs typeface="Tahoma" pitchFamily="34" charset="0"/>
              </a:defRPr>
            </a:lvl3pPr>
            <a:lvl4pPr>
              <a:defRPr sz="1800">
                <a:solidFill>
                  <a:schemeClr val="tx1"/>
                </a:solidFill>
                <a:latin typeface="+mn-lt"/>
                <a:cs typeface="Tahoma" pitchFamily="34" charset="0"/>
              </a:defRPr>
            </a:lvl4pPr>
            <a:lvl5pPr>
              <a:defRPr sz="1800">
                <a:solidFill>
                  <a:schemeClr val="tx1"/>
                </a:solidFill>
                <a:latin typeface="+mn-lt"/>
                <a:cs typeface="Tahoma"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4"/>
          <p:cNvSpPr>
            <a:spLocks noGrp="1"/>
          </p:cNvSpPr>
          <p:nvPr>
            <p:ph type="ftr" sz="quarter" idx="10"/>
          </p:nvPr>
        </p:nvSpPr>
        <p:spPr>
          <a:xfrm>
            <a:off x="457200" y="6340475"/>
            <a:ext cx="6096000" cy="365125"/>
          </a:xfrm>
        </p:spPr>
        <p:txBody>
          <a:bodyPr/>
          <a:lstStyle>
            <a:lvl1pPr algn="l">
              <a:defRPr>
                <a:latin typeface="Tahoma" pitchFamily="34" charset="0"/>
                <a:cs typeface="Tahoma" pitchFamily="34" charset="0"/>
              </a:defRPr>
            </a:lvl1pPr>
          </a:lstStyle>
          <a:p>
            <a:pPr>
              <a:defRPr/>
            </a:pPr>
            <a:r>
              <a:rPr lang="en-US"/>
              <a:t>Chapter 1_The essential SW requirement - BAYHV</a:t>
            </a:r>
          </a:p>
        </p:txBody>
      </p:sp>
      <p:sp>
        <p:nvSpPr>
          <p:cNvPr id="7" name="Slide Number Placeholder 5"/>
          <p:cNvSpPr>
            <a:spLocks noGrp="1"/>
          </p:cNvSpPr>
          <p:nvPr>
            <p:ph type="sldNum" sz="quarter" idx="11"/>
          </p:nvPr>
        </p:nvSpPr>
        <p:spPr>
          <a:xfrm>
            <a:off x="6629400" y="6356350"/>
            <a:ext cx="2133600" cy="365125"/>
          </a:xfrm>
        </p:spPr>
        <p:txBody>
          <a:bodyPr/>
          <a:lstStyle>
            <a:lvl1pPr>
              <a:defRPr>
                <a:latin typeface="Tahoma" pitchFamily="34" charset="0"/>
                <a:cs typeface="Tahoma" pitchFamily="34" charset="0"/>
              </a:defRPr>
            </a:lvl1pPr>
          </a:lstStyle>
          <a:p>
            <a:pPr>
              <a:defRPr/>
            </a:pPr>
            <a:fld id="{ACBE273D-A5B0-43E9-B55F-D261AD9B2B4A}" type="slidenum">
              <a:rPr lang="en-US"/>
              <a:pPr>
                <a:defRPr/>
              </a:pPr>
              <a:t>‹#›</a:t>
            </a:fld>
            <a:endParaRPr lang="en-US" dirty="0"/>
          </a:p>
        </p:txBody>
      </p:sp>
      <p:sp>
        <p:nvSpPr>
          <p:cNvPr id="10" name="Rectangle 9"/>
          <p:cNvSpPr/>
          <p:nvPr userDrawn="1"/>
        </p:nvSpPr>
        <p:spPr>
          <a:xfrm>
            <a:off x="76200" y="0"/>
            <a:ext cx="1447800" cy="914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2"/>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0" y="19222"/>
            <a:ext cx="2559370" cy="76239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4131257748"/>
      </p:ext>
    </p:extLst>
  </p:cSld>
  <p:clrMapOvr>
    <a:masterClrMapping/>
  </p:clrMapOvr>
  <p:transition>
    <p:split orient="vert"/>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cxnSp>
        <p:nvCxnSpPr>
          <p:cNvPr id="8" name="Straight Connector 7"/>
          <p:cNvCxnSpPr/>
          <p:nvPr userDrawn="1"/>
        </p:nvCxnSpPr>
        <p:spPr>
          <a:xfrm>
            <a:off x="457200" y="6324600"/>
            <a:ext cx="8229600"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a:xfrm>
            <a:off x="2906108" y="0"/>
            <a:ext cx="6248402" cy="914400"/>
          </a:xfrm>
        </p:spPr>
        <p:txBody>
          <a:bodyPr/>
          <a:lstStyle>
            <a:lvl1pPr algn="r">
              <a:defRPr sz="2800" b="1">
                <a:solidFill>
                  <a:srgbClr val="0070C0"/>
                </a:solidFill>
              </a:defRPr>
            </a:lvl1pPr>
          </a:lstStyle>
          <a:p>
            <a:r>
              <a:rPr lang="en-US" dirty="0"/>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solidFill>
                  <a:schemeClr val="accent2">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solidFill>
                  <a:schemeClr val="tx1"/>
                </a:solidFill>
                <a:latin typeface="+mn-lt"/>
                <a:cs typeface="Tahoma" pitchFamily="34" charset="0"/>
              </a:defRPr>
            </a:lvl1pPr>
            <a:lvl2pPr>
              <a:defRPr sz="2000">
                <a:solidFill>
                  <a:schemeClr val="tx1"/>
                </a:solidFill>
                <a:latin typeface="+mn-lt"/>
                <a:cs typeface="Tahoma" pitchFamily="34" charset="0"/>
              </a:defRPr>
            </a:lvl2pPr>
            <a:lvl3pPr>
              <a:defRPr sz="1800">
                <a:solidFill>
                  <a:schemeClr val="tx1"/>
                </a:solidFill>
                <a:latin typeface="+mn-lt"/>
                <a:cs typeface="Tahoma" pitchFamily="34" charset="0"/>
              </a:defRPr>
            </a:lvl3pPr>
            <a:lvl4pPr>
              <a:defRPr sz="1600">
                <a:solidFill>
                  <a:schemeClr val="tx1"/>
                </a:solidFill>
                <a:latin typeface="+mn-lt"/>
                <a:cs typeface="Tahoma" pitchFamily="34" charset="0"/>
              </a:defRPr>
            </a:lvl4pPr>
            <a:lvl5pPr>
              <a:defRPr sz="1600">
                <a:solidFill>
                  <a:schemeClr val="tx1"/>
                </a:solidFill>
                <a:latin typeface="+mn-lt"/>
                <a:cs typeface="Tahoma" pitchFamily="34" charset="0"/>
              </a:defRPr>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solidFill>
                  <a:schemeClr val="accent2">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solidFill>
                  <a:schemeClr val="tx1"/>
                </a:solidFill>
                <a:latin typeface="+mn-lt"/>
                <a:cs typeface="Tahoma" pitchFamily="34" charset="0"/>
              </a:defRPr>
            </a:lvl1pPr>
            <a:lvl2pPr>
              <a:defRPr sz="2000">
                <a:solidFill>
                  <a:schemeClr val="tx1"/>
                </a:solidFill>
                <a:latin typeface="+mn-lt"/>
                <a:cs typeface="Tahoma" pitchFamily="34" charset="0"/>
              </a:defRPr>
            </a:lvl2pPr>
            <a:lvl3pPr>
              <a:defRPr sz="1800">
                <a:solidFill>
                  <a:schemeClr val="tx1"/>
                </a:solidFill>
                <a:latin typeface="+mn-lt"/>
                <a:cs typeface="Tahoma" pitchFamily="34" charset="0"/>
              </a:defRPr>
            </a:lvl3pPr>
            <a:lvl4pPr>
              <a:defRPr sz="1600">
                <a:solidFill>
                  <a:schemeClr val="tx1"/>
                </a:solidFill>
                <a:latin typeface="+mn-lt"/>
                <a:cs typeface="Tahoma" pitchFamily="34" charset="0"/>
              </a:defRPr>
            </a:lvl4pPr>
            <a:lvl5pPr>
              <a:defRPr sz="1600">
                <a:solidFill>
                  <a:schemeClr val="tx1"/>
                </a:solidFill>
                <a:latin typeface="+mn-lt"/>
                <a:cs typeface="Tahoma" pitchFamily="34" charset="0"/>
              </a:defRPr>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Footer Placeholder 4"/>
          <p:cNvSpPr>
            <a:spLocks noGrp="1"/>
          </p:cNvSpPr>
          <p:nvPr>
            <p:ph type="ftr" sz="quarter" idx="10"/>
          </p:nvPr>
        </p:nvSpPr>
        <p:spPr>
          <a:xfrm>
            <a:off x="457200" y="6340475"/>
            <a:ext cx="6096000" cy="365125"/>
          </a:xfrm>
        </p:spPr>
        <p:txBody>
          <a:bodyPr/>
          <a:lstStyle>
            <a:lvl1pPr algn="l">
              <a:defRPr>
                <a:latin typeface="Tahoma" pitchFamily="34" charset="0"/>
                <a:cs typeface="Tahoma" pitchFamily="34" charset="0"/>
              </a:defRPr>
            </a:lvl1pPr>
          </a:lstStyle>
          <a:p>
            <a:pPr>
              <a:defRPr/>
            </a:pPr>
            <a:r>
              <a:rPr lang="en-US"/>
              <a:t>Chapter 1_The essential SW requirement - BAYHV</a:t>
            </a:r>
          </a:p>
        </p:txBody>
      </p:sp>
      <p:sp>
        <p:nvSpPr>
          <p:cNvPr id="10" name="Slide Number Placeholder 5"/>
          <p:cNvSpPr>
            <a:spLocks noGrp="1"/>
          </p:cNvSpPr>
          <p:nvPr>
            <p:ph type="sldNum" sz="quarter" idx="11"/>
          </p:nvPr>
        </p:nvSpPr>
        <p:spPr>
          <a:xfrm>
            <a:off x="6629400" y="6356350"/>
            <a:ext cx="2133600" cy="365125"/>
          </a:xfrm>
        </p:spPr>
        <p:txBody>
          <a:bodyPr/>
          <a:lstStyle>
            <a:lvl1pPr>
              <a:defRPr>
                <a:latin typeface="Tahoma" pitchFamily="34" charset="0"/>
                <a:cs typeface="Tahoma" pitchFamily="34" charset="0"/>
              </a:defRPr>
            </a:lvl1pPr>
          </a:lstStyle>
          <a:p>
            <a:pPr>
              <a:defRPr/>
            </a:pPr>
            <a:fld id="{0F31B4AE-D66A-4FED-AD35-BAB7214338B0}" type="slidenum">
              <a:rPr lang="en-US"/>
              <a:pPr>
                <a:defRPr/>
              </a:pPr>
              <a:t>‹#›</a:t>
            </a:fld>
            <a:endParaRPr lang="en-US" dirty="0"/>
          </a:p>
        </p:txBody>
      </p:sp>
      <p:sp>
        <p:nvSpPr>
          <p:cNvPr id="13" name="Rectangle 12"/>
          <p:cNvSpPr/>
          <p:nvPr userDrawn="1"/>
        </p:nvSpPr>
        <p:spPr>
          <a:xfrm>
            <a:off x="76200" y="0"/>
            <a:ext cx="1447800" cy="914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5" name="Picture 2"/>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0" y="19222"/>
            <a:ext cx="2559370" cy="76239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767563394"/>
      </p:ext>
    </p:extLst>
  </p:cSld>
  <p:clrMapOvr>
    <a:masterClrMapping/>
  </p:clrMapOvr>
  <p:transition>
    <p:split orient="vert"/>
  </p:transition>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2.gif"/><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image" Target="../media/image4.gif"/><Relationship Id="rId4" Type="http://schemas.openxmlformats.org/officeDocument/2006/relationships/slideLayout" Target="../slideLayouts/slideLayout4.xml"/><Relationship Id="rId9" Type="http://schemas.openxmlformats.org/officeDocument/2006/relationships/image" Target="../media/image3.gif"/></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381000"/>
            <a:ext cx="8686800" cy="6858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dirty="0"/>
              <a:t>Click to edit Master title style</a:t>
            </a:r>
          </a:p>
        </p:txBody>
      </p:sp>
      <p:sp>
        <p:nvSpPr>
          <p:cNvPr id="1027" name="Text Placeholder 2"/>
          <p:cNvSpPr>
            <a:spLocks noGrp="1"/>
          </p:cNvSpPr>
          <p:nvPr>
            <p:ph type="body" idx="1"/>
          </p:nvPr>
        </p:nvSpPr>
        <p:spPr bwMode="auto">
          <a:xfrm>
            <a:off x="228600" y="1143000"/>
            <a:ext cx="8686800" cy="50292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dirty="0"/>
              <a:t>  Click to edit Master text styles</a:t>
            </a:r>
          </a:p>
          <a:p>
            <a:pPr lvl="1"/>
            <a:r>
              <a:rPr lang="en-US" dirty="0"/>
              <a:t>  Second level</a:t>
            </a:r>
          </a:p>
          <a:p>
            <a:pPr lvl="2"/>
            <a:r>
              <a:rPr lang="en-US" dirty="0"/>
              <a:t>  Third level</a:t>
            </a:r>
          </a:p>
          <a:p>
            <a:pPr lvl="3"/>
            <a:r>
              <a:rPr lang="en-US" dirty="0"/>
              <a:t>Fourth level</a:t>
            </a:r>
          </a:p>
          <a:p>
            <a:pPr lvl="4"/>
            <a:r>
              <a:rPr lang="en-US" dirty="0"/>
              <a:t>Fifth level</a:t>
            </a:r>
          </a:p>
        </p:txBody>
      </p:sp>
      <p:sp>
        <p:nvSpPr>
          <p:cNvPr id="5" name="Footer Placeholder 4"/>
          <p:cNvSpPr>
            <a:spLocks noGrp="1"/>
          </p:cNvSpPr>
          <p:nvPr>
            <p:ph type="ftr" sz="quarter" idx="3"/>
          </p:nvPr>
        </p:nvSpPr>
        <p:spPr>
          <a:xfrm>
            <a:off x="457200" y="6356350"/>
            <a:ext cx="5562600" cy="365125"/>
          </a:xfrm>
          <a:prstGeom prst="rect">
            <a:avLst/>
          </a:prstGeom>
        </p:spPr>
        <p:txBody>
          <a:bodyPr vert="horz" lIns="91440" tIns="45720" rIns="91440" bIns="45720" rtlCol="0" anchor="ctr"/>
          <a:lstStyle>
            <a:lvl1pPr algn="l" fontAlgn="auto">
              <a:spcBef>
                <a:spcPts val="0"/>
              </a:spcBef>
              <a:spcAft>
                <a:spcPts val="0"/>
              </a:spcAft>
              <a:defRPr sz="1200">
                <a:solidFill>
                  <a:schemeClr val="tx1">
                    <a:tint val="75000"/>
                  </a:schemeClr>
                </a:solidFill>
                <a:latin typeface="+mn-lt"/>
                <a:cs typeface="+mn-cs"/>
              </a:defRPr>
            </a:lvl1pPr>
          </a:lstStyle>
          <a:p>
            <a:pPr>
              <a:defRPr/>
            </a:pPr>
            <a:r>
              <a:rPr lang="en-US"/>
              <a:t>Chapter 1_The essential SW requirement - BAYHV</a:t>
            </a: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fontAlgn="auto">
              <a:spcBef>
                <a:spcPts val="0"/>
              </a:spcBef>
              <a:spcAft>
                <a:spcPts val="0"/>
              </a:spcAft>
              <a:defRPr sz="1200">
                <a:solidFill>
                  <a:schemeClr val="tx1">
                    <a:tint val="75000"/>
                  </a:schemeClr>
                </a:solidFill>
                <a:latin typeface="+mn-lt"/>
                <a:cs typeface="+mn-cs"/>
              </a:defRPr>
            </a:lvl1pPr>
          </a:lstStyle>
          <a:p>
            <a:pPr>
              <a:defRPr/>
            </a:pPr>
            <a:fld id="{7AF7AF65-4B18-4BB1-B100-2EF3CDE78246}" type="slidenum">
              <a:rPr lang="en-US"/>
              <a:pPr>
                <a:defRPr/>
              </a:pPr>
              <a:t>‹#›</a:t>
            </a:fld>
            <a:endParaRPr lang="en-US" dirty="0"/>
          </a:p>
        </p:txBody>
      </p:sp>
      <p:pic>
        <p:nvPicPr>
          <p:cNvPr id="7" name="Picture 2"/>
          <p:cNvPicPr>
            <a:picLocks noChangeAspect="1" noChangeArrowheads="1"/>
          </p:cNvPicPr>
          <p:nvPr userDrawn="1"/>
        </p:nvPicPr>
        <p:blipFill>
          <a:blip r:embed="rId7" cstate="print">
            <a:extLst>
              <a:ext uri="{28A0092B-C50C-407E-A947-70E740481C1C}">
                <a14:useLocalDpi xmlns:a14="http://schemas.microsoft.com/office/drawing/2010/main" val="0"/>
              </a:ext>
            </a:extLst>
          </a:blip>
          <a:srcRect/>
          <a:stretch>
            <a:fillRect/>
          </a:stretch>
        </p:blipFill>
        <p:spPr bwMode="auto">
          <a:xfrm>
            <a:off x="0" y="19222"/>
            <a:ext cx="2559370" cy="76239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cxnSp>
        <p:nvCxnSpPr>
          <p:cNvPr id="3" name="Straight Connector 2"/>
          <p:cNvCxnSpPr/>
          <p:nvPr userDrawn="1"/>
        </p:nvCxnSpPr>
        <p:spPr>
          <a:xfrm>
            <a:off x="0" y="1066800"/>
            <a:ext cx="9144000"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55449935"/>
      </p:ext>
    </p:extLst>
  </p:cSld>
  <p:clrMap bg1="lt1" tx1="dk1" bg2="lt2" tx2="dk2" accent1="accent1" accent2="accent2" accent3="accent3" accent4="accent4" accent5="accent5" accent6="accent6" hlink="hlink" folHlink="folHlink"/>
  <p:sldLayoutIdLst>
    <p:sldLayoutId id="2147483677" r:id="rId1"/>
    <p:sldLayoutId id="2147483678" r:id="rId2"/>
    <p:sldLayoutId id="2147483679" r:id="rId3"/>
    <p:sldLayoutId id="2147483680" r:id="rId4"/>
    <p:sldLayoutId id="2147483681" r:id="rId5"/>
  </p:sldLayoutIdLst>
  <p:transition>
    <p:split orient="vert"/>
  </p:transition>
  <p:hf hdr="0" dt="0"/>
  <p:txStyles>
    <p:titleStyle>
      <a:lvl1pPr algn="r" rtl="0" eaLnBrk="0" fontAlgn="base" hangingPunct="0">
        <a:spcBef>
          <a:spcPct val="0"/>
        </a:spcBef>
        <a:spcAft>
          <a:spcPct val="0"/>
        </a:spcAft>
        <a:defRPr sz="3200" b="1" kern="1200">
          <a:solidFill>
            <a:srgbClr val="0000FF"/>
          </a:solidFill>
          <a:latin typeface="+mn-lt"/>
          <a:ea typeface="+mj-ea"/>
          <a:cs typeface="Tahoma" pitchFamily="34" charset="0"/>
        </a:defRPr>
      </a:lvl1pPr>
      <a:lvl2pPr algn="r" rtl="0" eaLnBrk="0" fontAlgn="base" hangingPunct="0">
        <a:spcBef>
          <a:spcPct val="0"/>
        </a:spcBef>
        <a:spcAft>
          <a:spcPct val="0"/>
        </a:spcAft>
        <a:defRPr sz="4400">
          <a:solidFill>
            <a:srgbClr val="00B0F0"/>
          </a:solidFill>
          <a:latin typeface="Calibri" pitchFamily="34" charset="0"/>
        </a:defRPr>
      </a:lvl2pPr>
      <a:lvl3pPr algn="r" rtl="0" eaLnBrk="0" fontAlgn="base" hangingPunct="0">
        <a:spcBef>
          <a:spcPct val="0"/>
        </a:spcBef>
        <a:spcAft>
          <a:spcPct val="0"/>
        </a:spcAft>
        <a:defRPr sz="4400">
          <a:solidFill>
            <a:srgbClr val="00B0F0"/>
          </a:solidFill>
          <a:latin typeface="Calibri" pitchFamily="34" charset="0"/>
        </a:defRPr>
      </a:lvl3pPr>
      <a:lvl4pPr algn="r" rtl="0" eaLnBrk="0" fontAlgn="base" hangingPunct="0">
        <a:spcBef>
          <a:spcPct val="0"/>
        </a:spcBef>
        <a:spcAft>
          <a:spcPct val="0"/>
        </a:spcAft>
        <a:defRPr sz="4400">
          <a:solidFill>
            <a:srgbClr val="00B0F0"/>
          </a:solidFill>
          <a:latin typeface="Calibri" pitchFamily="34" charset="0"/>
        </a:defRPr>
      </a:lvl4pPr>
      <a:lvl5pPr algn="r" rtl="0" eaLnBrk="0" fontAlgn="base" hangingPunct="0">
        <a:spcBef>
          <a:spcPct val="0"/>
        </a:spcBef>
        <a:spcAft>
          <a:spcPct val="0"/>
        </a:spcAft>
        <a:defRPr sz="4400">
          <a:solidFill>
            <a:srgbClr val="00B0F0"/>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Blip>
          <a:blip r:embed="rId8"/>
        </a:buBlip>
        <a:defRPr sz="3200" kern="1200">
          <a:solidFill>
            <a:schemeClr val="tx1"/>
          </a:solidFill>
          <a:latin typeface="+mn-lt"/>
          <a:ea typeface="+mn-ea"/>
          <a:cs typeface="Tahoma" pitchFamily="34" charset="0"/>
        </a:defRPr>
      </a:lvl1pPr>
      <a:lvl2pPr marL="742950" indent="-285750" algn="l" rtl="0" eaLnBrk="0" fontAlgn="base" hangingPunct="0">
        <a:spcBef>
          <a:spcPct val="20000"/>
        </a:spcBef>
        <a:spcAft>
          <a:spcPct val="0"/>
        </a:spcAft>
        <a:buBlip>
          <a:blip r:embed="rId9"/>
        </a:buBlip>
        <a:defRPr sz="2800" kern="1200">
          <a:solidFill>
            <a:schemeClr val="tx1">
              <a:lumMod val="95000"/>
              <a:lumOff val="5000"/>
            </a:schemeClr>
          </a:solidFill>
          <a:latin typeface="+mn-lt"/>
          <a:ea typeface="+mn-ea"/>
          <a:cs typeface="Tahoma" pitchFamily="34" charset="0"/>
        </a:defRPr>
      </a:lvl2pPr>
      <a:lvl3pPr marL="1143000" indent="-228600" algn="l" rtl="0" eaLnBrk="0" fontAlgn="base" hangingPunct="0">
        <a:spcBef>
          <a:spcPct val="20000"/>
        </a:spcBef>
        <a:spcAft>
          <a:spcPct val="0"/>
        </a:spcAft>
        <a:buBlip>
          <a:blip r:embed="rId10"/>
        </a:buBlip>
        <a:defRPr sz="2400" kern="1200">
          <a:solidFill>
            <a:schemeClr val="tx1">
              <a:lumMod val="95000"/>
              <a:lumOff val="5000"/>
            </a:schemeClr>
          </a:solidFill>
          <a:latin typeface="+mn-lt"/>
          <a:ea typeface="+mn-ea"/>
          <a:cs typeface="Tahoma" pitchFamily="34" charset="0"/>
        </a:defRPr>
      </a:lvl3pPr>
      <a:lvl4pPr marL="1600200" indent="-228600" algn="l" rtl="0" eaLnBrk="0" fontAlgn="base" hangingPunct="0">
        <a:spcBef>
          <a:spcPct val="20000"/>
        </a:spcBef>
        <a:spcAft>
          <a:spcPct val="0"/>
        </a:spcAft>
        <a:buFont typeface="Arial" charset="0"/>
        <a:buChar char="–"/>
        <a:defRPr sz="2000" kern="1200">
          <a:solidFill>
            <a:schemeClr val="tx1">
              <a:lumMod val="95000"/>
              <a:lumOff val="5000"/>
            </a:schemeClr>
          </a:solidFill>
          <a:latin typeface="+mn-lt"/>
          <a:ea typeface="+mn-ea"/>
          <a:cs typeface="Tahoma" pitchFamily="34" charset="0"/>
        </a:defRPr>
      </a:lvl4pPr>
      <a:lvl5pPr marL="2057400" indent="-228600" algn="l" rtl="0" eaLnBrk="0" fontAlgn="base" hangingPunct="0">
        <a:spcBef>
          <a:spcPct val="20000"/>
        </a:spcBef>
        <a:spcAft>
          <a:spcPct val="0"/>
        </a:spcAft>
        <a:buFont typeface="Arial" charset="0"/>
        <a:buChar char="»"/>
        <a:defRPr sz="2000" kern="1200">
          <a:solidFill>
            <a:schemeClr val="tx1">
              <a:lumMod val="95000"/>
              <a:lumOff val="5000"/>
            </a:schemeClr>
          </a:solidFill>
          <a:latin typeface="+mn-lt"/>
          <a:ea typeface="+mn-ea"/>
          <a:cs typeface="Tahoma"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4.gif"/><Relationship Id="rId5" Type="http://schemas.openxmlformats.org/officeDocument/2006/relationships/image" Target="../media/image3.gif"/><Relationship Id="rId4" Type="http://schemas.openxmlformats.org/officeDocument/2006/relationships/image" Target="../media/image2.gif"/></Relationships>
</file>

<file path=ppt/slides/_rels/slide10.xml.rels><?xml version="1.0" encoding="UTF-8" standalone="yes"?>
<Relationships xmlns="http://schemas.openxmlformats.org/package/2006/relationships"><Relationship Id="rId3" Type="http://schemas.openxmlformats.org/officeDocument/2006/relationships/image" Target="../media/image2.gif"/><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4.gif"/><Relationship Id="rId4" Type="http://schemas.openxmlformats.org/officeDocument/2006/relationships/image" Target="../media/image3.gif"/></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8.emf"/><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630083" y="2981085"/>
            <a:ext cx="4950338" cy="2237873"/>
          </a:xfrm>
        </p:spPr>
        <p:txBody>
          <a:bodyPr>
            <a:normAutofit/>
          </a:bodyPr>
          <a:lstStyle/>
          <a:p>
            <a:pPr algn="ctr"/>
            <a:r>
              <a:rPr lang="en-US" dirty="0"/>
              <a:t>CHAPTER 1</a:t>
            </a:r>
            <a:br>
              <a:rPr lang="en-US" dirty="0"/>
            </a:br>
            <a:r>
              <a:rPr lang="en-US" dirty="0"/>
              <a:t>The essential of software requirement </a:t>
            </a:r>
            <a:endParaRPr lang="en-US" sz="3000" i="1" dirty="0"/>
          </a:p>
        </p:txBody>
      </p:sp>
    </p:spTree>
    <p:extLst>
      <p:ext uri="{BB962C8B-B14F-4D97-AF65-F5344CB8AC3E}">
        <p14:creationId xmlns:p14="http://schemas.microsoft.com/office/powerpoint/2010/main" val="3937451464"/>
      </p:ext>
    </p:extLst>
  </p:cSld>
  <p:clrMapOvr>
    <a:masterClrMapping/>
  </p:clrMapOvr>
  <p:transition>
    <p:split orient="vert"/>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Objectives</a:t>
            </a:r>
          </a:p>
        </p:txBody>
      </p:sp>
      <p:sp>
        <p:nvSpPr>
          <p:cNvPr id="3" name="Content Placeholder 2"/>
          <p:cNvSpPr>
            <a:spLocks noGrp="1"/>
          </p:cNvSpPr>
          <p:nvPr>
            <p:ph idx="1"/>
          </p:nvPr>
        </p:nvSpPr>
        <p:spPr>
          <a:xfrm>
            <a:off x="166255" y="1222513"/>
            <a:ext cx="8811490" cy="5117962"/>
          </a:xfrm>
        </p:spPr>
        <p:txBody>
          <a:bodyPr/>
          <a:lstStyle/>
          <a:p>
            <a:r>
              <a:rPr lang="en-US" dirty="0"/>
              <a:t>Understand some key terms used in the software requirements domain. </a:t>
            </a:r>
          </a:p>
          <a:p>
            <a:r>
              <a:rPr lang="en-US" dirty="0"/>
              <a:t>Distinguish product requirements from project requirements. </a:t>
            </a:r>
          </a:p>
          <a:p>
            <a:r>
              <a:rPr lang="en-US" dirty="0"/>
              <a:t>Distinguish requirements development from requirements management. </a:t>
            </a:r>
          </a:p>
          <a:p>
            <a:r>
              <a:rPr lang="en-US" dirty="0"/>
              <a:t>Be alert to several requirements-related problems that can arise</a:t>
            </a:r>
          </a:p>
        </p:txBody>
      </p:sp>
      <p:sp>
        <p:nvSpPr>
          <p:cNvPr id="5" name="Slide Number Placeholder 4"/>
          <p:cNvSpPr>
            <a:spLocks noGrp="1"/>
          </p:cNvSpPr>
          <p:nvPr>
            <p:ph type="sldNum" sz="quarter" idx="11"/>
          </p:nvPr>
        </p:nvSpPr>
        <p:spPr/>
        <p:txBody>
          <a:bodyPr/>
          <a:lstStyle/>
          <a:p>
            <a:pPr>
              <a:defRPr/>
            </a:pPr>
            <a:fld id="{38F81FAE-D748-4BFC-A8B0-D2E750E8899F}" type="slidenum">
              <a:rPr lang="en-US" smtClean="0"/>
              <a:pPr>
                <a:defRPr/>
              </a:pPr>
              <a:t>2</a:t>
            </a:fld>
            <a:endParaRPr lang="en-US" dirty="0"/>
          </a:p>
        </p:txBody>
      </p:sp>
    </p:spTree>
    <p:extLst>
      <p:ext uri="{BB962C8B-B14F-4D97-AF65-F5344CB8AC3E}">
        <p14:creationId xmlns:p14="http://schemas.microsoft.com/office/powerpoint/2010/main" val="3643296695"/>
      </p:ext>
    </p:extLst>
  </p:cSld>
  <p:clrMapOvr>
    <a:masterClrMapping/>
  </p:clrMapOvr>
  <p:transition>
    <p:split orient="vert"/>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92756" y="0"/>
            <a:ext cx="6951244" cy="991518"/>
          </a:xfrm>
        </p:spPr>
        <p:txBody>
          <a:bodyPr>
            <a:normAutofit/>
          </a:bodyPr>
          <a:lstStyle/>
          <a:p>
            <a:r>
              <a:rPr lang="en-US" dirty="0"/>
              <a:t>Contents</a:t>
            </a:r>
          </a:p>
        </p:txBody>
      </p:sp>
      <p:sp>
        <p:nvSpPr>
          <p:cNvPr id="3" name="Content Placeholder 2"/>
          <p:cNvSpPr>
            <a:spLocks noGrp="1"/>
          </p:cNvSpPr>
          <p:nvPr>
            <p:ph idx="1"/>
          </p:nvPr>
        </p:nvSpPr>
        <p:spPr>
          <a:xfrm>
            <a:off x="572877" y="1101688"/>
            <a:ext cx="7909385" cy="5058480"/>
          </a:xfrm>
        </p:spPr>
        <p:txBody>
          <a:bodyPr/>
          <a:lstStyle/>
          <a:p>
            <a:pPr marL="342900" indent="-342900">
              <a:buFont typeface="+mj-lt"/>
              <a:buAutoNum type="arabicPeriod"/>
            </a:pPr>
            <a:r>
              <a:rPr lang="en-US" sz="3200" dirty="0"/>
              <a:t>Why is requirement engineering?</a:t>
            </a:r>
          </a:p>
          <a:p>
            <a:pPr marL="342900" indent="-342900">
              <a:buFont typeface="+mj-lt"/>
              <a:buAutoNum type="arabicPeriod"/>
            </a:pPr>
            <a:r>
              <a:rPr lang="en-US" sz="3200" dirty="0"/>
              <a:t>Software requirements defined.</a:t>
            </a:r>
          </a:p>
          <a:p>
            <a:pPr marL="342900" indent="-342900">
              <a:buFont typeface="+mj-lt"/>
              <a:buAutoNum type="arabicPeriod"/>
            </a:pPr>
            <a:r>
              <a:rPr lang="en-US" sz="3200" dirty="0"/>
              <a:t>Requirements development and management.</a:t>
            </a:r>
          </a:p>
          <a:p>
            <a:pPr marL="342900" indent="-342900">
              <a:buFont typeface="+mj-lt"/>
              <a:buAutoNum type="arabicPeriod"/>
            </a:pPr>
            <a:r>
              <a:rPr lang="en-US" sz="3200" dirty="0"/>
              <a:t>When bad requirements happen to good people.</a:t>
            </a:r>
          </a:p>
          <a:p>
            <a:pPr marL="342900" indent="-342900">
              <a:buFont typeface="+mj-lt"/>
              <a:buAutoNum type="arabicPeriod"/>
            </a:pPr>
            <a:r>
              <a:rPr lang="en-US" sz="3200" dirty="0"/>
              <a:t>Benefits from a high-quality requirements process.</a:t>
            </a:r>
          </a:p>
        </p:txBody>
      </p:sp>
      <p:sp>
        <p:nvSpPr>
          <p:cNvPr id="5" name="Slide Number Placeholder 4"/>
          <p:cNvSpPr>
            <a:spLocks noGrp="1"/>
          </p:cNvSpPr>
          <p:nvPr>
            <p:ph type="sldNum" sz="quarter" idx="11"/>
          </p:nvPr>
        </p:nvSpPr>
        <p:spPr/>
        <p:txBody>
          <a:bodyPr/>
          <a:lstStyle/>
          <a:p>
            <a:pPr>
              <a:defRPr/>
            </a:pPr>
            <a:fld id="{38F81FAE-D748-4BFC-A8B0-D2E750E8899F}" type="slidenum">
              <a:rPr lang="en-US" smtClean="0"/>
              <a:pPr>
                <a:defRPr/>
              </a:pPr>
              <a:t>3</a:t>
            </a:fld>
            <a:endParaRPr lang="en-US" dirty="0"/>
          </a:p>
        </p:txBody>
      </p:sp>
    </p:spTree>
    <p:extLst>
      <p:ext uri="{BB962C8B-B14F-4D97-AF65-F5344CB8AC3E}">
        <p14:creationId xmlns:p14="http://schemas.microsoft.com/office/powerpoint/2010/main" val="2067658131"/>
      </p:ext>
    </p:extLst>
  </p:cSld>
  <p:clrMapOvr>
    <a:masterClrMapping/>
  </p:clrMapOvr>
  <p:transition>
    <p:split orient="vert"/>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7"/>
          <p:cNvSpPr txBox="1">
            <a:spLocks noChangeArrowheads="1"/>
          </p:cNvSpPr>
          <p:nvPr/>
        </p:nvSpPr>
        <p:spPr bwMode="auto">
          <a:xfrm>
            <a:off x="421836" y="1734939"/>
            <a:ext cx="4346376" cy="40164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65125" indent="-255588">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620713" indent="-22860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858838" indent="-228600">
              <a:spcBef>
                <a:spcPct val="20000"/>
              </a:spcBef>
              <a:buClr>
                <a:schemeClr val="tx1"/>
              </a:buClr>
              <a:buChar char="•"/>
              <a:defRPr sz="2400">
                <a:solidFill>
                  <a:schemeClr val="tx1"/>
                </a:solidFill>
                <a:latin typeface="Arial" panose="020B0604020202020204" pitchFamily="34" charset="0"/>
              </a:defRPr>
            </a:lvl3pPr>
            <a:lvl4pPr marL="1143000" indent="-228600">
              <a:spcBef>
                <a:spcPct val="20000"/>
              </a:spcBef>
              <a:buChar char="–"/>
              <a:defRPr sz="2000">
                <a:solidFill>
                  <a:schemeClr val="tx1"/>
                </a:solidFill>
                <a:latin typeface="Arial" panose="020B0604020202020204" pitchFamily="34" charset="0"/>
              </a:defRPr>
            </a:lvl4pPr>
            <a:lvl5pPr marL="1371600" indent="-228600">
              <a:spcBef>
                <a:spcPct val="20000"/>
              </a:spcBef>
              <a:buChar char="»"/>
              <a:defRPr sz="2000">
                <a:solidFill>
                  <a:schemeClr val="tx1"/>
                </a:solidFill>
                <a:latin typeface="Arial" panose="020B0604020202020204" pitchFamily="34" charset="0"/>
              </a:defRPr>
            </a:lvl5pPr>
            <a:lvl6pPr marL="18288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2860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27432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2004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ts val="300"/>
              </a:spcBef>
              <a:buClr>
                <a:schemeClr val="accent1"/>
              </a:buClr>
              <a:buSzPct val="68000"/>
            </a:pPr>
            <a:r>
              <a:rPr lang="en-CA" sz="1500" b="1" dirty="0">
                <a:latin typeface="Calibri" panose="020F0502020204030204" pitchFamily="34" charset="0"/>
                <a:ea typeface="Tahoma" panose="020B0604030504040204" pitchFamily="34" charset="0"/>
                <a:cs typeface="Calibri" panose="020F0502020204030204" pitchFamily="34" charset="0"/>
              </a:rPr>
              <a:t>Distribution of Defects</a:t>
            </a:r>
          </a:p>
        </p:txBody>
      </p:sp>
      <p:sp>
        <p:nvSpPr>
          <p:cNvPr id="8196" name="Rectangle 38"/>
          <p:cNvSpPr txBox="1">
            <a:spLocks noChangeArrowheads="1"/>
          </p:cNvSpPr>
          <p:nvPr/>
        </p:nvSpPr>
        <p:spPr bwMode="auto">
          <a:xfrm>
            <a:off x="5337646" y="1792046"/>
            <a:ext cx="3390900" cy="4181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65125" indent="-255588">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620713" indent="-22860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858838" indent="-228600">
              <a:spcBef>
                <a:spcPct val="20000"/>
              </a:spcBef>
              <a:buClr>
                <a:schemeClr val="tx1"/>
              </a:buClr>
              <a:buChar char="•"/>
              <a:defRPr sz="2400">
                <a:solidFill>
                  <a:schemeClr val="tx1"/>
                </a:solidFill>
                <a:latin typeface="Arial" panose="020B0604020202020204" pitchFamily="34" charset="0"/>
              </a:defRPr>
            </a:lvl3pPr>
            <a:lvl4pPr marL="1143000" indent="-228600">
              <a:spcBef>
                <a:spcPct val="20000"/>
              </a:spcBef>
              <a:buChar char="–"/>
              <a:defRPr sz="2000">
                <a:solidFill>
                  <a:schemeClr val="tx1"/>
                </a:solidFill>
                <a:latin typeface="Arial" panose="020B0604020202020204" pitchFamily="34" charset="0"/>
              </a:defRPr>
            </a:lvl4pPr>
            <a:lvl5pPr marL="1371600" indent="-228600">
              <a:spcBef>
                <a:spcPct val="20000"/>
              </a:spcBef>
              <a:buChar char="»"/>
              <a:defRPr sz="2000">
                <a:solidFill>
                  <a:schemeClr val="tx1"/>
                </a:solidFill>
                <a:latin typeface="Arial" panose="020B0604020202020204" pitchFamily="34" charset="0"/>
              </a:defRPr>
            </a:lvl5pPr>
            <a:lvl6pPr marL="18288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2860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27432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2004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ts val="300"/>
              </a:spcBef>
              <a:buClr>
                <a:schemeClr val="accent1"/>
              </a:buClr>
              <a:buSzPct val="68000"/>
              <a:buFont typeface="Wingdings 3" panose="05040102010807070707" pitchFamily="18" charset="2"/>
              <a:buChar char=""/>
            </a:pPr>
            <a:r>
              <a:rPr lang="en-CA" sz="1350" b="1" dirty="0"/>
              <a:t>Distribution of Effort to Fix Defects</a:t>
            </a:r>
          </a:p>
        </p:txBody>
      </p:sp>
      <p:grpSp>
        <p:nvGrpSpPr>
          <p:cNvPr id="8197" name="Group 39"/>
          <p:cNvGrpSpPr>
            <a:grpSpLocks/>
          </p:cNvGrpSpPr>
          <p:nvPr/>
        </p:nvGrpSpPr>
        <p:grpSpPr bwMode="auto">
          <a:xfrm>
            <a:off x="654595" y="2655961"/>
            <a:ext cx="3155292" cy="2521125"/>
            <a:chOff x="611" y="1820"/>
            <a:chExt cx="2138" cy="1708"/>
          </a:xfrm>
        </p:grpSpPr>
        <p:grpSp>
          <p:nvGrpSpPr>
            <p:cNvPr id="8213" name="Group 6"/>
            <p:cNvGrpSpPr>
              <a:grpSpLocks/>
            </p:cNvGrpSpPr>
            <p:nvPr/>
          </p:nvGrpSpPr>
          <p:grpSpPr bwMode="auto">
            <a:xfrm>
              <a:off x="624" y="2147"/>
              <a:ext cx="2125" cy="1069"/>
              <a:chOff x="863" y="1569"/>
              <a:chExt cx="2774" cy="971"/>
            </a:xfrm>
          </p:grpSpPr>
          <p:sp>
            <p:nvSpPr>
              <p:cNvPr id="8218" name="Freeform 7"/>
              <p:cNvSpPr>
                <a:spLocks/>
              </p:cNvSpPr>
              <p:nvPr/>
            </p:nvSpPr>
            <p:spPr bwMode="auto">
              <a:xfrm>
                <a:off x="2316" y="1593"/>
                <a:ext cx="468" cy="569"/>
              </a:xfrm>
              <a:custGeom>
                <a:avLst/>
                <a:gdLst>
                  <a:gd name="T0" fmla="*/ 0 w 468"/>
                  <a:gd name="T1" fmla="*/ 264 h 569"/>
                  <a:gd name="T2" fmla="*/ 468 w 468"/>
                  <a:gd name="T3" fmla="*/ 0 h 569"/>
                  <a:gd name="T4" fmla="*/ 468 w 468"/>
                  <a:gd name="T5" fmla="*/ 306 h 569"/>
                  <a:gd name="T6" fmla="*/ 0 w 468"/>
                  <a:gd name="T7" fmla="*/ 569 h 569"/>
                  <a:gd name="T8" fmla="*/ 0 w 468"/>
                  <a:gd name="T9" fmla="*/ 264 h 56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68" h="569">
                    <a:moveTo>
                      <a:pt x="0" y="264"/>
                    </a:moveTo>
                    <a:lnTo>
                      <a:pt x="468" y="0"/>
                    </a:lnTo>
                    <a:lnTo>
                      <a:pt x="468" y="306"/>
                    </a:lnTo>
                    <a:lnTo>
                      <a:pt x="0" y="569"/>
                    </a:lnTo>
                    <a:lnTo>
                      <a:pt x="0" y="264"/>
                    </a:lnTo>
                    <a:close/>
                  </a:path>
                </a:pathLst>
              </a:custGeom>
              <a:solidFill>
                <a:srgbClr val="004000"/>
              </a:solidFill>
              <a:ln w="9525">
                <a:solidFill>
                  <a:srgbClr val="000000"/>
                </a:solidFill>
                <a:prstDash val="solid"/>
                <a:round/>
                <a:headEnd/>
                <a:tailEnd/>
              </a:ln>
            </p:spPr>
            <p:txBody>
              <a:bodyPr/>
              <a:lstStyle/>
              <a:p>
                <a:endParaRPr lang="en-US" sz="1350"/>
              </a:p>
            </p:txBody>
          </p:sp>
          <p:sp>
            <p:nvSpPr>
              <p:cNvPr id="8219" name="Freeform 8"/>
              <p:cNvSpPr>
                <a:spLocks/>
              </p:cNvSpPr>
              <p:nvPr/>
            </p:nvSpPr>
            <p:spPr bwMode="auto">
              <a:xfrm>
                <a:off x="2316" y="1569"/>
                <a:ext cx="468" cy="288"/>
              </a:xfrm>
              <a:custGeom>
                <a:avLst/>
                <a:gdLst>
                  <a:gd name="T0" fmla="*/ 0 w 468"/>
                  <a:gd name="T1" fmla="*/ 0 h 288"/>
                  <a:gd name="T2" fmla="*/ 18 w 468"/>
                  <a:gd name="T3" fmla="*/ 0 h 288"/>
                  <a:gd name="T4" fmla="*/ 36 w 468"/>
                  <a:gd name="T5" fmla="*/ 0 h 288"/>
                  <a:gd name="T6" fmla="*/ 78 w 468"/>
                  <a:gd name="T7" fmla="*/ 0 h 288"/>
                  <a:gd name="T8" fmla="*/ 96 w 468"/>
                  <a:gd name="T9" fmla="*/ 0 h 288"/>
                  <a:gd name="T10" fmla="*/ 114 w 468"/>
                  <a:gd name="T11" fmla="*/ 0 h 288"/>
                  <a:gd name="T12" fmla="*/ 132 w 468"/>
                  <a:gd name="T13" fmla="*/ 0 h 288"/>
                  <a:gd name="T14" fmla="*/ 156 w 468"/>
                  <a:gd name="T15" fmla="*/ 0 h 288"/>
                  <a:gd name="T16" fmla="*/ 192 w 468"/>
                  <a:gd name="T17" fmla="*/ 0 h 288"/>
                  <a:gd name="T18" fmla="*/ 210 w 468"/>
                  <a:gd name="T19" fmla="*/ 6 h 288"/>
                  <a:gd name="T20" fmla="*/ 228 w 468"/>
                  <a:gd name="T21" fmla="*/ 6 h 288"/>
                  <a:gd name="T22" fmla="*/ 252 w 468"/>
                  <a:gd name="T23" fmla="*/ 6 h 288"/>
                  <a:gd name="T24" fmla="*/ 270 w 468"/>
                  <a:gd name="T25" fmla="*/ 6 h 288"/>
                  <a:gd name="T26" fmla="*/ 288 w 468"/>
                  <a:gd name="T27" fmla="*/ 6 h 288"/>
                  <a:gd name="T28" fmla="*/ 324 w 468"/>
                  <a:gd name="T29" fmla="*/ 12 h 288"/>
                  <a:gd name="T30" fmla="*/ 342 w 468"/>
                  <a:gd name="T31" fmla="*/ 12 h 288"/>
                  <a:gd name="T32" fmla="*/ 360 w 468"/>
                  <a:gd name="T33" fmla="*/ 12 h 288"/>
                  <a:gd name="T34" fmla="*/ 378 w 468"/>
                  <a:gd name="T35" fmla="*/ 18 h 288"/>
                  <a:gd name="T36" fmla="*/ 396 w 468"/>
                  <a:gd name="T37" fmla="*/ 18 h 288"/>
                  <a:gd name="T38" fmla="*/ 432 w 468"/>
                  <a:gd name="T39" fmla="*/ 24 h 288"/>
                  <a:gd name="T40" fmla="*/ 450 w 468"/>
                  <a:gd name="T41" fmla="*/ 24 h 288"/>
                  <a:gd name="T42" fmla="*/ 468 w 468"/>
                  <a:gd name="T43" fmla="*/ 24 h 288"/>
                  <a:gd name="T44" fmla="*/ 0 w 468"/>
                  <a:gd name="T45" fmla="*/ 288 h 288"/>
                  <a:gd name="T46" fmla="*/ 0 w 468"/>
                  <a:gd name="T47" fmla="*/ 0 h 28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468" h="288">
                    <a:moveTo>
                      <a:pt x="0" y="0"/>
                    </a:moveTo>
                    <a:lnTo>
                      <a:pt x="18" y="0"/>
                    </a:lnTo>
                    <a:lnTo>
                      <a:pt x="36" y="0"/>
                    </a:lnTo>
                    <a:lnTo>
                      <a:pt x="78" y="0"/>
                    </a:lnTo>
                    <a:lnTo>
                      <a:pt x="96" y="0"/>
                    </a:lnTo>
                    <a:lnTo>
                      <a:pt x="114" y="0"/>
                    </a:lnTo>
                    <a:lnTo>
                      <a:pt x="132" y="0"/>
                    </a:lnTo>
                    <a:lnTo>
                      <a:pt x="156" y="0"/>
                    </a:lnTo>
                    <a:lnTo>
                      <a:pt x="192" y="0"/>
                    </a:lnTo>
                    <a:lnTo>
                      <a:pt x="210" y="6"/>
                    </a:lnTo>
                    <a:lnTo>
                      <a:pt x="228" y="6"/>
                    </a:lnTo>
                    <a:lnTo>
                      <a:pt x="252" y="6"/>
                    </a:lnTo>
                    <a:lnTo>
                      <a:pt x="270" y="6"/>
                    </a:lnTo>
                    <a:lnTo>
                      <a:pt x="288" y="6"/>
                    </a:lnTo>
                    <a:lnTo>
                      <a:pt x="324" y="12"/>
                    </a:lnTo>
                    <a:lnTo>
                      <a:pt x="342" y="12"/>
                    </a:lnTo>
                    <a:lnTo>
                      <a:pt x="360" y="12"/>
                    </a:lnTo>
                    <a:lnTo>
                      <a:pt x="378" y="18"/>
                    </a:lnTo>
                    <a:lnTo>
                      <a:pt x="396" y="18"/>
                    </a:lnTo>
                    <a:lnTo>
                      <a:pt x="432" y="24"/>
                    </a:lnTo>
                    <a:lnTo>
                      <a:pt x="450" y="24"/>
                    </a:lnTo>
                    <a:lnTo>
                      <a:pt x="468" y="24"/>
                    </a:lnTo>
                    <a:lnTo>
                      <a:pt x="0" y="288"/>
                    </a:lnTo>
                    <a:lnTo>
                      <a:pt x="0" y="0"/>
                    </a:lnTo>
                    <a:close/>
                  </a:path>
                </a:pathLst>
              </a:custGeom>
              <a:solidFill>
                <a:srgbClr val="008000"/>
              </a:solidFill>
              <a:ln w="9525">
                <a:solidFill>
                  <a:srgbClr val="000000"/>
                </a:solidFill>
                <a:prstDash val="solid"/>
                <a:round/>
                <a:headEnd/>
                <a:tailEnd/>
              </a:ln>
            </p:spPr>
            <p:txBody>
              <a:bodyPr/>
              <a:lstStyle/>
              <a:p>
                <a:endParaRPr lang="en-US" sz="1350"/>
              </a:p>
            </p:txBody>
          </p:sp>
          <p:sp>
            <p:nvSpPr>
              <p:cNvPr id="8220" name="Freeform 9"/>
              <p:cNvSpPr>
                <a:spLocks/>
              </p:cNvSpPr>
              <p:nvPr/>
            </p:nvSpPr>
            <p:spPr bwMode="auto">
              <a:xfrm>
                <a:off x="2448" y="1737"/>
                <a:ext cx="973" cy="443"/>
              </a:xfrm>
              <a:custGeom>
                <a:avLst/>
                <a:gdLst>
                  <a:gd name="T0" fmla="*/ 0 w 973"/>
                  <a:gd name="T1" fmla="*/ 138 h 443"/>
                  <a:gd name="T2" fmla="*/ 973 w 973"/>
                  <a:gd name="T3" fmla="*/ 0 h 443"/>
                  <a:gd name="T4" fmla="*/ 973 w 973"/>
                  <a:gd name="T5" fmla="*/ 306 h 443"/>
                  <a:gd name="T6" fmla="*/ 0 w 973"/>
                  <a:gd name="T7" fmla="*/ 443 h 443"/>
                  <a:gd name="T8" fmla="*/ 0 w 973"/>
                  <a:gd name="T9" fmla="*/ 138 h 44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973" h="443">
                    <a:moveTo>
                      <a:pt x="0" y="138"/>
                    </a:moveTo>
                    <a:lnTo>
                      <a:pt x="973" y="0"/>
                    </a:lnTo>
                    <a:lnTo>
                      <a:pt x="973" y="306"/>
                    </a:lnTo>
                    <a:lnTo>
                      <a:pt x="0" y="443"/>
                    </a:lnTo>
                    <a:lnTo>
                      <a:pt x="0" y="138"/>
                    </a:lnTo>
                    <a:close/>
                  </a:path>
                </a:pathLst>
              </a:custGeom>
              <a:solidFill>
                <a:srgbClr val="80804D"/>
              </a:solidFill>
              <a:ln w="9525">
                <a:solidFill>
                  <a:srgbClr val="000000"/>
                </a:solidFill>
                <a:prstDash val="solid"/>
                <a:round/>
                <a:headEnd/>
                <a:tailEnd/>
              </a:ln>
            </p:spPr>
            <p:txBody>
              <a:bodyPr/>
              <a:lstStyle/>
              <a:p>
                <a:endParaRPr lang="en-US" sz="1350"/>
              </a:p>
            </p:txBody>
          </p:sp>
          <p:sp>
            <p:nvSpPr>
              <p:cNvPr id="8221" name="Freeform 10"/>
              <p:cNvSpPr>
                <a:spLocks/>
              </p:cNvSpPr>
              <p:nvPr/>
            </p:nvSpPr>
            <p:spPr bwMode="auto">
              <a:xfrm>
                <a:off x="2448" y="1611"/>
                <a:ext cx="973" cy="264"/>
              </a:xfrm>
              <a:custGeom>
                <a:avLst/>
                <a:gdLst>
                  <a:gd name="T0" fmla="*/ 468 w 973"/>
                  <a:gd name="T1" fmla="*/ 0 h 264"/>
                  <a:gd name="T2" fmla="*/ 486 w 973"/>
                  <a:gd name="T3" fmla="*/ 6 h 264"/>
                  <a:gd name="T4" fmla="*/ 523 w 973"/>
                  <a:gd name="T5" fmla="*/ 6 h 264"/>
                  <a:gd name="T6" fmla="*/ 541 w 973"/>
                  <a:gd name="T7" fmla="*/ 12 h 264"/>
                  <a:gd name="T8" fmla="*/ 559 w 973"/>
                  <a:gd name="T9" fmla="*/ 12 h 264"/>
                  <a:gd name="T10" fmla="*/ 589 w 973"/>
                  <a:gd name="T11" fmla="*/ 18 h 264"/>
                  <a:gd name="T12" fmla="*/ 607 w 973"/>
                  <a:gd name="T13" fmla="*/ 24 h 264"/>
                  <a:gd name="T14" fmla="*/ 625 w 973"/>
                  <a:gd name="T15" fmla="*/ 24 h 264"/>
                  <a:gd name="T16" fmla="*/ 655 w 973"/>
                  <a:gd name="T17" fmla="*/ 30 h 264"/>
                  <a:gd name="T18" fmla="*/ 673 w 973"/>
                  <a:gd name="T19" fmla="*/ 36 h 264"/>
                  <a:gd name="T20" fmla="*/ 685 w 973"/>
                  <a:gd name="T21" fmla="*/ 36 h 264"/>
                  <a:gd name="T22" fmla="*/ 715 w 973"/>
                  <a:gd name="T23" fmla="*/ 42 h 264"/>
                  <a:gd name="T24" fmla="*/ 733 w 973"/>
                  <a:gd name="T25" fmla="*/ 48 h 264"/>
                  <a:gd name="T26" fmla="*/ 745 w 973"/>
                  <a:gd name="T27" fmla="*/ 48 h 264"/>
                  <a:gd name="T28" fmla="*/ 775 w 973"/>
                  <a:gd name="T29" fmla="*/ 54 h 264"/>
                  <a:gd name="T30" fmla="*/ 787 w 973"/>
                  <a:gd name="T31" fmla="*/ 60 h 264"/>
                  <a:gd name="T32" fmla="*/ 805 w 973"/>
                  <a:gd name="T33" fmla="*/ 66 h 264"/>
                  <a:gd name="T34" fmla="*/ 829 w 973"/>
                  <a:gd name="T35" fmla="*/ 72 h 264"/>
                  <a:gd name="T36" fmla="*/ 841 w 973"/>
                  <a:gd name="T37" fmla="*/ 72 h 264"/>
                  <a:gd name="T38" fmla="*/ 853 w 973"/>
                  <a:gd name="T39" fmla="*/ 78 h 264"/>
                  <a:gd name="T40" fmla="*/ 877 w 973"/>
                  <a:gd name="T41" fmla="*/ 84 h 264"/>
                  <a:gd name="T42" fmla="*/ 889 w 973"/>
                  <a:gd name="T43" fmla="*/ 90 h 264"/>
                  <a:gd name="T44" fmla="*/ 901 w 973"/>
                  <a:gd name="T45" fmla="*/ 96 h 264"/>
                  <a:gd name="T46" fmla="*/ 925 w 973"/>
                  <a:gd name="T47" fmla="*/ 102 h 264"/>
                  <a:gd name="T48" fmla="*/ 937 w 973"/>
                  <a:gd name="T49" fmla="*/ 108 h 264"/>
                  <a:gd name="T50" fmla="*/ 943 w 973"/>
                  <a:gd name="T51" fmla="*/ 114 h 264"/>
                  <a:gd name="T52" fmla="*/ 967 w 973"/>
                  <a:gd name="T53" fmla="*/ 120 h 264"/>
                  <a:gd name="T54" fmla="*/ 973 w 973"/>
                  <a:gd name="T55" fmla="*/ 126 h 264"/>
                  <a:gd name="T56" fmla="*/ 0 w 973"/>
                  <a:gd name="T57" fmla="*/ 264 h 264"/>
                  <a:gd name="T58" fmla="*/ 468 w 973"/>
                  <a:gd name="T59" fmla="*/ 0 h 264"/>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0" t="0" r="r" b="b"/>
                <a:pathLst>
                  <a:path w="973" h="264">
                    <a:moveTo>
                      <a:pt x="468" y="0"/>
                    </a:moveTo>
                    <a:lnTo>
                      <a:pt x="486" y="6"/>
                    </a:lnTo>
                    <a:lnTo>
                      <a:pt x="523" y="6"/>
                    </a:lnTo>
                    <a:lnTo>
                      <a:pt x="541" y="12"/>
                    </a:lnTo>
                    <a:lnTo>
                      <a:pt x="559" y="12"/>
                    </a:lnTo>
                    <a:lnTo>
                      <a:pt x="589" y="18"/>
                    </a:lnTo>
                    <a:lnTo>
                      <a:pt x="607" y="24"/>
                    </a:lnTo>
                    <a:lnTo>
                      <a:pt x="625" y="24"/>
                    </a:lnTo>
                    <a:lnTo>
                      <a:pt x="655" y="30"/>
                    </a:lnTo>
                    <a:lnTo>
                      <a:pt x="673" y="36"/>
                    </a:lnTo>
                    <a:lnTo>
                      <a:pt x="685" y="36"/>
                    </a:lnTo>
                    <a:lnTo>
                      <a:pt x="715" y="42"/>
                    </a:lnTo>
                    <a:lnTo>
                      <a:pt x="733" y="48"/>
                    </a:lnTo>
                    <a:lnTo>
                      <a:pt x="745" y="48"/>
                    </a:lnTo>
                    <a:lnTo>
                      <a:pt x="775" y="54"/>
                    </a:lnTo>
                    <a:lnTo>
                      <a:pt x="787" y="60"/>
                    </a:lnTo>
                    <a:lnTo>
                      <a:pt x="805" y="66"/>
                    </a:lnTo>
                    <a:lnTo>
                      <a:pt x="829" y="72"/>
                    </a:lnTo>
                    <a:lnTo>
                      <a:pt x="841" y="72"/>
                    </a:lnTo>
                    <a:lnTo>
                      <a:pt x="853" y="78"/>
                    </a:lnTo>
                    <a:lnTo>
                      <a:pt x="877" y="84"/>
                    </a:lnTo>
                    <a:lnTo>
                      <a:pt x="889" y="90"/>
                    </a:lnTo>
                    <a:lnTo>
                      <a:pt x="901" y="96"/>
                    </a:lnTo>
                    <a:lnTo>
                      <a:pt x="925" y="102"/>
                    </a:lnTo>
                    <a:lnTo>
                      <a:pt x="937" y="108"/>
                    </a:lnTo>
                    <a:lnTo>
                      <a:pt x="943" y="114"/>
                    </a:lnTo>
                    <a:lnTo>
                      <a:pt x="967" y="120"/>
                    </a:lnTo>
                    <a:lnTo>
                      <a:pt x="973" y="126"/>
                    </a:lnTo>
                    <a:lnTo>
                      <a:pt x="0" y="264"/>
                    </a:lnTo>
                    <a:lnTo>
                      <a:pt x="468" y="0"/>
                    </a:lnTo>
                    <a:close/>
                  </a:path>
                </a:pathLst>
              </a:custGeom>
              <a:solidFill>
                <a:srgbClr val="FFFF99"/>
              </a:solidFill>
              <a:ln w="9525">
                <a:solidFill>
                  <a:srgbClr val="000000"/>
                </a:solidFill>
                <a:prstDash val="solid"/>
                <a:round/>
                <a:headEnd/>
                <a:tailEnd/>
              </a:ln>
            </p:spPr>
            <p:txBody>
              <a:bodyPr/>
              <a:lstStyle/>
              <a:p>
                <a:endParaRPr lang="en-US" sz="1350"/>
              </a:p>
            </p:txBody>
          </p:sp>
          <p:sp>
            <p:nvSpPr>
              <p:cNvPr id="8222" name="Freeform 11"/>
              <p:cNvSpPr>
                <a:spLocks/>
              </p:cNvSpPr>
              <p:nvPr/>
            </p:nvSpPr>
            <p:spPr bwMode="auto">
              <a:xfrm>
                <a:off x="2934" y="1953"/>
                <a:ext cx="703" cy="575"/>
              </a:xfrm>
              <a:custGeom>
                <a:avLst/>
                <a:gdLst>
                  <a:gd name="T0" fmla="*/ 703 w 703"/>
                  <a:gd name="T1" fmla="*/ 6 h 575"/>
                  <a:gd name="T2" fmla="*/ 697 w 703"/>
                  <a:gd name="T3" fmla="*/ 24 h 575"/>
                  <a:gd name="T4" fmla="*/ 691 w 703"/>
                  <a:gd name="T5" fmla="*/ 36 h 575"/>
                  <a:gd name="T6" fmla="*/ 685 w 703"/>
                  <a:gd name="T7" fmla="*/ 48 h 575"/>
                  <a:gd name="T8" fmla="*/ 679 w 703"/>
                  <a:gd name="T9" fmla="*/ 60 h 575"/>
                  <a:gd name="T10" fmla="*/ 661 w 703"/>
                  <a:gd name="T11" fmla="*/ 78 h 575"/>
                  <a:gd name="T12" fmla="*/ 655 w 703"/>
                  <a:gd name="T13" fmla="*/ 84 h 575"/>
                  <a:gd name="T14" fmla="*/ 637 w 703"/>
                  <a:gd name="T15" fmla="*/ 102 h 575"/>
                  <a:gd name="T16" fmla="*/ 613 w 703"/>
                  <a:gd name="T17" fmla="*/ 114 h 575"/>
                  <a:gd name="T18" fmla="*/ 595 w 703"/>
                  <a:gd name="T19" fmla="*/ 126 h 575"/>
                  <a:gd name="T20" fmla="*/ 571 w 703"/>
                  <a:gd name="T21" fmla="*/ 138 h 575"/>
                  <a:gd name="T22" fmla="*/ 541 w 703"/>
                  <a:gd name="T23" fmla="*/ 150 h 575"/>
                  <a:gd name="T24" fmla="*/ 523 w 703"/>
                  <a:gd name="T25" fmla="*/ 162 h 575"/>
                  <a:gd name="T26" fmla="*/ 487 w 703"/>
                  <a:gd name="T27" fmla="*/ 173 h 575"/>
                  <a:gd name="T28" fmla="*/ 451 w 703"/>
                  <a:gd name="T29" fmla="*/ 185 h 575"/>
                  <a:gd name="T30" fmla="*/ 427 w 703"/>
                  <a:gd name="T31" fmla="*/ 191 h 575"/>
                  <a:gd name="T32" fmla="*/ 391 w 703"/>
                  <a:gd name="T33" fmla="*/ 203 h 575"/>
                  <a:gd name="T34" fmla="*/ 349 w 703"/>
                  <a:gd name="T35" fmla="*/ 215 h 575"/>
                  <a:gd name="T36" fmla="*/ 319 w 703"/>
                  <a:gd name="T37" fmla="*/ 221 h 575"/>
                  <a:gd name="T38" fmla="*/ 271 w 703"/>
                  <a:gd name="T39" fmla="*/ 227 h 575"/>
                  <a:gd name="T40" fmla="*/ 223 w 703"/>
                  <a:gd name="T41" fmla="*/ 239 h 575"/>
                  <a:gd name="T42" fmla="*/ 193 w 703"/>
                  <a:gd name="T43" fmla="*/ 245 h 575"/>
                  <a:gd name="T44" fmla="*/ 145 w 703"/>
                  <a:gd name="T45" fmla="*/ 251 h 575"/>
                  <a:gd name="T46" fmla="*/ 91 w 703"/>
                  <a:gd name="T47" fmla="*/ 257 h 575"/>
                  <a:gd name="T48" fmla="*/ 55 w 703"/>
                  <a:gd name="T49" fmla="*/ 263 h 575"/>
                  <a:gd name="T50" fmla="*/ 0 w 703"/>
                  <a:gd name="T51" fmla="*/ 269 h 575"/>
                  <a:gd name="T52" fmla="*/ 19 w 703"/>
                  <a:gd name="T53" fmla="*/ 575 h 575"/>
                  <a:gd name="T54" fmla="*/ 73 w 703"/>
                  <a:gd name="T55" fmla="*/ 569 h 575"/>
                  <a:gd name="T56" fmla="*/ 127 w 703"/>
                  <a:gd name="T57" fmla="*/ 563 h 575"/>
                  <a:gd name="T58" fmla="*/ 163 w 703"/>
                  <a:gd name="T59" fmla="*/ 557 h 575"/>
                  <a:gd name="T60" fmla="*/ 211 w 703"/>
                  <a:gd name="T61" fmla="*/ 545 h 575"/>
                  <a:gd name="T62" fmla="*/ 259 w 703"/>
                  <a:gd name="T63" fmla="*/ 539 h 575"/>
                  <a:gd name="T64" fmla="*/ 289 w 703"/>
                  <a:gd name="T65" fmla="*/ 533 h 575"/>
                  <a:gd name="T66" fmla="*/ 331 w 703"/>
                  <a:gd name="T67" fmla="*/ 521 h 575"/>
                  <a:gd name="T68" fmla="*/ 373 w 703"/>
                  <a:gd name="T69" fmla="*/ 515 h 575"/>
                  <a:gd name="T70" fmla="*/ 403 w 703"/>
                  <a:gd name="T71" fmla="*/ 503 h 575"/>
                  <a:gd name="T72" fmla="*/ 439 w 703"/>
                  <a:gd name="T73" fmla="*/ 491 h 575"/>
                  <a:gd name="T74" fmla="*/ 475 w 703"/>
                  <a:gd name="T75" fmla="*/ 479 h 575"/>
                  <a:gd name="T76" fmla="*/ 499 w 703"/>
                  <a:gd name="T77" fmla="*/ 473 h 575"/>
                  <a:gd name="T78" fmla="*/ 529 w 703"/>
                  <a:gd name="T79" fmla="*/ 461 h 575"/>
                  <a:gd name="T80" fmla="*/ 559 w 703"/>
                  <a:gd name="T81" fmla="*/ 449 h 575"/>
                  <a:gd name="T82" fmla="*/ 577 w 703"/>
                  <a:gd name="T83" fmla="*/ 437 h 575"/>
                  <a:gd name="T84" fmla="*/ 607 w 703"/>
                  <a:gd name="T85" fmla="*/ 425 h 575"/>
                  <a:gd name="T86" fmla="*/ 625 w 703"/>
                  <a:gd name="T87" fmla="*/ 413 h 575"/>
                  <a:gd name="T88" fmla="*/ 643 w 703"/>
                  <a:gd name="T89" fmla="*/ 401 h 575"/>
                  <a:gd name="T90" fmla="*/ 661 w 703"/>
                  <a:gd name="T91" fmla="*/ 389 h 575"/>
                  <a:gd name="T92" fmla="*/ 673 w 703"/>
                  <a:gd name="T93" fmla="*/ 371 h 575"/>
                  <a:gd name="T94" fmla="*/ 679 w 703"/>
                  <a:gd name="T95" fmla="*/ 365 h 575"/>
                  <a:gd name="T96" fmla="*/ 691 w 703"/>
                  <a:gd name="T97" fmla="*/ 347 h 575"/>
                  <a:gd name="T98" fmla="*/ 697 w 703"/>
                  <a:gd name="T99" fmla="*/ 329 h 575"/>
                  <a:gd name="T100" fmla="*/ 697 w 703"/>
                  <a:gd name="T101" fmla="*/ 323 h 575"/>
                  <a:gd name="T102" fmla="*/ 703 w 703"/>
                  <a:gd name="T103" fmla="*/ 305 h 575"/>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0" t="0" r="r" b="b"/>
                <a:pathLst>
                  <a:path w="703" h="575">
                    <a:moveTo>
                      <a:pt x="703" y="0"/>
                    </a:moveTo>
                    <a:lnTo>
                      <a:pt x="703" y="6"/>
                    </a:lnTo>
                    <a:lnTo>
                      <a:pt x="697" y="18"/>
                    </a:lnTo>
                    <a:lnTo>
                      <a:pt x="697" y="24"/>
                    </a:lnTo>
                    <a:lnTo>
                      <a:pt x="691" y="36"/>
                    </a:lnTo>
                    <a:lnTo>
                      <a:pt x="691" y="42"/>
                    </a:lnTo>
                    <a:lnTo>
                      <a:pt x="685" y="48"/>
                    </a:lnTo>
                    <a:lnTo>
                      <a:pt x="679" y="60"/>
                    </a:lnTo>
                    <a:lnTo>
                      <a:pt x="673" y="66"/>
                    </a:lnTo>
                    <a:lnTo>
                      <a:pt x="661" y="78"/>
                    </a:lnTo>
                    <a:lnTo>
                      <a:pt x="661" y="84"/>
                    </a:lnTo>
                    <a:lnTo>
                      <a:pt x="655" y="84"/>
                    </a:lnTo>
                    <a:lnTo>
                      <a:pt x="643" y="96"/>
                    </a:lnTo>
                    <a:lnTo>
                      <a:pt x="637" y="102"/>
                    </a:lnTo>
                    <a:lnTo>
                      <a:pt x="625" y="108"/>
                    </a:lnTo>
                    <a:lnTo>
                      <a:pt x="613" y="114"/>
                    </a:lnTo>
                    <a:lnTo>
                      <a:pt x="607" y="120"/>
                    </a:lnTo>
                    <a:lnTo>
                      <a:pt x="595" y="126"/>
                    </a:lnTo>
                    <a:lnTo>
                      <a:pt x="577" y="132"/>
                    </a:lnTo>
                    <a:lnTo>
                      <a:pt x="571" y="138"/>
                    </a:lnTo>
                    <a:lnTo>
                      <a:pt x="559" y="144"/>
                    </a:lnTo>
                    <a:lnTo>
                      <a:pt x="541" y="150"/>
                    </a:lnTo>
                    <a:lnTo>
                      <a:pt x="529" y="156"/>
                    </a:lnTo>
                    <a:lnTo>
                      <a:pt x="523" y="162"/>
                    </a:lnTo>
                    <a:lnTo>
                      <a:pt x="499" y="167"/>
                    </a:lnTo>
                    <a:lnTo>
                      <a:pt x="487" y="173"/>
                    </a:lnTo>
                    <a:lnTo>
                      <a:pt x="475" y="173"/>
                    </a:lnTo>
                    <a:lnTo>
                      <a:pt x="451" y="185"/>
                    </a:lnTo>
                    <a:lnTo>
                      <a:pt x="439" y="185"/>
                    </a:lnTo>
                    <a:lnTo>
                      <a:pt x="427" y="191"/>
                    </a:lnTo>
                    <a:lnTo>
                      <a:pt x="403" y="197"/>
                    </a:lnTo>
                    <a:lnTo>
                      <a:pt x="391" y="203"/>
                    </a:lnTo>
                    <a:lnTo>
                      <a:pt x="373" y="209"/>
                    </a:lnTo>
                    <a:lnTo>
                      <a:pt x="349" y="215"/>
                    </a:lnTo>
                    <a:lnTo>
                      <a:pt x="331" y="215"/>
                    </a:lnTo>
                    <a:lnTo>
                      <a:pt x="319" y="221"/>
                    </a:lnTo>
                    <a:lnTo>
                      <a:pt x="289" y="227"/>
                    </a:lnTo>
                    <a:lnTo>
                      <a:pt x="271" y="227"/>
                    </a:lnTo>
                    <a:lnTo>
                      <a:pt x="259" y="233"/>
                    </a:lnTo>
                    <a:lnTo>
                      <a:pt x="223" y="239"/>
                    </a:lnTo>
                    <a:lnTo>
                      <a:pt x="211" y="239"/>
                    </a:lnTo>
                    <a:lnTo>
                      <a:pt x="193" y="245"/>
                    </a:lnTo>
                    <a:lnTo>
                      <a:pt x="163" y="251"/>
                    </a:lnTo>
                    <a:lnTo>
                      <a:pt x="145" y="251"/>
                    </a:lnTo>
                    <a:lnTo>
                      <a:pt x="127" y="257"/>
                    </a:lnTo>
                    <a:lnTo>
                      <a:pt x="91" y="257"/>
                    </a:lnTo>
                    <a:lnTo>
                      <a:pt x="73" y="263"/>
                    </a:lnTo>
                    <a:lnTo>
                      <a:pt x="55" y="263"/>
                    </a:lnTo>
                    <a:lnTo>
                      <a:pt x="19" y="269"/>
                    </a:lnTo>
                    <a:lnTo>
                      <a:pt x="0" y="269"/>
                    </a:lnTo>
                    <a:lnTo>
                      <a:pt x="0" y="575"/>
                    </a:lnTo>
                    <a:lnTo>
                      <a:pt x="19" y="575"/>
                    </a:lnTo>
                    <a:lnTo>
                      <a:pt x="55" y="569"/>
                    </a:lnTo>
                    <a:lnTo>
                      <a:pt x="73" y="569"/>
                    </a:lnTo>
                    <a:lnTo>
                      <a:pt x="91" y="563"/>
                    </a:lnTo>
                    <a:lnTo>
                      <a:pt x="127" y="563"/>
                    </a:lnTo>
                    <a:lnTo>
                      <a:pt x="145" y="557"/>
                    </a:lnTo>
                    <a:lnTo>
                      <a:pt x="163" y="557"/>
                    </a:lnTo>
                    <a:lnTo>
                      <a:pt x="193" y="551"/>
                    </a:lnTo>
                    <a:lnTo>
                      <a:pt x="211" y="545"/>
                    </a:lnTo>
                    <a:lnTo>
                      <a:pt x="223" y="545"/>
                    </a:lnTo>
                    <a:lnTo>
                      <a:pt x="259" y="539"/>
                    </a:lnTo>
                    <a:lnTo>
                      <a:pt x="271" y="533"/>
                    </a:lnTo>
                    <a:lnTo>
                      <a:pt x="289" y="533"/>
                    </a:lnTo>
                    <a:lnTo>
                      <a:pt x="319" y="527"/>
                    </a:lnTo>
                    <a:lnTo>
                      <a:pt x="331" y="521"/>
                    </a:lnTo>
                    <a:lnTo>
                      <a:pt x="349" y="521"/>
                    </a:lnTo>
                    <a:lnTo>
                      <a:pt x="373" y="515"/>
                    </a:lnTo>
                    <a:lnTo>
                      <a:pt x="391" y="509"/>
                    </a:lnTo>
                    <a:lnTo>
                      <a:pt x="403" y="503"/>
                    </a:lnTo>
                    <a:lnTo>
                      <a:pt x="427" y="497"/>
                    </a:lnTo>
                    <a:lnTo>
                      <a:pt x="439" y="491"/>
                    </a:lnTo>
                    <a:lnTo>
                      <a:pt x="451" y="491"/>
                    </a:lnTo>
                    <a:lnTo>
                      <a:pt x="475" y="479"/>
                    </a:lnTo>
                    <a:lnTo>
                      <a:pt x="487" y="479"/>
                    </a:lnTo>
                    <a:lnTo>
                      <a:pt x="499" y="473"/>
                    </a:lnTo>
                    <a:lnTo>
                      <a:pt x="523" y="467"/>
                    </a:lnTo>
                    <a:lnTo>
                      <a:pt x="529" y="461"/>
                    </a:lnTo>
                    <a:lnTo>
                      <a:pt x="541" y="455"/>
                    </a:lnTo>
                    <a:lnTo>
                      <a:pt x="559" y="449"/>
                    </a:lnTo>
                    <a:lnTo>
                      <a:pt x="571" y="443"/>
                    </a:lnTo>
                    <a:lnTo>
                      <a:pt x="577" y="437"/>
                    </a:lnTo>
                    <a:lnTo>
                      <a:pt x="595" y="431"/>
                    </a:lnTo>
                    <a:lnTo>
                      <a:pt x="607" y="425"/>
                    </a:lnTo>
                    <a:lnTo>
                      <a:pt x="613" y="419"/>
                    </a:lnTo>
                    <a:lnTo>
                      <a:pt x="625" y="413"/>
                    </a:lnTo>
                    <a:lnTo>
                      <a:pt x="637" y="407"/>
                    </a:lnTo>
                    <a:lnTo>
                      <a:pt x="643" y="401"/>
                    </a:lnTo>
                    <a:lnTo>
                      <a:pt x="655" y="389"/>
                    </a:lnTo>
                    <a:lnTo>
                      <a:pt x="661" y="389"/>
                    </a:lnTo>
                    <a:lnTo>
                      <a:pt x="661" y="383"/>
                    </a:lnTo>
                    <a:lnTo>
                      <a:pt x="673" y="371"/>
                    </a:lnTo>
                    <a:lnTo>
                      <a:pt x="679" y="365"/>
                    </a:lnTo>
                    <a:lnTo>
                      <a:pt x="685" y="353"/>
                    </a:lnTo>
                    <a:lnTo>
                      <a:pt x="691" y="347"/>
                    </a:lnTo>
                    <a:lnTo>
                      <a:pt x="691" y="341"/>
                    </a:lnTo>
                    <a:lnTo>
                      <a:pt x="697" y="329"/>
                    </a:lnTo>
                    <a:lnTo>
                      <a:pt x="697" y="323"/>
                    </a:lnTo>
                    <a:lnTo>
                      <a:pt x="703" y="311"/>
                    </a:lnTo>
                    <a:lnTo>
                      <a:pt x="703" y="305"/>
                    </a:lnTo>
                    <a:lnTo>
                      <a:pt x="703" y="0"/>
                    </a:lnTo>
                    <a:close/>
                  </a:path>
                </a:pathLst>
              </a:custGeom>
              <a:solidFill>
                <a:srgbClr val="1A1A4D"/>
              </a:solidFill>
              <a:ln w="9525">
                <a:solidFill>
                  <a:srgbClr val="000000"/>
                </a:solidFill>
                <a:prstDash val="solid"/>
                <a:round/>
                <a:headEnd/>
                <a:tailEnd/>
              </a:ln>
            </p:spPr>
            <p:txBody>
              <a:bodyPr/>
              <a:lstStyle/>
              <a:p>
                <a:endParaRPr lang="en-US" sz="1350"/>
              </a:p>
            </p:txBody>
          </p:sp>
          <p:sp>
            <p:nvSpPr>
              <p:cNvPr id="8223" name="Freeform 12"/>
              <p:cNvSpPr>
                <a:spLocks/>
              </p:cNvSpPr>
              <p:nvPr/>
            </p:nvSpPr>
            <p:spPr bwMode="auto">
              <a:xfrm>
                <a:off x="2520" y="1953"/>
                <a:ext cx="414" cy="575"/>
              </a:xfrm>
              <a:custGeom>
                <a:avLst/>
                <a:gdLst>
                  <a:gd name="T0" fmla="*/ 0 w 414"/>
                  <a:gd name="T1" fmla="*/ 0 h 575"/>
                  <a:gd name="T2" fmla="*/ 414 w 414"/>
                  <a:gd name="T3" fmla="*/ 269 h 575"/>
                  <a:gd name="T4" fmla="*/ 414 w 414"/>
                  <a:gd name="T5" fmla="*/ 575 h 575"/>
                  <a:gd name="T6" fmla="*/ 0 w 414"/>
                  <a:gd name="T7" fmla="*/ 305 h 575"/>
                  <a:gd name="T8" fmla="*/ 0 w 414"/>
                  <a:gd name="T9" fmla="*/ 0 h 57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14" h="575">
                    <a:moveTo>
                      <a:pt x="0" y="0"/>
                    </a:moveTo>
                    <a:lnTo>
                      <a:pt x="414" y="269"/>
                    </a:lnTo>
                    <a:lnTo>
                      <a:pt x="414" y="575"/>
                    </a:lnTo>
                    <a:lnTo>
                      <a:pt x="0" y="305"/>
                    </a:lnTo>
                    <a:lnTo>
                      <a:pt x="0" y="0"/>
                    </a:lnTo>
                    <a:close/>
                  </a:path>
                </a:pathLst>
              </a:custGeom>
              <a:solidFill>
                <a:srgbClr val="1A1A4D"/>
              </a:solidFill>
              <a:ln w="9525">
                <a:solidFill>
                  <a:srgbClr val="000000"/>
                </a:solidFill>
                <a:prstDash val="solid"/>
                <a:round/>
                <a:headEnd/>
                <a:tailEnd/>
              </a:ln>
            </p:spPr>
            <p:txBody>
              <a:bodyPr/>
              <a:lstStyle/>
              <a:p>
                <a:endParaRPr lang="en-US" sz="1350"/>
              </a:p>
            </p:txBody>
          </p:sp>
          <p:sp>
            <p:nvSpPr>
              <p:cNvPr id="8224" name="Freeform 13"/>
              <p:cNvSpPr>
                <a:spLocks/>
              </p:cNvSpPr>
              <p:nvPr/>
            </p:nvSpPr>
            <p:spPr bwMode="auto">
              <a:xfrm>
                <a:off x="2520" y="1815"/>
                <a:ext cx="1117" cy="407"/>
              </a:xfrm>
              <a:custGeom>
                <a:avLst/>
                <a:gdLst>
                  <a:gd name="T0" fmla="*/ 985 w 1117"/>
                  <a:gd name="T1" fmla="*/ 0 h 407"/>
                  <a:gd name="T2" fmla="*/ 1009 w 1117"/>
                  <a:gd name="T3" fmla="*/ 18 h 407"/>
                  <a:gd name="T4" fmla="*/ 1027 w 1117"/>
                  <a:gd name="T5" fmla="*/ 24 h 407"/>
                  <a:gd name="T6" fmla="*/ 1051 w 1117"/>
                  <a:gd name="T7" fmla="*/ 42 h 407"/>
                  <a:gd name="T8" fmla="*/ 1069 w 1117"/>
                  <a:gd name="T9" fmla="*/ 54 h 407"/>
                  <a:gd name="T10" fmla="*/ 1075 w 1117"/>
                  <a:gd name="T11" fmla="*/ 66 h 407"/>
                  <a:gd name="T12" fmla="*/ 1093 w 1117"/>
                  <a:gd name="T13" fmla="*/ 78 h 407"/>
                  <a:gd name="T14" fmla="*/ 1099 w 1117"/>
                  <a:gd name="T15" fmla="*/ 90 h 407"/>
                  <a:gd name="T16" fmla="*/ 1105 w 1117"/>
                  <a:gd name="T17" fmla="*/ 102 h 407"/>
                  <a:gd name="T18" fmla="*/ 1111 w 1117"/>
                  <a:gd name="T19" fmla="*/ 120 h 407"/>
                  <a:gd name="T20" fmla="*/ 1117 w 1117"/>
                  <a:gd name="T21" fmla="*/ 132 h 407"/>
                  <a:gd name="T22" fmla="*/ 1117 w 1117"/>
                  <a:gd name="T23" fmla="*/ 144 h 407"/>
                  <a:gd name="T24" fmla="*/ 1111 w 1117"/>
                  <a:gd name="T25" fmla="*/ 156 h 407"/>
                  <a:gd name="T26" fmla="*/ 1111 w 1117"/>
                  <a:gd name="T27" fmla="*/ 168 h 407"/>
                  <a:gd name="T28" fmla="*/ 1099 w 1117"/>
                  <a:gd name="T29" fmla="*/ 186 h 407"/>
                  <a:gd name="T30" fmla="*/ 1093 w 1117"/>
                  <a:gd name="T31" fmla="*/ 198 h 407"/>
                  <a:gd name="T32" fmla="*/ 1081 w 1117"/>
                  <a:gd name="T33" fmla="*/ 210 h 407"/>
                  <a:gd name="T34" fmla="*/ 1075 w 1117"/>
                  <a:gd name="T35" fmla="*/ 222 h 407"/>
                  <a:gd name="T36" fmla="*/ 1057 w 1117"/>
                  <a:gd name="T37" fmla="*/ 234 h 407"/>
                  <a:gd name="T38" fmla="*/ 1039 w 1117"/>
                  <a:gd name="T39" fmla="*/ 246 h 407"/>
                  <a:gd name="T40" fmla="*/ 1021 w 1117"/>
                  <a:gd name="T41" fmla="*/ 258 h 407"/>
                  <a:gd name="T42" fmla="*/ 991 w 1117"/>
                  <a:gd name="T43" fmla="*/ 270 h 407"/>
                  <a:gd name="T44" fmla="*/ 973 w 1117"/>
                  <a:gd name="T45" fmla="*/ 282 h 407"/>
                  <a:gd name="T46" fmla="*/ 943 w 1117"/>
                  <a:gd name="T47" fmla="*/ 294 h 407"/>
                  <a:gd name="T48" fmla="*/ 925 w 1117"/>
                  <a:gd name="T49" fmla="*/ 300 h 407"/>
                  <a:gd name="T50" fmla="*/ 889 w 1117"/>
                  <a:gd name="T51" fmla="*/ 311 h 407"/>
                  <a:gd name="T52" fmla="*/ 853 w 1117"/>
                  <a:gd name="T53" fmla="*/ 323 h 407"/>
                  <a:gd name="T54" fmla="*/ 829 w 1117"/>
                  <a:gd name="T55" fmla="*/ 335 h 407"/>
                  <a:gd name="T56" fmla="*/ 787 w 1117"/>
                  <a:gd name="T57" fmla="*/ 347 h 407"/>
                  <a:gd name="T58" fmla="*/ 763 w 1117"/>
                  <a:gd name="T59" fmla="*/ 353 h 407"/>
                  <a:gd name="T60" fmla="*/ 715 w 1117"/>
                  <a:gd name="T61" fmla="*/ 359 h 407"/>
                  <a:gd name="T62" fmla="*/ 685 w 1117"/>
                  <a:gd name="T63" fmla="*/ 365 h 407"/>
                  <a:gd name="T64" fmla="*/ 637 w 1117"/>
                  <a:gd name="T65" fmla="*/ 377 h 407"/>
                  <a:gd name="T66" fmla="*/ 589 w 1117"/>
                  <a:gd name="T67" fmla="*/ 383 h 407"/>
                  <a:gd name="T68" fmla="*/ 559 w 1117"/>
                  <a:gd name="T69" fmla="*/ 389 h 407"/>
                  <a:gd name="T70" fmla="*/ 505 w 1117"/>
                  <a:gd name="T71" fmla="*/ 395 h 407"/>
                  <a:gd name="T72" fmla="*/ 469 w 1117"/>
                  <a:gd name="T73" fmla="*/ 401 h 407"/>
                  <a:gd name="T74" fmla="*/ 414 w 1117"/>
                  <a:gd name="T75" fmla="*/ 407 h 407"/>
                  <a:gd name="T76" fmla="*/ 973 w 1117"/>
                  <a:gd name="T77" fmla="*/ 0 h 407"/>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0" t="0" r="r" b="b"/>
                <a:pathLst>
                  <a:path w="1117" h="407">
                    <a:moveTo>
                      <a:pt x="973" y="0"/>
                    </a:moveTo>
                    <a:lnTo>
                      <a:pt x="985" y="0"/>
                    </a:lnTo>
                    <a:lnTo>
                      <a:pt x="1003" y="12"/>
                    </a:lnTo>
                    <a:lnTo>
                      <a:pt x="1009" y="18"/>
                    </a:lnTo>
                    <a:lnTo>
                      <a:pt x="1021" y="24"/>
                    </a:lnTo>
                    <a:lnTo>
                      <a:pt x="1027" y="24"/>
                    </a:lnTo>
                    <a:lnTo>
                      <a:pt x="1039" y="36"/>
                    </a:lnTo>
                    <a:lnTo>
                      <a:pt x="1051" y="42"/>
                    </a:lnTo>
                    <a:lnTo>
                      <a:pt x="1057" y="42"/>
                    </a:lnTo>
                    <a:lnTo>
                      <a:pt x="1069" y="54"/>
                    </a:lnTo>
                    <a:lnTo>
                      <a:pt x="1075" y="60"/>
                    </a:lnTo>
                    <a:lnTo>
                      <a:pt x="1075" y="66"/>
                    </a:lnTo>
                    <a:lnTo>
                      <a:pt x="1087" y="72"/>
                    </a:lnTo>
                    <a:lnTo>
                      <a:pt x="1093" y="78"/>
                    </a:lnTo>
                    <a:lnTo>
                      <a:pt x="1093" y="84"/>
                    </a:lnTo>
                    <a:lnTo>
                      <a:pt x="1099" y="90"/>
                    </a:lnTo>
                    <a:lnTo>
                      <a:pt x="1105" y="102"/>
                    </a:lnTo>
                    <a:lnTo>
                      <a:pt x="1111" y="108"/>
                    </a:lnTo>
                    <a:lnTo>
                      <a:pt x="1111" y="120"/>
                    </a:lnTo>
                    <a:lnTo>
                      <a:pt x="1111" y="126"/>
                    </a:lnTo>
                    <a:lnTo>
                      <a:pt x="1117" y="132"/>
                    </a:lnTo>
                    <a:lnTo>
                      <a:pt x="1117" y="144"/>
                    </a:lnTo>
                    <a:lnTo>
                      <a:pt x="1117" y="150"/>
                    </a:lnTo>
                    <a:lnTo>
                      <a:pt x="1111" y="156"/>
                    </a:lnTo>
                    <a:lnTo>
                      <a:pt x="1111" y="162"/>
                    </a:lnTo>
                    <a:lnTo>
                      <a:pt x="1111" y="168"/>
                    </a:lnTo>
                    <a:lnTo>
                      <a:pt x="1105" y="174"/>
                    </a:lnTo>
                    <a:lnTo>
                      <a:pt x="1099" y="186"/>
                    </a:lnTo>
                    <a:lnTo>
                      <a:pt x="1099" y="192"/>
                    </a:lnTo>
                    <a:lnTo>
                      <a:pt x="1093" y="198"/>
                    </a:lnTo>
                    <a:lnTo>
                      <a:pt x="1081" y="210"/>
                    </a:lnTo>
                    <a:lnTo>
                      <a:pt x="1075" y="216"/>
                    </a:lnTo>
                    <a:lnTo>
                      <a:pt x="1075" y="222"/>
                    </a:lnTo>
                    <a:lnTo>
                      <a:pt x="1063" y="228"/>
                    </a:lnTo>
                    <a:lnTo>
                      <a:pt x="1057" y="234"/>
                    </a:lnTo>
                    <a:lnTo>
                      <a:pt x="1051" y="240"/>
                    </a:lnTo>
                    <a:lnTo>
                      <a:pt x="1039" y="246"/>
                    </a:lnTo>
                    <a:lnTo>
                      <a:pt x="1027" y="252"/>
                    </a:lnTo>
                    <a:lnTo>
                      <a:pt x="1021" y="258"/>
                    </a:lnTo>
                    <a:lnTo>
                      <a:pt x="1009" y="264"/>
                    </a:lnTo>
                    <a:lnTo>
                      <a:pt x="991" y="270"/>
                    </a:lnTo>
                    <a:lnTo>
                      <a:pt x="985" y="276"/>
                    </a:lnTo>
                    <a:lnTo>
                      <a:pt x="973" y="282"/>
                    </a:lnTo>
                    <a:lnTo>
                      <a:pt x="967" y="288"/>
                    </a:lnTo>
                    <a:lnTo>
                      <a:pt x="943" y="294"/>
                    </a:lnTo>
                    <a:lnTo>
                      <a:pt x="937" y="300"/>
                    </a:lnTo>
                    <a:lnTo>
                      <a:pt x="925" y="300"/>
                    </a:lnTo>
                    <a:lnTo>
                      <a:pt x="901" y="311"/>
                    </a:lnTo>
                    <a:lnTo>
                      <a:pt x="889" y="311"/>
                    </a:lnTo>
                    <a:lnTo>
                      <a:pt x="877" y="317"/>
                    </a:lnTo>
                    <a:lnTo>
                      <a:pt x="853" y="323"/>
                    </a:lnTo>
                    <a:lnTo>
                      <a:pt x="841" y="329"/>
                    </a:lnTo>
                    <a:lnTo>
                      <a:pt x="829" y="335"/>
                    </a:lnTo>
                    <a:lnTo>
                      <a:pt x="817" y="335"/>
                    </a:lnTo>
                    <a:lnTo>
                      <a:pt x="787" y="347"/>
                    </a:lnTo>
                    <a:lnTo>
                      <a:pt x="775" y="347"/>
                    </a:lnTo>
                    <a:lnTo>
                      <a:pt x="763" y="353"/>
                    </a:lnTo>
                    <a:lnTo>
                      <a:pt x="733" y="359"/>
                    </a:lnTo>
                    <a:lnTo>
                      <a:pt x="715" y="359"/>
                    </a:lnTo>
                    <a:lnTo>
                      <a:pt x="703" y="365"/>
                    </a:lnTo>
                    <a:lnTo>
                      <a:pt x="685" y="365"/>
                    </a:lnTo>
                    <a:lnTo>
                      <a:pt x="655" y="371"/>
                    </a:lnTo>
                    <a:lnTo>
                      <a:pt x="637" y="377"/>
                    </a:lnTo>
                    <a:lnTo>
                      <a:pt x="625" y="377"/>
                    </a:lnTo>
                    <a:lnTo>
                      <a:pt x="589" y="383"/>
                    </a:lnTo>
                    <a:lnTo>
                      <a:pt x="577" y="389"/>
                    </a:lnTo>
                    <a:lnTo>
                      <a:pt x="559" y="389"/>
                    </a:lnTo>
                    <a:lnTo>
                      <a:pt x="523" y="395"/>
                    </a:lnTo>
                    <a:lnTo>
                      <a:pt x="505" y="395"/>
                    </a:lnTo>
                    <a:lnTo>
                      <a:pt x="487" y="401"/>
                    </a:lnTo>
                    <a:lnTo>
                      <a:pt x="469" y="401"/>
                    </a:lnTo>
                    <a:lnTo>
                      <a:pt x="433" y="407"/>
                    </a:lnTo>
                    <a:lnTo>
                      <a:pt x="414" y="407"/>
                    </a:lnTo>
                    <a:lnTo>
                      <a:pt x="0" y="138"/>
                    </a:lnTo>
                    <a:lnTo>
                      <a:pt x="973" y="0"/>
                    </a:lnTo>
                    <a:close/>
                  </a:path>
                </a:pathLst>
              </a:custGeom>
              <a:solidFill>
                <a:srgbClr val="333399"/>
              </a:solidFill>
              <a:ln w="9525">
                <a:solidFill>
                  <a:srgbClr val="000000"/>
                </a:solidFill>
                <a:prstDash val="solid"/>
                <a:round/>
                <a:headEnd/>
                <a:tailEnd/>
              </a:ln>
            </p:spPr>
            <p:txBody>
              <a:bodyPr/>
              <a:lstStyle/>
              <a:p>
                <a:endParaRPr lang="en-US" sz="1350"/>
              </a:p>
            </p:txBody>
          </p:sp>
          <p:sp>
            <p:nvSpPr>
              <p:cNvPr id="8225" name="Freeform 14"/>
              <p:cNvSpPr>
                <a:spLocks/>
              </p:cNvSpPr>
              <p:nvPr/>
            </p:nvSpPr>
            <p:spPr bwMode="auto">
              <a:xfrm>
                <a:off x="863" y="1941"/>
                <a:ext cx="1531" cy="599"/>
              </a:xfrm>
              <a:custGeom>
                <a:avLst/>
                <a:gdLst>
                  <a:gd name="T0" fmla="*/ 1477 w 1531"/>
                  <a:gd name="T1" fmla="*/ 275 h 599"/>
                  <a:gd name="T2" fmla="*/ 1405 w 1531"/>
                  <a:gd name="T3" fmla="*/ 281 h 599"/>
                  <a:gd name="T4" fmla="*/ 1327 w 1531"/>
                  <a:gd name="T5" fmla="*/ 287 h 599"/>
                  <a:gd name="T6" fmla="*/ 1249 w 1531"/>
                  <a:gd name="T7" fmla="*/ 287 h 599"/>
                  <a:gd name="T8" fmla="*/ 1171 w 1531"/>
                  <a:gd name="T9" fmla="*/ 293 h 599"/>
                  <a:gd name="T10" fmla="*/ 1099 w 1531"/>
                  <a:gd name="T11" fmla="*/ 293 h 599"/>
                  <a:gd name="T12" fmla="*/ 1021 w 1531"/>
                  <a:gd name="T13" fmla="*/ 293 h 599"/>
                  <a:gd name="T14" fmla="*/ 943 w 1531"/>
                  <a:gd name="T15" fmla="*/ 287 h 599"/>
                  <a:gd name="T16" fmla="*/ 865 w 1531"/>
                  <a:gd name="T17" fmla="*/ 287 h 599"/>
                  <a:gd name="T18" fmla="*/ 787 w 1531"/>
                  <a:gd name="T19" fmla="*/ 281 h 599"/>
                  <a:gd name="T20" fmla="*/ 715 w 1531"/>
                  <a:gd name="T21" fmla="*/ 275 h 599"/>
                  <a:gd name="T22" fmla="*/ 643 w 1531"/>
                  <a:gd name="T23" fmla="*/ 263 h 599"/>
                  <a:gd name="T24" fmla="*/ 577 w 1531"/>
                  <a:gd name="T25" fmla="*/ 257 h 599"/>
                  <a:gd name="T26" fmla="*/ 505 w 1531"/>
                  <a:gd name="T27" fmla="*/ 245 h 599"/>
                  <a:gd name="T28" fmla="*/ 445 w 1531"/>
                  <a:gd name="T29" fmla="*/ 233 h 599"/>
                  <a:gd name="T30" fmla="*/ 384 w 1531"/>
                  <a:gd name="T31" fmla="*/ 221 h 599"/>
                  <a:gd name="T32" fmla="*/ 324 w 1531"/>
                  <a:gd name="T33" fmla="*/ 209 h 599"/>
                  <a:gd name="T34" fmla="*/ 270 w 1531"/>
                  <a:gd name="T35" fmla="*/ 191 h 599"/>
                  <a:gd name="T36" fmla="*/ 222 w 1531"/>
                  <a:gd name="T37" fmla="*/ 174 h 599"/>
                  <a:gd name="T38" fmla="*/ 180 w 1531"/>
                  <a:gd name="T39" fmla="*/ 162 h 599"/>
                  <a:gd name="T40" fmla="*/ 138 w 1531"/>
                  <a:gd name="T41" fmla="*/ 144 h 599"/>
                  <a:gd name="T42" fmla="*/ 102 w 1531"/>
                  <a:gd name="T43" fmla="*/ 126 h 599"/>
                  <a:gd name="T44" fmla="*/ 72 w 1531"/>
                  <a:gd name="T45" fmla="*/ 108 h 599"/>
                  <a:gd name="T46" fmla="*/ 48 w 1531"/>
                  <a:gd name="T47" fmla="*/ 84 h 599"/>
                  <a:gd name="T48" fmla="*/ 30 w 1531"/>
                  <a:gd name="T49" fmla="*/ 66 h 599"/>
                  <a:gd name="T50" fmla="*/ 12 w 1531"/>
                  <a:gd name="T51" fmla="*/ 48 h 599"/>
                  <a:gd name="T52" fmla="*/ 0 w 1531"/>
                  <a:gd name="T53" fmla="*/ 24 h 599"/>
                  <a:gd name="T54" fmla="*/ 0 w 1531"/>
                  <a:gd name="T55" fmla="*/ 6 h 599"/>
                  <a:gd name="T56" fmla="*/ 0 w 1531"/>
                  <a:gd name="T57" fmla="*/ 311 h 599"/>
                  <a:gd name="T58" fmla="*/ 0 w 1531"/>
                  <a:gd name="T59" fmla="*/ 329 h 599"/>
                  <a:gd name="T60" fmla="*/ 12 w 1531"/>
                  <a:gd name="T61" fmla="*/ 353 h 599"/>
                  <a:gd name="T62" fmla="*/ 30 w 1531"/>
                  <a:gd name="T63" fmla="*/ 371 h 599"/>
                  <a:gd name="T64" fmla="*/ 48 w 1531"/>
                  <a:gd name="T65" fmla="*/ 389 h 599"/>
                  <a:gd name="T66" fmla="*/ 72 w 1531"/>
                  <a:gd name="T67" fmla="*/ 413 h 599"/>
                  <a:gd name="T68" fmla="*/ 102 w 1531"/>
                  <a:gd name="T69" fmla="*/ 431 h 599"/>
                  <a:gd name="T70" fmla="*/ 138 w 1531"/>
                  <a:gd name="T71" fmla="*/ 449 h 599"/>
                  <a:gd name="T72" fmla="*/ 180 w 1531"/>
                  <a:gd name="T73" fmla="*/ 467 h 599"/>
                  <a:gd name="T74" fmla="*/ 222 w 1531"/>
                  <a:gd name="T75" fmla="*/ 479 h 599"/>
                  <a:gd name="T76" fmla="*/ 270 w 1531"/>
                  <a:gd name="T77" fmla="*/ 497 h 599"/>
                  <a:gd name="T78" fmla="*/ 324 w 1531"/>
                  <a:gd name="T79" fmla="*/ 515 h 599"/>
                  <a:gd name="T80" fmla="*/ 384 w 1531"/>
                  <a:gd name="T81" fmla="*/ 527 h 599"/>
                  <a:gd name="T82" fmla="*/ 445 w 1531"/>
                  <a:gd name="T83" fmla="*/ 539 h 599"/>
                  <a:gd name="T84" fmla="*/ 505 w 1531"/>
                  <a:gd name="T85" fmla="*/ 551 h 599"/>
                  <a:gd name="T86" fmla="*/ 577 w 1531"/>
                  <a:gd name="T87" fmla="*/ 563 h 599"/>
                  <a:gd name="T88" fmla="*/ 643 w 1531"/>
                  <a:gd name="T89" fmla="*/ 569 h 599"/>
                  <a:gd name="T90" fmla="*/ 715 w 1531"/>
                  <a:gd name="T91" fmla="*/ 581 h 599"/>
                  <a:gd name="T92" fmla="*/ 787 w 1531"/>
                  <a:gd name="T93" fmla="*/ 587 h 599"/>
                  <a:gd name="T94" fmla="*/ 865 w 1531"/>
                  <a:gd name="T95" fmla="*/ 593 h 599"/>
                  <a:gd name="T96" fmla="*/ 943 w 1531"/>
                  <a:gd name="T97" fmla="*/ 593 h 599"/>
                  <a:gd name="T98" fmla="*/ 1021 w 1531"/>
                  <a:gd name="T99" fmla="*/ 599 h 599"/>
                  <a:gd name="T100" fmla="*/ 1099 w 1531"/>
                  <a:gd name="T101" fmla="*/ 599 h 599"/>
                  <a:gd name="T102" fmla="*/ 1171 w 1531"/>
                  <a:gd name="T103" fmla="*/ 599 h 599"/>
                  <a:gd name="T104" fmla="*/ 1249 w 1531"/>
                  <a:gd name="T105" fmla="*/ 593 h 599"/>
                  <a:gd name="T106" fmla="*/ 1327 w 1531"/>
                  <a:gd name="T107" fmla="*/ 593 h 599"/>
                  <a:gd name="T108" fmla="*/ 1405 w 1531"/>
                  <a:gd name="T109" fmla="*/ 587 h 599"/>
                  <a:gd name="T110" fmla="*/ 1477 w 1531"/>
                  <a:gd name="T111" fmla="*/ 581 h 599"/>
                  <a:gd name="T112" fmla="*/ 1531 w 1531"/>
                  <a:gd name="T113" fmla="*/ 269 h 599"/>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0" t="0" r="r" b="b"/>
                <a:pathLst>
                  <a:path w="1531" h="599">
                    <a:moveTo>
                      <a:pt x="1531" y="269"/>
                    </a:moveTo>
                    <a:lnTo>
                      <a:pt x="1513" y="275"/>
                    </a:lnTo>
                    <a:lnTo>
                      <a:pt x="1477" y="275"/>
                    </a:lnTo>
                    <a:lnTo>
                      <a:pt x="1459" y="275"/>
                    </a:lnTo>
                    <a:lnTo>
                      <a:pt x="1441" y="281"/>
                    </a:lnTo>
                    <a:lnTo>
                      <a:pt x="1405" y="281"/>
                    </a:lnTo>
                    <a:lnTo>
                      <a:pt x="1387" y="281"/>
                    </a:lnTo>
                    <a:lnTo>
                      <a:pt x="1369" y="287"/>
                    </a:lnTo>
                    <a:lnTo>
                      <a:pt x="1327" y="287"/>
                    </a:lnTo>
                    <a:lnTo>
                      <a:pt x="1309" y="287"/>
                    </a:lnTo>
                    <a:lnTo>
                      <a:pt x="1291" y="287"/>
                    </a:lnTo>
                    <a:lnTo>
                      <a:pt x="1249" y="287"/>
                    </a:lnTo>
                    <a:lnTo>
                      <a:pt x="1231" y="287"/>
                    </a:lnTo>
                    <a:lnTo>
                      <a:pt x="1213" y="293"/>
                    </a:lnTo>
                    <a:lnTo>
                      <a:pt x="1171" y="293"/>
                    </a:lnTo>
                    <a:lnTo>
                      <a:pt x="1153" y="293"/>
                    </a:lnTo>
                    <a:lnTo>
                      <a:pt x="1135" y="293"/>
                    </a:lnTo>
                    <a:lnTo>
                      <a:pt x="1099" y="293"/>
                    </a:lnTo>
                    <a:lnTo>
                      <a:pt x="1075" y="293"/>
                    </a:lnTo>
                    <a:lnTo>
                      <a:pt x="1057" y="293"/>
                    </a:lnTo>
                    <a:lnTo>
                      <a:pt x="1021" y="293"/>
                    </a:lnTo>
                    <a:lnTo>
                      <a:pt x="997" y="287"/>
                    </a:lnTo>
                    <a:lnTo>
                      <a:pt x="979" y="287"/>
                    </a:lnTo>
                    <a:lnTo>
                      <a:pt x="943" y="287"/>
                    </a:lnTo>
                    <a:lnTo>
                      <a:pt x="919" y="287"/>
                    </a:lnTo>
                    <a:lnTo>
                      <a:pt x="901" y="287"/>
                    </a:lnTo>
                    <a:lnTo>
                      <a:pt x="865" y="287"/>
                    </a:lnTo>
                    <a:lnTo>
                      <a:pt x="847" y="281"/>
                    </a:lnTo>
                    <a:lnTo>
                      <a:pt x="829" y="281"/>
                    </a:lnTo>
                    <a:lnTo>
                      <a:pt x="787" y="281"/>
                    </a:lnTo>
                    <a:lnTo>
                      <a:pt x="769" y="275"/>
                    </a:lnTo>
                    <a:lnTo>
                      <a:pt x="751" y="275"/>
                    </a:lnTo>
                    <a:lnTo>
                      <a:pt x="715" y="275"/>
                    </a:lnTo>
                    <a:lnTo>
                      <a:pt x="697" y="269"/>
                    </a:lnTo>
                    <a:lnTo>
                      <a:pt x="679" y="269"/>
                    </a:lnTo>
                    <a:lnTo>
                      <a:pt x="643" y="263"/>
                    </a:lnTo>
                    <a:lnTo>
                      <a:pt x="625" y="263"/>
                    </a:lnTo>
                    <a:lnTo>
                      <a:pt x="607" y="257"/>
                    </a:lnTo>
                    <a:lnTo>
                      <a:pt x="577" y="257"/>
                    </a:lnTo>
                    <a:lnTo>
                      <a:pt x="559" y="251"/>
                    </a:lnTo>
                    <a:lnTo>
                      <a:pt x="541" y="251"/>
                    </a:lnTo>
                    <a:lnTo>
                      <a:pt x="505" y="245"/>
                    </a:lnTo>
                    <a:lnTo>
                      <a:pt x="493" y="239"/>
                    </a:lnTo>
                    <a:lnTo>
                      <a:pt x="475" y="239"/>
                    </a:lnTo>
                    <a:lnTo>
                      <a:pt x="445" y="233"/>
                    </a:lnTo>
                    <a:lnTo>
                      <a:pt x="427" y="227"/>
                    </a:lnTo>
                    <a:lnTo>
                      <a:pt x="415" y="227"/>
                    </a:lnTo>
                    <a:lnTo>
                      <a:pt x="384" y="221"/>
                    </a:lnTo>
                    <a:lnTo>
                      <a:pt x="366" y="215"/>
                    </a:lnTo>
                    <a:lnTo>
                      <a:pt x="354" y="215"/>
                    </a:lnTo>
                    <a:lnTo>
                      <a:pt x="324" y="209"/>
                    </a:lnTo>
                    <a:lnTo>
                      <a:pt x="312" y="203"/>
                    </a:lnTo>
                    <a:lnTo>
                      <a:pt x="300" y="197"/>
                    </a:lnTo>
                    <a:lnTo>
                      <a:pt x="270" y="191"/>
                    </a:lnTo>
                    <a:lnTo>
                      <a:pt x="258" y="185"/>
                    </a:lnTo>
                    <a:lnTo>
                      <a:pt x="246" y="185"/>
                    </a:lnTo>
                    <a:lnTo>
                      <a:pt x="222" y="174"/>
                    </a:lnTo>
                    <a:lnTo>
                      <a:pt x="210" y="174"/>
                    </a:lnTo>
                    <a:lnTo>
                      <a:pt x="198" y="168"/>
                    </a:lnTo>
                    <a:lnTo>
                      <a:pt x="180" y="162"/>
                    </a:lnTo>
                    <a:lnTo>
                      <a:pt x="168" y="156"/>
                    </a:lnTo>
                    <a:lnTo>
                      <a:pt x="156" y="150"/>
                    </a:lnTo>
                    <a:lnTo>
                      <a:pt x="138" y="144"/>
                    </a:lnTo>
                    <a:lnTo>
                      <a:pt x="132" y="138"/>
                    </a:lnTo>
                    <a:lnTo>
                      <a:pt x="120" y="132"/>
                    </a:lnTo>
                    <a:lnTo>
                      <a:pt x="102" y="126"/>
                    </a:lnTo>
                    <a:lnTo>
                      <a:pt x="96" y="120"/>
                    </a:lnTo>
                    <a:lnTo>
                      <a:pt x="90" y="114"/>
                    </a:lnTo>
                    <a:lnTo>
                      <a:pt x="72" y="108"/>
                    </a:lnTo>
                    <a:lnTo>
                      <a:pt x="66" y="102"/>
                    </a:lnTo>
                    <a:lnTo>
                      <a:pt x="60" y="96"/>
                    </a:lnTo>
                    <a:lnTo>
                      <a:pt x="48" y="84"/>
                    </a:lnTo>
                    <a:lnTo>
                      <a:pt x="42" y="84"/>
                    </a:lnTo>
                    <a:lnTo>
                      <a:pt x="36" y="78"/>
                    </a:lnTo>
                    <a:lnTo>
                      <a:pt x="30" y="66"/>
                    </a:lnTo>
                    <a:lnTo>
                      <a:pt x="24" y="60"/>
                    </a:lnTo>
                    <a:lnTo>
                      <a:pt x="18" y="60"/>
                    </a:lnTo>
                    <a:lnTo>
                      <a:pt x="12" y="48"/>
                    </a:lnTo>
                    <a:lnTo>
                      <a:pt x="12" y="42"/>
                    </a:lnTo>
                    <a:lnTo>
                      <a:pt x="6" y="36"/>
                    </a:lnTo>
                    <a:lnTo>
                      <a:pt x="0" y="24"/>
                    </a:lnTo>
                    <a:lnTo>
                      <a:pt x="0" y="18"/>
                    </a:lnTo>
                    <a:lnTo>
                      <a:pt x="0" y="6"/>
                    </a:lnTo>
                    <a:lnTo>
                      <a:pt x="0" y="0"/>
                    </a:lnTo>
                    <a:lnTo>
                      <a:pt x="0" y="305"/>
                    </a:lnTo>
                    <a:lnTo>
                      <a:pt x="0" y="311"/>
                    </a:lnTo>
                    <a:lnTo>
                      <a:pt x="0" y="323"/>
                    </a:lnTo>
                    <a:lnTo>
                      <a:pt x="0" y="329"/>
                    </a:lnTo>
                    <a:lnTo>
                      <a:pt x="6" y="341"/>
                    </a:lnTo>
                    <a:lnTo>
                      <a:pt x="12" y="347"/>
                    </a:lnTo>
                    <a:lnTo>
                      <a:pt x="12" y="353"/>
                    </a:lnTo>
                    <a:lnTo>
                      <a:pt x="18" y="365"/>
                    </a:lnTo>
                    <a:lnTo>
                      <a:pt x="24" y="365"/>
                    </a:lnTo>
                    <a:lnTo>
                      <a:pt x="30" y="371"/>
                    </a:lnTo>
                    <a:lnTo>
                      <a:pt x="36" y="383"/>
                    </a:lnTo>
                    <a:lnTo>
                      <a:pt x="42" y="389"/>
                    </a:lnTo>
                    <a:lnTo>
                      <a:pt x="48" y="389"/>
                    </a:lnTo>
                    <a:lnTo>
                      <a:pt x="60" y="401"/>
                    </a:lnTo>
                    <a:lnTo>
                      <a:pt x="66" y="407"/>
                    </a:lnTo>
                    <a:lnTo>
                      <a:pt x="72" y="413"/>
                    </a:lnTo>
                    <a:lnTo>
                      <a:pt x="90" y="419"/>
                    </a:lnTo>
                    <a:lnTo>
                      <a:pt x="96" y="425"/>
                    </a:lnTo>
                    <a:lnTo>
                      <a:pt x="102" y="431"/>
                    </a:lnTo>
                    <a:lnTo>
                      <a:pt x="120" y="437"/>
                    </a:lnTo>
                    <a:lnTo>
                      <a:pt x="132" y="443"/>
                    </a:lnTo>
                    <a:lnTo>
                      <a:pt x="138" y="449"/>
                    </a:lnTo>
                    <a:lnTo>
                      <a:pt x="156" y="455"/>
                    </a:lnTo>
                    <a:lnTo>
                      <a:pt x="168" y="461"/>
                    </a:lnTo>
                    <a:lnTo>
                      <a:pt x="180" y="467"/>
                    </a:lnTo>
                    <a:lnTo>
                      <a:pt x="198" y="473"/>
                    </a:lnTo>
                    <a:lnTo>
                      <a:pt x="210" y="479"/>
                    </a:lnTo>
                    <a:lnTo>
                      <a:pt x="222" y="479"/>
                    </a:lnTo>
                    <a:lnTo>
                      <a:pt x="246" y="491"/>
                    </a:lnTo>
                    <a:lnTo>
                      <a:pt x="258" y="491"/>
                    </a:lnTo>
                    <a:lnTo>
                      <a:pt x="270" y="497"/>
                    </a:lnTo>
                    <a:lnTo>
                      <a:pt x="300" y="503"/>
                    </a:lnTo>
                    <a:lnTo>
                      <a:pt x="312" y="509"/>
                    </a:lnTo>
                    <a:lnTo>
                      <a:pt x="324" y="515"/>
                    </a:lnTo>
                    <a:lnTo>
                      <a:pt x="354" y="521"/>
                    </a:lnTo>
                    <a:lnTo>
                      <a:pt x="366" y="521"/>
                    </a:lnTo>
                    <a:lnTo>
                      <a:pt x="384" y="527"/>
                    </a:lnTo>
                    <a:lnTo>
                      <a:pt x="415" y="533"/>
                    </a:lnTo>
                    <a:lnTo>
                      <a:pt x="427" y="533"/>
                    </a:lnTo>
                    <a:lnTo>
                      <a:pt x="445" y="539"/>
                    </a:lnTo>
                    <a:lnTo>
                      <a:pt x="475" y="545"/>
                    </a:lnTo>
                    <a:lnTo>
                      <a:pt x="493" y="545"/>
                    </a:lnTo>
                    <a:lnTo>
                      <a:pt x="505" y="551"/>
                    </a:lnTo>
                    <a:lnTo>
                      <a:pt x="541" y="557"/>
                    </a:lnTo>
                    <a:lnTo>
                      <a:pt x="559" y="557"/>
                    </a:lnTo>
                    <a:lnTo>
                      <a:pt x="577" y="563"/>
                    </a:lnTo>
                    <a:lnTo>
                      <a:pt x="607" y="563"/>
                    </a:lnTo>
                    <a:lnTo>
                      <a:pt x="625" y="569"/>
                    </a:lnTo>
                    <a:lnTo>
                      <a:pt x="643" y="569"/>
                    </a:lnTo>
                    <a:lnTo>
                      <a:pt x="679" y="575"/>
                    </a:lnTo>
                    <a:lnTo>
                      <a:pt x="697" y="575"/>
                    </a:lnTo>
                    <a:lnTo>
                      <a:pt x="715" y="581"/>
                    </a:lnTo>
                    <a:lnTo>
                      <a:pt x="751" y="581"/>
                    </a:lnTo>
                    <a:lnTo>
                      <a:pt x="769" y="581"/>
                    </a:lnTo>
                    <a:lnTo>
                      <a:pt x="787" y="587"/>
                    </a:lnTo>
                    <a:lnTo>
                      <a:pt x="829" y="587"/>
                    </a:lnTo>
                    <a:lnTo>
                      <a:pt x="847" y="587"/>
                    </a:lnTo>
                    <a:lnTo>
                      <a:pt x="865" y="593"/>
                    </a:lnTo>
                    <a:lnTo>
                      <a:pt x="901" y="593"/>
                    </a:lnTo>
                    <a:lnTo>
                      <a:pt x="919" y="593"/>
                    </a:lnTo>
                    <a:lnTo>
                      <a:pt x="943" y="593"/>
                    </a:lnTo>
                    <a:lnTo>
                      <a:pt x="979" y="593"/>
                    </a:lnTo>
                    <a:lnTo>
                      <a:pt x="997" y="593"/>
                    </a:lnTo>
                    <a:lnTo>
                      <a:pt x="1021" y="599"/>
                    </a:lnTo>
                    <a:lnTo>
                      <a:pt x="1057" y="599"/>
                    </a:lnTo>
                    <a:lnTo>
                      <a:pt x="1075" y="599"/>
                    </a:lnTo>
                    <a:lnTo>
                      <a:pt x="1099" y="599"/>
                    </a:lnTo>
                    <a:lnTo>
                      <a:pt x="1135" y="599"/>
                    </a:lnTo>
                    <a:lnTo>
                      <a:pt x="1153" y="599"/>
                    </a:lnTo>
                    <a:lnTo>
                      <a:pt x="1171" y="599"/>
                    </a:lnTo>
                    <a:lnTo>
                      <a:pt x="1213" y="599"/>
                    </a:lnTo>
                    <a:lnTo>
                      <a:pt x="1231" y="593"/>
                    </a:lnTo>
                    <a:lnTo>
                      <a:pt x="1249" y="593"/>
                    </a:lnTo>
                    <a:lnTo>
                      <a:pt x="1291" y="593"/>
                    </a:lnTo>
                    <a:lnTo>
                      <a:pt x="1309" y="593"/>
                    </a:lnTo>
                    <a:lnTo>
                      <a:pt x="1327" y="593"/>
                    </a:lnTo>
                    <a:lnTo>
                      <a:pt x="1369" y="593"/>
                    </a:lnTo>
                    <a:lnTo>
                      <a:pt x="1387" y="587"/>
                    </a:lnTo>
                    <a:lnTo>
                      <a:pt x="1405" y="587"/>
                    </a:lnTo>
                    <a:lnTo>
                      <a:pt x="1441" y="587"/>
                    </a:lnTo>
                    <a:lnTo>
                      <a:pt x="1459" y="581"/>
                    </a:lnTo>
                    <a:lnTo>
                      <a:pt x="1477" y="581"/>
                    </a:lnTo>
                    <a:lnTo>
                      <a:pt x="1513" y="581"/>
                    </a:lnTo>
                    <a:lnTo>
                      <a:pt x="1531" y="575"/>
                    </a:lnTo>
                    <a:lnTo>
                      <a:pt x="1531" y="269"/>
                    </a:lnTo>
                    <a:close/>
                  </a:path>
                </a:pathLst>
              </a:custGeom>
              <a:solidFill>
                <a:srgbClr val="800000"/>
              </a:solidFill>
              <a:ln w="9525">
                <a:solidFill>
                  <a:srgbClr val="000000"/>
                </a:solidFill>
                <a:prstDash val="solid"/>
                <a:round/>
                <a:headEnd/>
                <a:tailEnd/>
              </a:ln>
            </p:spPr>
            <p:txBody>
              <a:bodyPr/>
              <a:lstStyle/>
              <a:p>
                <a:endParaRPr lang="en-US" sz="1350"/>
              </a:p>
            </p:txBody>
          </p:sp>
          <p:sp>
            <p:nvSpPr>
              <p:cNvPr id="8226" name="Freeform 15"/>
              <p:cNvSpPr>
                <a:spLocks/>
              </p:cNvSpPr>
              <p:nvPr/>
            </p:nvSpPr>
            <p:spPr bwMode="auto">
              <a:xfrm>
                <a:off x="863" y="1653"/>
                <a:ext cx="1531" cy="581"/>
              </a:xfrm>
              <a:custGeom>
                <a:avLst/>
                <a:gdLst>
                  <a:gd name="T0" fmla="*/ 1477 w 1531"/>
                  <a:gd name="T1" fmla="*/ 563 h 581"/>
                  <a:gd name="T2" fmla="*/ 1405 w 1531"/>
                  <a:gd name="T3" fmla="*/ 569 h 581"/>
                  <a:gd name="T4" fmla="*/ 1327 w 1531"/>
                  <a:gd name="T5" fmla="*/ 575 h 581"/>
                  <a:gd name="T6" fmla="*/ 1249 w 1531"/>
                  <a:gd name="T7" fmla="*/ 575 h 581"/>
                  <a:gd name="T8" fmla="*/ 1195 w 1531"/>
                  <a:gd name="T9" fmla="*/ 581 h 581"/>
                  <a:gd name="T10" fmla="*/ 1117 w 1531"/>
                  <a:gd name="T11" fmla="*/ 581 h 581"/>
                  <a:gd name="T12" fmla="*/ 1039 w 1531"/>
                  <a:gd name="T13" fmla="*/ 581 h 581"/>
                  <a:gd name="T14" fmla="*/ 961 w 1531"/>
                  <a:gd name="T15" fmla="*/ 575 h 581"/>
                  <a:gd name="T16" fmla="*/ 883 w 1531"/>
                  <a:gd name="T17" fmla="*/ 575 h 581"/>
                  <a:gd name="T18" fmla="*/ 805 w 1531"/>
                  <a:gd name="T19" fmla="*/ 569 h 581"/>
                  <a:gd name="T20" fmla="*/ 733 w 1531"/>
                  <a:gd name="T21" fmla="*/ 563 h 581"/>
                  <a:gd name="T22" fmla="*/ 661 w 1531"/>
                  <a:gd name="T23" fmla="*/ 557 h 581"/>
                  <a:gd name="T24" fmla="*/ 589 w 1531"/>
                  <a:gd name="T25" fmla="*/ 545 h 581"/>
                  <a:gd name="T26" fmla="*/ 523 w 1531"/>
                  <a:gd name="T27" fmla="*/ 533 h 581"/>
                  <a:gd name="T28" fmla="*/ 457 w 1531"/>
                  <a:gd name="T29" fmla="*/ 521 h 581"/>
                  <a:gd name="T30" fmla="*/ 396 w 1531"/>
                  <a:gd name="T31" fmla="*/ 509 h 581"/>
                  <a:gd name="T32" fmla="*/ 342 w 1531"/>
                  <a:gd name="T33" fmla="*/ 497 h 581"/>
                  <a:gd name="T34" fmla="*/ 288 w 1531"/>
                  <a:gd name="T35" fmla="*/ 485 h 581"/>
                  <a:gd name="T36" fmla="*/ 234 w 1531"/>
                  <a:gd name="T37" fmla="*/ 467 h 581"/>
                  <a:gd name="T38" fmla="*/ 192 w 1531"/>
                  <a:gd name="T39" fmla="*/ 450 h 581"/>
                  <a:gd name="T40" fmla="*/ 150 w 1531"/>
                  <a:gd name="T41" fmla="*/ 438 h 581"/>
                  <a:gd name="T42" fmla="*/ 114 w 1531"/>
                  <a:gd name="T43" fmla="*/ 420 h 581"/>
                  <a:gd name="T44" fmla="*/ 78 w 1531"/>
                  <a:gd name="T45" fmla="*/ 396 h 581"/>
                  <a:gd name="T46" fmla="*/ 54 w 1531"/>
                  <a:gd name="T47" fmla="*/ 378 h 581"/>
                  <a:gd name="T48" fmla="*/ 30 w 1531"/>
                  <a:gd name="T49" fmla="*/ 360 h 581"/>
                  <a:gd name="T50" fmla="*/ 18 w 1531"/>
                  <a:gd name="T51" fmla="*/ 342 h 581"/>
                  <a:gd name="T52" fmla="*/ 6 w 1531"/>
                  <a:gd name="T53" fmla="*/ 318 h 581"/>
                  <a:gd name="T54" fmla="*/ 0 w 1531"/>
                  <a:gd name="T55" fmla="*/ 300 h 581"/>
                  <a:gd name="T56" fmla="*/ 0 w 1531"/>
                  <a:gd name="T57" fmla="*/ 282 h 581"/>
                  <a:gd name="T58" fmla="*/ 6 w 1531"/>
                  <a:gd name="T59" fmla="*/ 258 h 581"/>
                  <a:gd name="T60" fmla="*/ 12 w 1531"/>
                  <a:gd name="T61" fmla="*/ 246 h 581"/>
                  <a:gd name="T62" fmla="*/ 30 w 1531"/>
                  <a:gd name="T63" fmla="*/ 222 h 581"/>
                  <a:gd name="T64" fmla="*/ 48 w 1531"/>
                  <a:gd name="T65" fmla="*/ 204 h 581"/>
                  <a:gd name="T66" fmla="*/ 72 w 1531"/>
                  <a:gd name="T67" fmla="*/ 186 h 581"/>
                  <a:gd name="T68" fmla="*/ 102 w 1531"/>
                  <a:gd name="T69" fmla="*/ 168 h 581"/>
                  <a:gd name="T70" fmla="*/ 138 w 1531"/>
                  <a:gd name="T71" fmla="*/ 150 h 581"/>
                  <a:gd name="T72" fmla="*/ 180 w 1531"/>
                  <a:gd name="T73" fmla="*/ 132 h 581"/>
                  <a:gd name="T74" fmla="*/ 222 w 1531"/>
                  <a:gd name="T75" fmla="*/ 114 h 581"/>
                  <a:gd name="T76" fmla="*/ 270 w 1531"/>
                  <a:gd name="T77" fmla="*/ 96 h 581"/>
                  <a:gd name="T78" fmla="*/ 324 w 1531"/>
                  <a:gd name="T79" fmla="*/ 84 h 581"/>
                  <a:gd name="T80" fmla="*/ 384 w 1531"/>
                  <a:gd name="T81" fmla="*/ 72 h 581"/>
                  <a:gd name="T82" fmla="*/ 445 w 1531"/>
                  <a:gd name="T83" fmla="*/ 60 h 581"/>
                  <a:gd name="T84" fmla="*/ 505 w 1531"/>
                  <a:gd name="T85" fmla="*/ 48 h 581"/>
                  <a:gd name="T86" fmla="*/ 577 w 1531"/>
                  <a:gd name="T87" fmla="*/ 36 h 581"/>
                  <a:gd name="T88" fmla="*/ 643 w 1531"/>
                  <a:gd name="T89" fmla="*/ 24 h 581"/>
                  <a:gd name="T90" fmla="*/ 715 w 1531"/>
                  <a:gd name="T91" fmla="*/ 18 h 581"/>
                  <a:gd name="T92" fmla="*/ 787 w 1531"/>
                  <a:gd name="T93" fmla="*/ 12 h 581"/>
                  <a:gd name="T94" fmla="*/ 865 w 1531"/>
                  <a:gd name="T95" fmla="*/ 6 h 581"/>
                  <a:gd name="T96" fmla="*/ 943 w 1531"/>
                  <a:gd name="T97" fmla="*/ 0 h 581"/>
                  <a:gd name="T98" fmla="*/ 1021 w 1531"/>
                  <a:gd name="T99" fmla="*/ 0 h 581"/>
                  <a:gd name="T100" fmla="*/ 1099 w 1531"/>
                  <a:gd name="T101" fmla="*/ 0 h 581"/>
                  <a:gd name="T102" fmla="*/ 1531 w 1531"/>
                  <a:gd name="T103" fmla="*/ 557 h 581"/>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0" t="0" r="r" b="b"/>
                <a:pathLst>
                  <a:path w="1531" h="581">
                    <a:moveTo>
                      <a:pt x="1531" y="557"/>
                    </a:moveTo>
                    <a:lnTo>
                      <a:pt x="1513" y="563"/>
                    </a:lnTo>
                    <a:lnTo>
                      <a:pt x="1477" y="563"/>
                    </a:lnTo>
                    <a:lnTo>
                      <a:pt x="1459" y="563"/>
                    </a:lnTo>
                    <a:lnTo>
                      <a:pt x="1441" y="569"/>
                    </a:lnTo>
                    <a:lnTo>
                      <a:pt x="1405" y="569"/>
                    </a:lnTo>
                    <a:lnTo>
                      <a:pt x="1387" y="569"/>
                    </a:lnTo>
                    <a:lnTo>
                      <a:pt x="1369" y="575"/>
                    </a:lnTo>
                    <a:lnTo>
                      <a:pt x="1327" y="575"/>
                    </a:lnTo>
                    <a:lnTo>
                      <a:pt x="1309" y="575"/>
                    </a:lnTo>
                    <a:lnTo>
                      <a:pt x="1291" y="575"/>
                    </a:lnTo>
                    <a:lnTo>
                      <a:pt x="1249" y="575"/>
                    </a:lnTo>
                    <a:lnTo>
                      <a:pt x="1231" y="575"/>
                    </a:lnTo>
                    <a:lnTo>
                      <a:pt x="1213" y="581"/>
                    </a:lnTo>
                    <a:lnTo>
                      <a:pt x="1195" y="581"/>
                    </a:lnTo>
                    <a:lnTo>
                      <a:pt x="1153" y="581"/>
                    </a:lnTo>
                    <a:lnTo>
                      <a:pt x="1135" y="581"/>
                    </a:lnTo>
                    <a:lnTo>
                      <a:pt x="1117" y="581"/>
                    </a:lnTo>
                    <a:lnTo>
                      <a:pt x="1075" y="581"/>
                    </a:lnTo>
                    <a:lnTo>
                      <a:pt x="1057" y="581"/>
                    </a:lnTo>
                    <a:lnTo>
                      <a:pt x="1039" y="581"/>
                    </a:lnTo>
                    <a:lnTo>
                      <a:pt x="997" y="575"/>
                    </a:lnTo>
                    <a:lnTo>
                      <a:pt x="979" y="575"/>
                    </a:lnTo>
                    <a:lnTo>
                      <a:pt x="961" y="575"/>
                    </a:lnTo>
                    <a:lnTo>
                      <a:pt x="919" y="575"/>
                    </a:lnTo>
                    <a:lnTo>
                      <a:pt x="901" y="575"/>
                    </a:lnTo>
                    <a:lnTo>
                      <a:pt x="883" y="575"/>
                    </a:lnTo>
                    <a:lnTo>
                      <a:pt x="847" y="569"/>
                    </a:lnTo>
                    <a:lnTo>
                      <a:pt x="829" y="569"/>
                    </a:lnTo>
                    <a:lnTo>
                      <a:pt x="805" y="569"/>
                    </a:lnTo>
                    <a:lnTo>
                      <a:pt x="769" y="563"/>
                    </a:lnTo>
                    <a:lnTo>
                      <a:pt x="751" y="563"/>
                    </a:lnTo>
                    <a:lnTo>
                      <a:pt x="733" y="563"/>
                    </a:lnTo>
                    <a:lnTo>
                      <a:pt x="697" y="557"/>
                    </a:lnTo>
                    <a:lnTo>
                      <a:pt x="679" y="557"/>
                    </a:lnTo>
                    <a:lnTo>
                      <a:pt x="661" y="557"/>
                    </a:lnTo>
                    <a:lnTo>
                      <a:pt x="625" y="551"/>
                    </a:lnTo>
                    <a:lnTo>
                      <a:pt x="607" y="545"/>
                    </a:lnTo>
                    <a:lnTo>
                      <a:pt x="589" y="545"/>
                    </a:lnTo>
                    <a:lnTo>
                      <a:pt x="577" y="545"/>
                    </a:lnTo>
                    <a:lnTo>
                      <a:pt x="541" y="539"/>
                    </a:lnTo>
                    <a:lnTo>
                      <a:pt x="523" y="533"/>
                    </a:lnTo>
                    <a:lnTo>
                      <a:pt x="505" y="533"/>
                    </a:lnTo>
                    <a:lnTo>
                      <a:pt x="475" y="527"/>
                    </a:lnTo>
                    <a:lnTo>
                      <a:pt x="457" y="521"/>
                    </a:lnTo>
                    <a:lnTo>
                      <a:pt x="445" y="521"/>
                    </a:lnTo>
                    <a:lnTo>
                      <a:pt x="415" y="515"/>
                    </a:lnTo>
                    <a:lnTo>
                      <a:pt x="396" y="509"/>
                    </a:lnTo>
                    <a:lnTo>
                      <a:pt x="384" y="509"/>
                    </a:lnTo>
                    <a:lnTo>
                      <a:pt x="354" y="503"/>
                    </a:lnTo>
                    <a:lnTo>
                      <a:pt x="342" y="497"/>
                    </a:lnTo>
                    <a:lnTo>
                      <a:pt x="324" y="497"/>
                    </a:lnTo>
                    <a:lnTo>
                      <a:pt x="300" y="485"/>
                    </a:lnTo>
                    <a:lnTo>
                      <a:pt x="288" y="485"/>
                    </a:lnTo>
                    <a:lnTo>
                      <a:pt x="270" y="479"/>
                    </a:lnTo>
                    <a:lnTo>
                      <a:pt x="246" y="473"/>
                    </a:lnTo>
                    <a:lnTo>
                      <a:pt x="234" y="467"/>
                    </a:lnTo>
                    <a:lnTo>
                      <a:pt x="222" y="462"/>
                    </a:lnTo>
                    <a:lnTo>
                      <a:pt x="198" y="456"/>
                    </a:lnTo>
                    <a:lnTo>
                      <a:pt x="192" y="450"/>
                    </a:lnTo>
                    <a:lnTo>
                      <a:pt x="180" y="450"/>
                    </a:lnTo>
                    <a:lnTo>
                      <a:pt x="156" y="438"/>
                    </a:lnTo>
                    <a:lnTo>
                      <a:pt x="150" y="438"/>
                    </a:lnTo>
                    <a:lnTo>
                      <a:pt x="138" y="432"/>
                    </a:lnTo>
                    <a:lnTo>
                      <a:pt x="132" y="426"/>
                    </a:lnTo>
                    <a:lnTo>
                      <a:pt x="114" y="420"/>
                    </a:lnTo>
                    <a:lnTo>
                      <a:pt x="102" y="414"/>
                    </a:lnTo>
                    <a:lnTo>
                      <a:pt x="96" y="408"/>
                    </a:lnTo>
                    <a:lnTo>
                      <a:pt x="78" y="396"/>
                    </a:lnTo>
                    <a:lnTo>
                      <a:pt x="72" y="396"/>
                    </a:lnTo>
                    <a:lnTo>
                      <a:pt x="66" y="390"/>
                    </a:lnTo>
                    <a:lnTo>
                      <a:pt x="54" y="378"/>
                    </a:lnTo>
                    <a:lnTo>
                      <a:pt x="48" y="372"/>
                    </a:lnTo>
                    <a:lnTo>
                      <a:pt x="42" y="372"/>
                    </a:lnTo>
                    <a:lnTo>
                      <a:pt x="30" y="360"/>
                    </a:lnTo>
                    <a:lnTo>
                      <a:pt x="30" y="354"/>
                    </a:lnTo>
                    <a:lnTo>
                      <a:pt x="24" y="348"/>
                    </a:lnTo>
                    <a:lnTo>
                      <a:pt x="18" y="342"/>
                    </a:lnTo>
                    <a:lnTo>
                      <a:pt x="12" y="336"/>
                    </a:lnTo>
                    <a:lnTo>
                      <a:pt x="12" y="330"/>
                    </a:lnTo>
                    <a:lnTo>
                      <a:pt x="6" y="318"/>
                    </a:lnTo>
                    <a:lnTo>
                      <a:pt x="0" y="312"/>
                    </a:lnTo>
                    <a:lnTo>
                      <a:pt x="0" y="300"/>
                    </a:lnTo>
                    <a:lnTo>
                      <a:pt x="0" y="294"/>
                    </a:lnTo>
                    <a:lnTo>
                      <a:pt x="0" y="288"/>
                    </a:lnTo>
                    <a:lnTo>
                      <a:pt x="0" y="282"/>
                    </a:lnTo>
                    <a:lnTo>
                      <a:pt x="0" y="276"/>
                    </a:lnTo>
                    <a:lnTo>
                      <a:pt x="0" y="270"/>
                    </a:lnTo>
                    <a:lnTo>
                      <a:pt x="6" y="258"/>
                    </a:lnTo>
                    <a:lnTo>
                      <a:pt x="6" y="252"/>
                    </a:lnTo>
                    <a:lnTo>
                      <a:pt x="12" y="252"/>
                    </a:lnTo>
                    <a:lnTo>
                      <a:pt x="12" y="246"/>
                    </a:lnTo>
                    <a:lnTo>
                      <a:pt x="18" y="234"/>
                    </a:lnTo>
                    <a:lnTo>
                      <a:pt x="24" y="228"/>
                    </a:lnTo>
                    <a:lnTo>
                      <a:pt x="30" y="222"/>
                    </a:lnTo>
                    <a:lnTo>
                      <a:pt x="36" y="216"/>
                    </a:lnTo>
                    <a:lnTo>
                      <a:pt x="42" y="210"/>
                    </a:lnTo>
                    <a:lnTo>
                      <a:pt x="48" y="204"/>
                    </a:lnTo>
                    <a:lnTo>
                      <a:pt x="60" y="192"/>
                    </a:lnTo>
                    <a:lnTo>
                      <a:pt x="66" y="192"/>
                    </a:lnTo>
                    <a:lnTo>
                      <a:pt x="72" y="186"/>
                    </a:lnTo>
                    <a:lnTo>
                      <a:pt x="90" y="174"/>
                    </a:lnTo>
                    <a:lnTo>
                      <a:pt x="96" y="174"/>
                    </a:lnTo>
                    <a:lnTo>
                      <a:pt x="102" y="168"/>
                    </a:lnTo>
                    <a:lnTo>
                      <a:pt x="120" y="156"/>
                    </a:lnTo>
                    <a:lnTo>
                      <a:pt x="132" y="150"/>
                    </a:lnTo>
                    <a:lnTo>
                      <a:pt x="138" y="150"/>
                    </a:lnTo>
                    <a:lnTo>
                      <a:pt x="156" y="138"/>
                    </a:lnTo>
                    <a:lnTo>
                      <a:pt x="168" y="138"/>
                    </a:lnTo>
                    <a:lnTo>
                      <a:pt x="180" y="132"/>
                    </a:lnTo>
                    <a:lnTo>
                      <a:pt x="198" y="120"/>
                    </a:lnTo>
                    <a:lnTo>
                      <a:pt x="210" y="120"/>
                    </a:lnTo>
                    <a:lnTo>
                      <a:pt x="222" y="114"/>
                    </a:lnTo>
                    <a:lnTo>
                      <a:pt x="246" y="108"/>
                    </a:lnTo>
                    <a:lnTo>
                      <a:pt x="258" y="102"/>
                    </a:lnTo>
                    <a:lnTo>
                      <a:pt x="270" y="96"/>
                    </a:lnTo>
                    <a:lnTo>
                      <a:pt x="288" y="96"/>
                    </a:lnTo>
                    <a:lnTo>
                      <a:pt x="312" y="90"/>
                    </a:lnTo>
                    <a:lnTo>
                      <a:pt x="324" y="84"/>
                    </a:lnTo>
                    <a:lnTo>
                      <a:pt x="342" y="78"/>
                    </a:lnTo>
                    <a:lnTo>
                      <a:pt x="366" y="72"/>
                    </a:lnTo>
                    <a:lnTo>
                      <a:pt x="384" y="72"/>
                    </a:lnTo>
                    <a:lnTo>
                      <a:pt x="396" y="66"/>
                    </a:lnTo>
                    <a:lnTo>
                      <a:pt x="427" y="60"/>
                    </a:lnTo>
                    <a:lnTo>
                      <a:pt x="445" y="60"/>
                    </a:lnTo>
                    <a:lnTo>
                      <a:pt x="457" y="54"/>
                    </a:lnTo>
                    <a:lnTo>
                      <a:pt x="493" y="48"/>
                    </a:lnTo>
                    <a:lnTo>
                      <a:pt x="505" y="48"/>
                    </a:lnTo>
                    <a:lnTo>
                      <a:pt x="523" y="42"/>
                    </a:lnTo>
                    <a:lnTo>
                      <a:pt x="559" y="36"/>
                    </a:lnTo>
                    <a:lnTo>
                      <a:pt x="577" y="36"/>
                    </a:lnTo>
                    <a:lnTo>
                      <a:pt x="589" y="30"/>
                    </a:lnTo>
                    <a:lnTo>
                      <a:pt x="625" y="30"/>
                    </a:lnTo>
                    <a:lnTo>
                      <a:pt x="643" y="24"/>
                    </a:lnTo>
                    <a:lnTo>
                      <a:pt x="661" y="24"/>
                    </a:lnTo>
                    <a:lnTo>
                      <a:pt x="697" y="18"/>
                    </a:lnTo>
                    <a:lnTo>
                      <a:pt x="715" y="18"/>
                    </a:lnTo>
                    <a:lnTo>
                      <a:pt x="733" y="18"/>
                    </a:lnTo>
                    <a:lnTo>
                      <a:pt x="769" y="12"/>
                    </a:lnTo>
                    <a:lnTo>
                      <a:pt x="787" y="12"/>
                    </a:lnTo>
                    <a:lnTo>
                      <a:pt x="805" y="12"/>
                    </a:lnTo>
                    <a:lnTo>
                      <a:pt x="829" y="6"/>
                    </a:lnTo>
                    <a:lnTo>
                      <a:pt x="865" y="6"/>
                    </a:lnTo>
                    <a:lnTo>
                      <a:pt x="883" y="6"/>
                    </a:lnTo>
                    <a:lnTo>
                      <a:pt x="901" y="6"/>
                    </a:lnTo>
                    <a:lnTo>
                      <a:pt x="943" y="0"/>
                    </a:lnTo>
                    <a:lnTo>
                      <a:pt x="961" y="0"/>
                    </a:lnTo>
                    <a:lnTo>
                      <a:pt x="979" y="0"/>
                    </a:lnTo>
                    <a:lnTo>
                      <a:pt x="1021" y="0"/>
                    </a:lnTo>
                    <a:lnTo>
                      <a:pt x="1039" y="0"/>
                    </a:lnTo>
                    <a:lnTo>
                      <a:pt x="1057" y="0"/>
                    </a:lnTo>
                    <a:lnTo>
                      <a:pt x="1099" y="0"/>
                    </a:lnTo>
                    <a:lnTo>
                      <a:pt x="1117" y="0"/>
                    </a:lnTo>
                    <a:lnTo>
                      <a:pt x="1117" y="288"/>
                    </a:lnTo>
                    <a:lnTo>
                      <a:pt x="1531" y="557"/>
                    </a:lnTo>
                    <a:close/>
                  </a:path>
                </a:pathLst>
              </a:custGeom>
              <a:solidFill>
                <a:srgbClr val="FF0000"/>
              </a:solidFill>
              <a:ln w="9525">
                <a:solidFill>
                  <a:srgbClr val="000000"/>
                </a:solidFill>
                <a:prstDash val="solid"/>
                <a:round/>
                <a:headEnd/>
                <a:tailEnd/>
              </a:ln>
            </p:spPr>
            <p:txBody>
              <a:bodyPr/>
              <a:lstStyle/>
              <a:p>
                <a:endParaRPr lang="en-US" sz="1350"/>
              </a:p>
            </p:txBody>
          </p:sp>
        </p:grpSp>
        <p:sp>
          <p:nvSpPr>
            <p:cNvPr id="8214" name="Rectangle 16"/>
            <p:cNvSpPr>
              <a:spLocks noChangeArrowheads="1"/>
            </p:cNvSpPr>
            <p:nvPr/>
          </p:nvSpPr>
          <p:spPr bwMode="auto">
            <a:xfrm>
              <a:off x="1790" y="1820"/>
              <a:ext cx="280" cy="2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lang="en-US" sz="1350">
                  <a:solidFill>
                    <a:srgbClr val="000000"/>
                  </a:solidFill>
                  <a:latin typeface="Futura Lt BT"/>
                </a:rPr>
                <a:t>Code</a:t>
              </a:r>
            </a:p>
            <a:p>
              <a:pPr algn="ctr">
                <a:spcBef>
                  <a:spcPct val="0"/>
                </a:spcBef>
                <a:buClrTx/>
                <a:buFontTx/>
                <a:buNone/>
              </a:pPr>
              <a:r>
                <a:rPr lang="en-US" sz="1350">
                  <a:solidFill>
                    <a:srgbClr val="000000"/>
                  </a:solidFill>
                  <a:latin typeface="Futura Lt BT"/>
                </a:rPr>
                <a:t>7%</a:t>
              </a:r>
            </a:p>
          </p:txBody>
        </p:sp>
        <p:sp>
          <p:nvSpPr>
            <p:cNvPr id="8215" name="Rectangle 17"/>
            <p:cNvSpPr>
              <a:spLocks noChangeArrowheads="1"/>
            </p:cNvSpPr>
            <p:nvPr/>
          </p:nvSpPr>
          <p:spPr bwMode="auto">
            <a:xfrm>
              <a:off x="2379" y="1992"/>
              <a:ext cx="293" cy="2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lang="en-US" sz="1350">
                  <a:solidFill>
                    <a:srgbClr val="000000"/>
                  </a:solidFill>
                  <a:latin typeface="Futura Lt BT"/>
                </a:rPr>
                <a:t>Other</a:t>
              </a:r>
            </a:p>
            <a:p>
              <a:pPr algn="ctr">
                <a:spcBef>
                  <a:spcPct val="0"/>
                </a:spcBef>
                <a:buClrTx/>
                <a:buFontTx/>
                <a:buNone/>
              </a:pPr>
              <a:r>
                <a:rPr lang="en-US" sz="1350">
                  <a:solidFill>
                    <a:srgbClr val="000000"/>
                  </a:solidFill>
                  <a:latin typeface="Futura Lt BT"/>
                </a:rPr>
                <a:t>10%</a:t>
              </a:r>
            </a:p>
          </p:txBody>
        </p:sp>
        <p:sp>
          <p:nvSpPr>
            <p:cNvPr id="8216" name="Rectangle 18"/>
            <p:cNvSpPr>
              <a:spLocks noChangeArrowheads="1"/>
            </p:cNvSpPr>
            <p:nvPr/>
          </p:nvSpPr>
          <p:spPr bwMode="auto">
            <a:xfrm>
              <a:off x="2272" y="3247"/>
              <a:ext cx="365" cy="2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lang="en-US" sz="1350">
                  <a:solidFill>
                    <a:srgbClr val="000000"/>
                  </a:solidFill>
                  <a:latin typeface="Futura Lt BT"/>
                </a:rPr>
                <a:t>Design</a:t>
              </a:r>
            </a:p>
            <a:p>
              <a:pPr algn="ctr">
                <a:spcBef>
                  <a:spcPct val="0"/>
                </a:spcBef>
                <a:buClrTx/>
                <a:buFontTx/>
                <a:buNone/>
              </a:pPr>
              <a:r>
                <a:rPr lang="en-US" sz="1350">
                  <a:solidFill>
                    <a:srgbClr val="000000"/>
                  </a:solidFill>
                  <a:latin typeface="Futura Lt BT"/>
                </a:rPr>
                <a:t>27%</a:t>
              </a:r>
            </a:p>
          </p:txBody>
        </p:sp>
        <p:sp>
          <p:nvSpPr>
            <p:cNvPr id="8217" name="Rectangle 19"/>
            <p:cNvSpPr>
              <a:spLocks noChangeArrowheads="1"/>
            </p:cNvSpPr>
            <p:nvPr/>
          </p:nvSpPr>
          <p:spPr bwMode="auto">
            <a:xfrm>
              <a:off x="611" y="1944"/>
              <a:ext cx="730" cy="2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lang="en-US" sz="1350">
                  <a:solidFill>
                    <a:srgbClr val="000000"/>
                  </a:solidFill>
                  <a:latin typeface="Futura Lt BT"/>
                </a:rPr>
                <a:t>Requirements</a:t>
              </a:r>
            </a:p>
            <a:p>
              <a:pPr algn="ctr">
                <a:spcBef>
                  <a:spcPct val="0"/>
                </a:spcBef>
                <a:buClrTx/>
                <a:buFontTx/>
                <a:buNone/>
              </a:pPr>
              <a:r>
                <a:rPr lang="en-US" sz="1350">
                  <a:solidFill>
                    <a:srgbClr val="000000"/>
                  </a:solidFill>
                  <a:latin typeface="Futura Lt BT"/>
                </a:rPr>
                <a:t>56%</a:t>
              </a:r>
              <a:endParaRPr lang="en-US" sz="2700">
                <a:latin typeface="Futura Lt BT"/>
              </a:endParaRPr>
            </a:p>
          </p:txBody>
        </p:sp>
      </p:grpSp>
      <p:grpSp>
        <p:nvGrpSpPr>
          <p:cNvPr id="8198" name="Group 40"/>
          <p:cNvGrpSpPr>
            <a:grpSpLocks/>
          </p:cNvGrpSpPr>
          <p:nvPr/>
        </p:nvGrpSpPr>
        <p:grpSpPr bwMode="auto">
          <a:xfrm>
            <a:off x="5371252" y="2791421"/>
            <a:ext cx="3297135" cy="2237184"/>
            <a:chOff x="3385" y="1776"/>
            <a:chExt cx="2112" cy="1433"/>
          </a:xfrm>
        </p:grpSpPr>
        <p:grpSp>
          <p:nvGrpSpPr>
            <p:cNvPr id="8200" name="Group 20"/>
            <p:cNvGrpSpPr>
              <a:grpSpLocks/>
            </p:cNvGrpSpPr>
            <p:nvPr/>
          </p:nvGrpSpPr>
          <p:grpSpPr bwMode="auto">
            <a:xfrm>
              <a:off x="3428" y="2097"/>
              <a:ext cx="2059" cy="1112"/>
              <a:chOff x="3043" y="1724"/>
              <a:chExt cx="2486" cy="1031"/>
            </a:xfrm>
          </p:grpSpPr>
          <p:sp>
            <p:nvSpPr>
              <p:cNvPr id="8205" name="Freeform 21"/>
              <p:cNvSpPr>
                <a:spLocks/>
              </p:cNvSpPr>
              <p:nvPr/>
            </p:nvSpPr>
            <p:spPr bwMode="auto">
              <a:xfrm>
                <a:off x="4334" y="1724"/>
                <a:ext cx="78" cy="605"/>
              </a:xfrm>
              <a:custGeom>
                <a:avLst/>
                <a:gdLst>
                  <a:gd name="T0" fmla="*/ 0 w 78"/>
                  <a:gd name="T1" fmla="*/ 294 h 605"/>
                  <a:gd name="T2" fmla="*/ 78 w 78"/>
                  <a:gd name="T3" fmla="*/ 0 h 605"/>
                  <a:gd name="T4" fmla="*/ 78 w 78"/>
                  <a:gd name="T5" fmla="*/ 312 h 605"/>
                  <a:gd name="T6" fmla="*/ 0 w 78"/>
                  <a:gd name="T7" fmla="*/ 605 h 605"/>
                  <a:gd name="T8" fmla="*/ 0 w 78"/>
                  <a:gd name="T9" fmla="*/ 294 h 60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8" h="605">
                    <a:moveTo>
                      <a:pt x="0" y="294"/>
                    </a:moveTo>
                    <a:lnTo>
                      <a:pt x="78" y="0"/>
                    </a:lnTo>
                    <a:lnTo>
                      <a:pt x="78" y="312"/>
                    </a:lnTo>
                    <a:lnTo>
                      <a:pt x="0" y="605"/>
                    </a:lnTo>
                    <a:lnTo>
                      <a:pt x="0" y="294"/>
                    </a:lnTo>
                    <a:close/>
                  </a:path>
                </a:pathLst>
              </a:custGeom>
              <a:solidFill>
                <a:srgbClr val="004000"/>
              </a:solidFill>
              <a:ln w="9525">
                <a:solidFill>
                  <a:srgbClr val="000000"/>
                </a:solidFill>
                <a:prstDash val="solid"/>
                <a:round/>
                <a:headEnd/>
                <a:tailEnd/>
              </a:ln>
            </p:spPr>
            <p:txBody>
              <a:bodyPr/>
              <a:lstStyle/>
              <a:p>
                <a:endParaRPr lang="en-US" sz="1350"/>
              </a:p>
            </p:txBody>
          </p:sp>
          <p:sp>
            <p:nvSpPr>
              <p:cNvPr id="8206" name="Freeform 22"/>
              <p:cNvSpPr>
                <a:spLocks/>
              </p:cNvSpPr>
              <p:nvPr/>
            </p:nvSpPr>
            <p:spPr bwMode="auto">
              <a:xfrm>
                <a:off x="4334" y="1724"/>
                <a:ext cx="78" cy="294"/>
              </a:xfrm>
              <a:custGeom>
                <a:avLst/>
                <a:gdLst>
                  <a:gd name="T0" fmla="*/ 0 w 78"/>
                  <a:gd name="T1" fmla="*/ 0 h 294"/>
                  <a:gd name="T2" fmla="*/ 18 w 78"/>
                  <a:gd name="T3" fmla="*/ 0 h 294"/>
                  <a:gd name="T4" fmla="*/ 60 w 78"/>
                  <a:gd name="T5" fmla="*/ 0 h 294"/>
                  <a:gd name="T6" fmla="*/ 78 w 78"/>
                  <a:gd name="T7" fmla="*/ 0 h 294"/>
                  <a:gd name="T8" fmla="*/ 0 w 78"/>
                  <a:gd name="T9" fmla="*/ 294 h 294"/>
                  <a:gd name="T10" fmla="*/ 0 w 78"/>
                  <a:gd name="T11" fmla="*/ 0 h 29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78" h="294">
                    <a:moveTo>
                      <a:pt x="0" y="0"/>
                    </a:moveTo>
                    <a:lnTo>
                      <a:pt x="18" y="0"/>
                    </a:lnTo>
                    <a:lnTo>
                      <a:pt x="60" y="0"/>
                    </a:lnTo>
                    <a:lnTo>
                      <a:pt x="78" y="0"/>
                    </a:lnTo>
                    <a:lnTo>
                      <a:pt x="0" y="294"/>
                    </a:lnTo>
                    <a:lnTo>
                      <a:pt x="0" y="0"/>
                    </a:lnTo>
                    <a:close/>
                  </a:path>
                </a:pathLst>
              </a:custGeom>
              <a:solidFill>
                <a:srgbClr val="008000"/>
              </a:solidFill>
              <a:ln w="9525">
                <a:solidFill>
                  <a:srgbClr val="000000"/>
                </a:solidFill>
                <a:prstDash val="solid"/>
                <a:round/>
                <a:headEnd/>
                <a:tailEnd/>
              </a:ln>
            </p:spPr>
            <p:txBody>
              <a:bodyPr/>
              <a:lstStyle/>
              <a:p>
                <a:endParaRPr lang="en-US" sz="1350"/>
              </a:p>
            </p:txBody>
          </p:sp>
          <p:sp>
            <p:nvSpPr>
              <p:cNvPr id="8207" name="Freeform 23"/>
              <p:cNvSpPr>
                <a:spLocks/>
              </p:cNvSpPr>
              <p:nvPr/>
            </p:nvSpPr>
            <p:spPr bwMode="auto">
              <a:xfrm>
                <a:off x="4376" y="1742"/>
                <a:ext cx="348" cy="587"/>
              </a:xfrm>
              <a:custGeom>
                <a:avLst/>
                <a:gdLst>
                  <a:gd name="T0" fmla="*/ 0 w 348"/>
                  <a:gd name="T1" fmla="*/ 276 h 587"/>
                  <a:gd name="T2" fmla="*/ 348 w 348"/>
                  <a:gd name="T3" fmla="*/ 0 h 587"/>
                  <a:gd name="T4" fmla="*/ 348 w 348"/>
                  <a:gd name="T5" fmla="*/ 312 h 587"/>
                  <a:gd name="T6" fmla="*/ 0 w 348"/>
                  <a:gd name="T7" fmla="*/ 587 h 587"/>
                  <a:gd name="T8" fmla="*/ 0 w 348"/>
                  <a:gd name="T9" fmla="*/ 276 h 58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48" h="587">
                    <a:moveTo>
                      <a:pt x="0" y="276"/>
                    </a:moveTo>
                    <a:lnTo>
                      <a:pt x="348" y="0"/>
                    </a:lnTo>
                    <a:lnTo>
                      <a:pt x="348" y="312"/>
                    </a:lnTo>
                    <a:lnTo>
                      <a:pt x="0" y="587"/>
                    </a:lnTo>
                    <a:lnTo>
                      <a:pt x="0" y="276"/>
                    </a:lnTo>
                    <a:close/>
                  </a:path>
                </a:pathLst>
              </a:custGeom>
              <a:solidFill>
                <a:srgbClr val="80804D"/>
              </a:solidFill>
              <a:ln w="9525">
                <a:solidFill>
                  <a:srgbClr val="000000"/>
                </a:solidFill>
                <a:prstDash val="solid"/>
                <a:round/>
                <a:headEnd/>
                <a:tailEnd/>
              </a:ln>
            </p:spPr>
            <p:txBody>
              <a:bodyPr/>
              <a:lstStyle/>
              <a:p>
                <a:endParaRPr lang="en-US" sz="1350"/>
              </a:p>
            </p:txBody>
          </p:sp>
          <p:sp>
            <p:nvSpPr>
              <p:cNvPr id="8208" name="Freeform 24"/>
              <p:cNvSpPr>
                <a:spLocks/>
              </p:cNvSpPr>
              <p:nvPr/>
            </p:nvSpPr>
            <p:spPr bwMode="auto">
              <a:xfrm>
                <a:off x="4376" y="1724"/>
                <a:ext cx="348" cy="294"/>
              </a:xfrm>
              <a:custGeom>
                <a:avLst/>
                <a:gdLst>
                  <a:gd name="T0" fmla="*/ 78 w 348"/>
                  <a:gd name="T1" fmla="*/ 0 h 294"/>
                  <a:gd name="T2" fmla="*/ 96 w 348"/>
                  <a:gd name="T3" fmla="*/ 0 h 294"/>
                  <a:gd name="T4" fmla="*/ 114 w 348"/>
                  <a:gd name="T5" fmla="*/ 0 h 294"/>
                  <a:gd name="T6" fmla="*/ 156 w 348"/>
                  <a:gd name="T7" fmla="*/ 0 h 294"/>
                  <a:gd name="T8" fmla="*/ 174 w 348"/>
                  <a:gd name="T9" fmla="*/ 0 h 294"/>
                  <a:gd name="T10" fmla="*/ 192 w 348"/>
                  <a:gd name="T11" fmla="*/ 0 h 294"/>
                  <a:gd name="T12" fmla="*/ 216 w 348"/>
                  <a:gd name="T13" fmla="*/ 6 h 294"/>
                  <a:gd name="T14" fmla="*/ 234 w 348"/>
                  <a:gd name="T15" fmla="*/ 6 h 294"/>
                  <a:gd name="T16" fmla="*/ 252 w 348"/>
                  <a:gd name="T17" fmla="*/ 6 h 294"/>
                  <a:gd name="T18" fmla="*/ 288 w 348"/>
                  <a:gd name="T19" fmla="*/ 6 h 294"/>
                  <a:gd name="T20" fmla="*/ 312 w 348"/>
                  <a:gd name="T21" fmla="*/ 12 h 294"/>
                  <a:gd name="T22" fmla="*/ 330 w 348"/>
                  <a:gd name="T23" fmla="*/ 12 h 294"/>
                  <a:gd name="T24" fmla="*/ 348 w 348"/>
                  <a:gd name="T25" fmla="*/ 12 h 294"/>
                  <a:gd name="T26" fmla="*/ 0 w 348"/>
                  <a:gd name="T27" fmla="*/ 294 h 294"/>
                  <a:gd name="T28" fmla="*/ 78 w 348"/>
                  <a:gd name="T29" fmla="*/ 0 h 294"/>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348" h="294">
                    <a:moveTo>
                      <a:pt x="78" y="0"/>
                    </a:moveTo>
                    <a:lnTo>
                      <a:pt x="96" y="0"/>
                    </a:lnTo>
                    <a:lnTo>
                      <a:pt x="114" y="0"/>
                    </a:lnTo>
                    <a:lnTo>
                      <a:pt x="156" y="0"/>
                    </a:lnTo>
                    <a:lnTo>
                      <a:pt x="174" y="0"/>
                    </a:lnTo>
                    <a:lnTo>
                      <a:pt x="192" y="0"/>
                    </a:lnTo>
                    <a:lnTo>
                      <a:pt x="216" y="6"/>
                    </a:lnTo>
                    <a:lnTo>
                      <a:pt x="234" y="6"/>
                    </a:lnTo>
                    <a:lnTo>
                      <a:pt x="252" y="6"/>
                    </a:lnTo>
                    <a:lnTo>
                      <a:pt x="288" y="6"/>
                    </a:lnTo>
                    <a:lnTo>
                      <a:pt x="312" y="12"/>
                    </a:lnTo>
                    <a:lnTo>
                      <a:pt x="330" y="12"/>
                    </a:lnTo>
                    <a:lnTo>
                      <a:pt x="348" y="12"/>
                    </a:lnTo>
                    <a:lnTo>
                      <a:pt x="0" y="294"/>
                    </a:lnTo>
                    <a:lnTo>
                      <a:pt x="78" y="0"/>
                    </a:lnTo>
                    <a:close/>
                  </a:path>
                </a:pathLst>
              </a:custGeom>
              <a:solidFill>
                <a:srgbClr val="FFFF99"/>
              </a:solidFill>
              <a:ln w="9525">
                <a:solidFill>
                  <a:srgbClr val="000000"/>
                </a:solidFill>
                <a:prstDash val="solid"/>
                <a:round/>
                <a:headEnd/>
                <a:tailEnd/>
              </a:ln>
            </p:spPr>
            <p:txBody>
              <a:bodyPr/>
              <a:lstStyle/>
              <a:p>
                <a:endParaRPr lang="en-US" sz="1350"/>
              </a:p>
            </p:txBody>
          </p:sp>
          <p:sp>
            <p:nvSpPr>
              <p:cNvPr id="8209" name="Freeform 25"/>
              <p:cNvSpPr>
                <a:spLocks/>
              </p:cNvSpPr>
              <p:nvPr/>
            </p:nvSpPr>
            <p:spPr bwMode="auto">
              <a:xfrm>
                <a:off x="4508" y="1916"/>
                <a:ext cx="1021" cy="431"/>
              </a:xfrm>
              <a:custGeom>
                <a:avLst/>
                <a:gdLst>
                  <a:gd name="T0" fmla="*/ 0 w 1021"/>
                  <a:gd name="T1" fmla="*/ 120 h 431"/>
                  <a:gd name="T2" fmla="*/ 1021 w 1021"/>
                  <a:gd name="T3" fmla="*/ 0 h 431"/>
                  <a:gd name="T4" fmla="*/ 1021 w 1021"/>
                  <a:gd name="T5" fmla="*/ 312 h 431"/>
                  <a:gd name="T6" fmla="*/ 0 w 1021"/>
                  <a:gd name="T7" fmla="*/ 431 h 431"/>
                  <a:gd name="T8" fmla="*/ 0 w 1021"/>
                  <a:gd name="T9" fmla="*/ 120 h 43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21" h="431">
                    <a:moveTo>
                      <a:pt x="0" y="120"/>
                    </a:moveTo>
                    <a:lnTo>
                      <a:pt x="1021" y="0"/>
                    </a:lnTo>
                    <a:lnTo>
                      <a:pt x="1021" y="312"/>
                    </a:lnTo>
                    <a:lnTo>
                      <a:pt x="0" y="431"/>
                    </a:lnTo>
                    <a:lnTo>
                      <a:pt x="0" y="120"/>
                    </a:lnTo>
                    <a:close/>
                  </a:path>
                </a:pathLst>
              </a:custGeom>
              <a:solidFill>
                <a:srgbClr val="1A1A4D"/>
              </a:solidFill>
              <a:ln w="9525">
                <a:solidFill>
                  <a:srgbClr val="000000"/>
                </a:solidFill>
                <a:prstDash val="solid"/>
                <a:round/>
                <a:headEnd/>
                <a:tailEnd/>
              </a:ln>
            </p:spPr>
            <p:txBody>
              <a:bodyPr/>
              <a:lstStyle/>
              <a:p>
                <a:endParaRPr lang="en-US" sz="1350"/>
              </a:p>
            </p:txBody>
          </p:sp>
          <p:sp>
            <p:nvSpPr>
              <p:cNvPr id="8210" name="Freeform 26"/>
              <p:cNvSpPr>
                <a:spLocks/>
              </p:cNvSpPr>
              <p:nvPr/>
            </p:nvSpPr>
            <p:spPr bwMode="auto">
              <a:xfrm>
                <a:off x="4508" y="1754"/>
                <a:ext cx="1021" cy="282"/>
              </a:xfrm>
              <a:custGeom>
                <a:avLst/>
                <a:gdLst>
                  <a:gd name="T0" fmla="*/ 348 w 1021"/>
                  <a:gd name="T1" fmla="*/ 0 h 282"/>
                  <a:gd name="T2" fmla="*/ 366 w 1021"/>
                  <a:gd name="T3" fmla="*/ 0 h 282"/>
                  <a:gd name="T4" fmla="*/ 402 w 1021"/>
                  <a:gd name="T5" fmla="*/ 6 h 282"/>
                  <a:gd name="T6" fmla="*/ 420 w 1021"/>
                  <a:gd name="T7" fmla="*/ 6 h 282"/>
                  <a:gd name="T8" fmla="*/ 438 w 1021"/>
                  <a:gd name="T9" fmla="*/ 12 h 282"/>
                  <a:gd name="T10" fmla="*/ 474 w 1021"/>
                  <a:gd name="T11" fmla="*/ 12 h 282"/>
                  <a:gd name="T12" fmla="*/ 492 w 1021"/>
                  <a:gd name="T13" fmla="*/ 18 h 282"/>
                  <a:gd name="T14" fmla="*/ 511 w 1021"/>
                  <a:gd name="T15" fmla="*/ 18 h 282"/>
                  <a:gd name="T16" fmla="*/ 529 w 1021"/>
                  <a:gd name="T17" fmla="*/ 18 h 282"/>
                  <a:gd name="T18" fmla="*/ 565 w 1021"/>
                  <a:gd name="T19" fmla="*/ 24 h 282"/>
                  <a:gd name="T20" fmla="*/ 583 w 1021"/>
                  <a:gd name="T21" fmla="*/ 30 h 282"/>
                  <a:gd name="T22" fmla="*/ 595 w 1021"/>
                  <a:gd name="T23" fmla="*/ 30 h 282"/>
                  <a:gd name="T24" fmla="*/ 631 w 1021"/>
                  <a:gd name="T25" fmla="*/ 36 h 282"/>
                  <a:gd name="T26" fmla="*/ 649 w 1021"/>
                  <a:gd name="T27" fmla="*/ 42 h 282"/>
                  <a:gd name="T28" fmla="*/ 661 w 1021"/>
                  <a:gd name="T29" fmla="*/ 42 h 282"/>
                  <a:gd name="T30" fmla="*/ 691 w 1021"/>
                  <a:gd name="T31" fmla="*/ 48 h 282"/>
                  <a:gd name="T32" fmla="*/ 709 w 1021"/>
                  <a:gd name="T33" fmla="*/ 54 h 282"/>
                  <a:gd name="T34" fmla="*/ 727 w 1021"/>
                  <a:gd name="T35" fmla="*/ 54 h 282"/>
                  <a:gd name="T36" fmla="*/ 757 w 1021"/>
                  <a:gd name="T37" fmla="*/ 60 h 282"/>
                  <a:gd name="T38" fmla="*/ 769 w 1021"/>
                  <a:gd name="T39" fmla="*/ 66 h 282"/>
                  <a:gd name="T40" fmla="*/ 781 w 1021"/>
                  <a:gd name="T41" fmla="*/ 72 h 282"/>
                  <a:gd name="T42" fmla="*/ 799 w 1021"/>
                  <a:gd name="T43" fmla="*/ 72 h 282"/>
                  <a:gd name="T44" fmla="*/ 823 w 1021"/>
                  <a:gd name="T45" fmla="*/ 78 h 282"/>
                  <a:gd name="T46" fmla="*/ 835 w 1021"/>
                  <a:gd name="T47" fmla="*/ 84 h 282"/>
                  <a:gd name="T48" fmla="*/ 853 w 1021"/>
                  <a:gd name="T49" fmla="*/ 90 h 282"/>
                  <a:gd name="T50" fmla="*/ 877 w 1021"/>
                  <a:gd name="T51" fmla="*/ 96 h 282"/>
                  <a:gd name="T52" fmla="*/ 889 w 1021"/>
                  <a:gd name="T53" fmla="*/ 102 h 282"/>
                  <a:gd name="T54" fmla="*/ 901 w 1021"/>
                  <a:gd name="T55" fmla="*/ 102 h 282"/>
                  <a:gd name="T56" fmla="*/ 925 w 1021"/>
                  <a:gd name="T57" fmla="*/ 114 h 282"/>
                  <a:gd name="T58" fmla="*/ 937 w 1021"/>
                  <a:gd name="T59" fmla="*/ 114 h 282"/>
                  <a:gd name="T60" fmla="*/ 943 w 1021"/>
                  <a:gd name="T61" fmla="*/ 120 h 282"/>
                  <a:gd name="T62" fmla="*/ 955 w 1021"/>
                  <a:gd name="T63" fmla="*/ 126 h 282"/>
                  <a:gd name="T64" fmla="*/ 979 w 1021"/>
                  <a:gd name="T65" fmla="*/ 132 h 282"/>
                  <a:gd name="T66" fmla="*/ 985 w 1021"/>
                  <a:gd name="T67" fmla="*/ 138 h 282"/>
                  <a:gd name="T68" fmla="*/ 997 w 1021"/>
                  <a:gd name="T69" fmla="*/ 144 h 282"/>
                  <a:gd name="T70" fmla="*/ 1015 w 1021"/>
                  <a:gd name="T71" fmla="*/ 150 h 282"/>
                  <a:gd name="T72" fmla="*/ 1021 w 1021"/>
                  <a:gd name="T73" fmla="*/ 156 h 282"/>
                  <a:gd name="T74" fmla="*/ 0 w 1021"/>
                  <a:gd name="T75" fmla="*/ 282 h 282"/>
                  <a:gd name="T76" fmla="*/ 348 w 1021"/>
                  <a:gd name="T77" fmla="*/ 0 h 282"/>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0" t="0" r="r" b="b"/>
                <a:pathLst>
                  <a:path w="1021" h="282">
                    <a:moveTo>
                      <a:pt x="348" y="0"/>
                    </a:moveTo>
                    <a:lnTo>
                      <a:pt x="366" y="0"/>
                    </a:lnTo>
                    <a:lnTo>
                      <a:pt x="402" y="6"/>
                    </a:lnTo>
                    <a:lnTo>
                      <a:pt x="420" y="6"/>
                    </a:lnTo>
                    <a:lnTo>
                      <a:pt x="438" y="12"/>
                    </a:lnTo>
                    <a:lnTo>
                      <a:pt x="474" y="12"/>
                    </a:lnTo>
                    <a:lnTo>
                      <a:pt x="492" y="18"/>
                    </a:lnTo>
                    <a:lnTo>
                      <a:pt x="511" y="18"/>
                    </a:lnTo>
                    <a:lnTo>
                      <a:pt x="529" y="18"/>
                    </a:lnTo>
                    <a:lnTo>
                      <a:pt x="565" y="24"/>
                    </a:lnTo>
                    <a:lnTo>
                      <a:pt x="583" y="30"/>
                    </a:lnTo>
                    <a:lnTo>
                      <a:pt x="595" y="30"/>
                    </a:lnTo>
                    <a:lnTo>
                      <a:pt x="631" y="36"/>
                    </a:lnTo>
                    <a:lnTo>
                      <a:pt x="649" y="42"/>
                    </a:lnTo>
                    <a:lnTo>
                      <a:pt x="661" y="42"/>
                    </a:lnTo>
                    <a:lnTo>
                      <a:pt x="691" y="48"/>
                    </a:lnTo>
                    <a:lnTo>
                      <a:pt x="709" y="54"/>
                    </a:lnTo>
                    <a:lnTo>
                      <a:pt x="727" y="54"/>
                    </a:lnTo>
                    <a:lnTo>
                      <a:pt x="757" y="60"/>
                    </a:lnTo>
                    <a:lnTo>
                      <a:pt x="769" y="66"/>
                    </a:lnTo>
                    <a:lnTo>
                      <a:pt x="781" y="72"/>
                    </a:lnTo>
                    <a:lnTo>
                      <a:pt x="799" y="72"/>
                    </a:lnTo>
                    <a:lnTo>
                      <a:pt x="823" y="78"/>
                    </a:lnTo>
                    <a:lnTo>
                      <a:pt x="835" y="84"/>
                    </a:lnTo>
                    <a:lnTo>
                      <a:pt x="853" y="90"/>
                    </a:lnTo>
                    <a:lnTo>
                      <a:pt x="877" y="96"/>
                    </a:lnTo>
                    <a:lnTo>
                      <a:pt x="889" y="102"/>
                    </a:lnTo>
                    <a:lnTo>
                      <a:pt x="901" y="102"/>
                    </a:lnTo>
                    <a:lnTo>
                      <a:pt x="925" y="114"/>
                    </a:lnTo>
                    <a:lnTo>
                      <a:pt x="937" y="114"/>
                    </a:lnTo>
                    <a:lnTo>
                      <a:pt x="943" y="120"/>
                    </a:lnTo>
                    <a:lnTo>
                      <a:pt x="955" y="126"/>
                    </a:lnTo>
                    <a:lnTo>
                      <a:pt x="979" y="132"/>
                    </a:lnTo>
                    <a:lnTo>
                      <a:pt x="985" y="138"/>
                    </a:lnTo>
                    <a:lnTo>
                      <a:pt x="997" y="144"/>
                    </a:lnTo>
                    <a:lnTo>
                      <a:pt x="1015" y="150"/>
                    </a:lnTo>
                    <a:lnTo>
                      <a:pt x="1021" y="156"/>
                    </a:lnTo>
                    <a:lnTo>
                      <a:pt x="0" y="282"/>
                    </a:lnTo>
                    <a:lnTo>
                      <a:pt x="348" y="0"/>
                    </a:lnTo>
                    <a:close/>
                  </a:path>
                </a:pathLst>
              </a:custGeom>
              <a:solidFill>
                <a:srgbClr val="333399"/>
              </a:solidFill>
              <a:ln w="9525">
                <a:solidFill>
                  <a:srgbClr val="000000"/>
                </a:solidFill>
                <a:prstDash val="solid"/>
                <a:round/>
                <a:headEnd/>
                <a:tailEnd/>
              </a:ln>
            </p:spPr>
            <p:txBody>
              <a:bodyPr/>
              <a:lstStyle/>
              <a:p>
                <a:endParaRPr lang="en-US" sz="1350"/>
              </a:p>
            </p:txBody>
          </p:sp>
          <p:sp>
            <p:nvSpPr>
              <p:cNvPr id="8211" name="Freeform 27"/>
              <p:cNvSpPr>
                <a:spLocks/>
              </p:cNvSpPr>
              <p:nvPr/>
            </p:nvSpPr>
            <p:spPr bwMode="auto">
              <a:xfrm>
                <a:off x="3043" y="2150"/>
                <a:ext cx="2258" cy="605"/>
              </a:xfrm>
              <a:custGeom>
                <a:avLst/>
                <a:gdLst>
                  <a:gd name="T0" fmla="*/ 2252 w 2258"/>
                  <a:gd name="T1" fmla="*/ 24 h 605"/>
                  <a:gd name="T2" fmla="*/ 2234 w 2258"/>
                  <a:gd name="T3" fmla="*/ 60 h 605"/>
                  <a:gd name="T4" fmla="*/ 2198 w 2258"/>
                  <a:gd name="T5" fmla="*/ 96 h 605"/>
                  <a:gd name="T6" fmla="*/ 2150 w 2258"/>
                  <a:gd name="T7" fmla="*/ 120 h 605"/>
                  <a:gd name="T8" fmla="*/ 2084 w 2258"/>
                  <a:gd name="T9" fmla="*/ 155 h 605"/>
                  <a:gd name="T10" fmla="*/ 2006 w 2258"/>
                  <a:gd name="T11" fmla="*/ 185 h 605"/>
                  <a:gd name="T12" fmla="*/ 1927 w 2258"/>
                  <a:gd name="T13" fmla="*/ 203 h 605"/>
                  <a:gd name="T14" fmla="*/ 1819 w 2258"/>
                  <a:gd name="T15" fmla="*/ 227 h 605"/>
                  <a:gd name="T16" fmla="*/ 1711 w 2258"/>
                  <a:gd name="T17" fmla="*/ 251 h 605"/>
                  <a:gd name="T18" fmla="*/ 1603 w 2258"/>
                  <a:gd name="T19" fmla="*/ 263 h 605"/>
                  <a:gd name="T20" fmla="*/ 1477 w 2258"/>
                  <a:gd name="T21" fmla="*/ 275 h 605"/>
                  <a:gd name="T22" fmla="*/ 1345 w 2258"/>
                  <a:gd name="T23" fmla="*/ 287 h 605"/>
                  <a:gd name="T24" fmla="*/ 1225 w 2258"/>
                  <a:gd name="T25" fmla="*/ 293 h 605"/>
                  <a:gd name="T26" fmla="*/ 1087 w 2258"/>
                  <a:gd name="T27" fmla="*/ 293 h 605"/>
                  <a:gd name="T28" fmla="*/ 949 w 2258"/>
                  <a:gd name="T29" fmla="*/ 287 h 605"/>
                  <a:gd name="T30" fmla="*/ 835 w 2258"/>
                  <a:gd name="T31" fmla="*/ 281 h 605"/>
                  <a:gd name="T32" fmla="*/ 703 w 2258"/>
                  <a:gd name="T33" fmla="*/ 269 h 605"/>
                  <a:gd name="T34" fmla="*/ 583 w 2258"/>
                  <a:gd name="T35" fmla="*/ 257 h 605"/>
                  <a:gd name="T36" fmla="*/ 481 w 2258"/>
                  <a:gd name="T37" fmla="*/ 239 h 605"/>
                  <a:gd name="T38" fmla="*/ 373 w 2258"/>
                  <a:gd name="T39" fmla="*/ 215 h 605"/>
                  <a:gd name="T40" fmla="*/ 276 w 2258"/>
                  <a:gd name="T41" fmla="*/ 191 h 605"/>
                  <a:gd name="T42" fmla="*/ 204 w 2258"/>
                  <a:gd name="T43" fmla="*/ 167 h 605"/>
                  <a:gd name="T44" fmla="*/ 132 w 2258"/>
                  <a:gd name="T45" fmla="*/ 137 h 605"/>
                  <a:gd name="T46" fmla="*/ 72 w 2258"/>
                  <a:gd name="T47" fmla="*/ 102 h 605"/>
                  <a:gd name="T48" fmla="*/ 36 w 2258"/>
                  <a:gd name="T49" fmla="*/ 72 h 605"/>
                  <a:gd name="T50" fmla="*/ 12 w 2258"/>
                  <a:gd name="T51" fmla="*/ 42 h 605"/>
                  <a:gd name="T52" fmla="*/ 0 w 2258"/>
                  <a:gd name="T53" fmla="*/ 6 h 605"/>
                  <a:gd name="T54" fmla="*/ 0 w 2258"/>
                  <a:gd name="T55" fmla="*/ 329 h 605"/>
                  <a:gd name="T56" fmla="*/ 18 w 2258"/>
                  <a:gd name="T57" fmla="*/ 365 h 605"/>
                  <a:gd name="T58" fmla="*/ 48 w 2258"/>
                  <a:gd name="T59" fmla="*/ 395 h 605"/>
                  <a:gd name="T60" fmla="*/ 96 w 2258"/>
                  <a:gd name="T61" fmla="*/ 431 h 605"/>
                  <a:gd name="T62" fmla="*/ 162 w 2258"/>
                  <a:gd name="T63" fmla="*/ 461 h 605"/>
                  <a:gd name="T64" fmla="*/ 228 w 2258"/>
                  <a:gd name="T65" fmla="*/ 485 h 605"/>
                  <a:gd name="T66" fmla="*/ 319 w 2258"/>
                  <a:gd name="T67" fmla="*/ 515 h 605"/>
                  <a:gd name="T68" fmla="*/ 415 w 2258"/>
                  <a:gd name="T69" fmla="*/ 539 h 605"/>
                  <a:gd name="T70" fmla="*/ 511 w 2258"/>
                  <a:gd name="T71" fmla="*/ 557 h 605"/>
                  <a:gd name="T72" fmla="*/ 631 w 2258"/>
                  <a:gd name="T73" fmla="*/ 575 h 605"/>
                  <a:gd name="T74" fmla="*/ 763 w 2258"/>
                  <a:gd name="T75" fmla="*/ 587 h 605"/>
                  <a:gd name="T76" fmla="*/ 871 w 2258"/>
                  <a:gd name="T77" fmla="*/ 593 h 605"/>
                  <a:gd name="T78" fmla="*/ 1009 w 2258"/>
                  <a:gd name="T79" fmla="*/ 599 h 605"/>
                  <a:gd name="T80" fmla="*/ 1147 w 2258"/>
                  <a:gd name="T81" fmla="*/ 605 h 605"/>
                  <a:gd name="T82" fmla="*/ 1267 w 2258"/>
                  <a:gd name="T83" fmla="*/ 599 h 605"/>
                  <a:gd name="T84" fmla="*/ 1399 w 2258"/>
                  <a:gd name="T85" fmla="*/ 593 h 605"/>
                  <a:gd name="T86" fmla="*/ 1531 w 2258"/>
                  <a:gd name="T87" fmla="*/ 581 h 605"/>
                  <a:gd name="T88" fmla="*/ 1639 w 2258"/>
                  <a:gd name="T89" fmla="*/ 569 h 605"/>
                  <a:gd name="T90" fmla="*/ 1759 w 2258"/>
                  <a:gd name="T91" fmla="*/ 551 h 605"/>
                  <a:gd name="T92" fmla="*/ 1867 w 2258"/>
                  <a:gd name="T93" fmla="*/ 533 h 605"/>
                  <a:gd name="T94" fmla="*/ 1951 w 2258"/>
                  <a:gd name="T95" fmla="*/ 509 h 605"/>
                  <a:gd name="T96" fmla="*/ 2042 w 2258"/>
                  <a:gd name="T97" fmla="*/ 485 h 605"/>
                  <a:gd name="T98" fmla="*/ 2114 w 2258"/>
                  <a:gd name="T99" fmla="*/ 455 h 605"/>
                  <a:gd name="T100" fmla="*/ 2168 w 2258"/>
                  <a:gd name="T101" fmla="*/ 425 h 605"/>
                  <a:gd name="T102" fmla="*/ 2210 w 2258"/>
                  <a:gd name="T103" fmla="*/ 389 h 605"/>
                  <a:gd name="T104" fmla="*/ 2240 w 2258"/>
                  <a:gd name="T105" fmla="*/ 353 h 605"/>
                  <a:gd name="T106" fmla="*/ 2252 w 2258"/>
                  <a:gd name="T107" fmla="*/ 323 h 605"/>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0" t="0" r="r" b="b"/>
                <a:pathLst>
                  <a:path w="2258" h="605">
                    <a:moveTo>
                      <a:pt x="2258" y="0"/>
                    </a:moveTo>
                    <a:lnTo>
                      <a:pt x="2258" y="6"/>
                    </a:lnTo>
                    <a:lnTo>
                      <a:pt x="2252" y="12"/>
                    </a:lnTo>
                    <a:lnTo>
                      <a:pt x="2252" y="18"/>
                    </a:lnTo>
                    <a:lnTo>
                      <a:pt x="2252" y="24"/>
                    </a:lnTo>
                    <a:lnTo>
                      <a:pt x="2246" y="36"/>
                    </a:lnTo>
                    <a:lnTo>
                      <a:pt x="2246" y="42"/>
                    </a:lnTo>
                    <a:lnTo>
                      <a:pt x="2240" y="42"/>
                    </a:lnTo>
                    <a:lnTo>
                      <a:pt x="2234" y="54"/>
                    </a:lnTo>
                    <a:lnTo>
                      <a:pt x="2234" y="60"/>
                    </a:lnTo>
                    <a:lnTo>
                      <a:pt x="2228" y="66"/>
                    </a:lnTo>
                    <a:lnTo>
                      <a:pt x="2216" y="72"/>
                    </a:lnTo>
                    <a:lnTo>
                      <a:pt x="2210" y="78"/>
                    </a:lnTo>
                    <a:lnTo>
                      <a:pt x="2210" y="84"/>
                    </a:lnTo>
                    <a:lnTo>
                      <a:pt x="2198" y="96"/>
                    </a:lnTo>
                    <a:lnTo>
                      <a:pt x="2186" y="102"/>
                    </a:lnTo>
                    <a:lnTo>
                      <a:pt x="2180" y="102"/>
                    </a:lnTo>
                    <a:lnTo>
                      <a:pt x="2168" y="114"/>
                    </a:lnTo>
                    <a:lnTo>
                      <a:pt x="2156" y="120"/>
                    </a:lnTo>
                    <a:lnTo>
                      <a:pt x="2150" y="120"/>
                    </a:lnTo>
                    <a:lnTo>
                      <a:pt x="2132" y="131"/>
                    </a:lnTo>
                    <a:lnTo>
                      <a:pt x="2126" y="137"/>
                    </a:lnTo>
                    <a:lnTo>
                      <a:pt x="2114" y="143"/>
                    </a:lnTo>
                    <a:lnTo>
                      <a:pt x="2096" y="149"/>
                    </a:lnTo>
                    <a:lnTo>
                      <a:pt x="2084" y="155"/>
                    </a:lnTo>
                    <a:lnTo>
                      <a:pt x="2072" y="155"/>
                    </a:lnTo>
                    <a:lnTo>
                      <a:pt x="2054" y="167"/>
                    </a:lnTo>
                    <a:lnTo>
                      <a:pt x="2042" y="173"/>
                    </a:lnTo>
                    <a:lnTo>
                      <a:pt x="2030" y="173"/>
                    </a:lnTo>
                    <a:lnTo>
                      <a:pt x="2006" y="185"/>
                    </a:lnTo>
                    <a:lnTo>
                      <a:pt x="1994" y="185"/>
                    </a:lnTo>
                    <a:lnTo>
                      <a:pt x="1982" y="191"/>
                    </a:lnTo>
                    <a:lnTo>
                      <a:pt x="1951" y="197"/>
                    </a:lnTo>
                    <a:lnTo>
                      <a:pt x="1939" y="203"/>
                    </a:lnTo>
                    <a:lnTo>
                      <a:pt x="1927" y="203"/>
                    </a:lnTo>
                    <a:lnTo>
                      <a:pt x="1897" y="215"/>
                    </a:lnTo>
                    <a:lnTo>
                      <a:pt x="1885" y="215"/>
                    </a:lnTo>
                    <a:lnTo>
                      <a:pt x="1867" y="221"/>
                    </a:lnTo>
                    <a:lnTo>
                      <a:pt x="1837" y="227"/>
                    </a:lnTo>
                    <a:lnTo>
                      <a:pt x="1819" y="227"/>
                    </a:lnTo>
                    <a:lnTo>
                      <a:pt x="1807" y="233"/>
                    </a:lnTo>
                    <a:lnTo>
                      <a:pt x="1777" y="239"/>
                    </a:lnTo>
                    <a:lnTo>
                      <a:pt x="1759" y="239"/>
                    </a:lnTo>
                    <a:lnTo>
                      <a:pt x="1741" y="245"/>
                    </a:lnTo>
                    <a:lnTo>
                      <a:pt x="1711" y="251"/>
                    </a:lnTo>
                    <a:lnTo>
                      <a:pt x="1693" y="251"/>
                    </a:lnTo>
                    <a:lnTo>
                      <a:pt x="1675" y="257"/>
                    </a:lnTo>
                    <a:lnTo>
                      <a:pt x="1639" y="257"/>
                    </a:lnTo>
                    <a:lnTo>
                      <a:pt x="1621" y="263"/>
                    </a:lnTo>
                    <a:lnTo>
                      <a:pt x="1603" y="263"/>
                    </a:lnTo>
                    <a:lnTo>
                      <a:pt x="1567" y="269"/>
                    </a:lnTo>
                    <a:lnTo>
                      <a:pt x="1549" y="269"/>
                    </a:lnTo>
                    <a:lnTo>
                      <a:pt x="1531" y="269"/>
                    </a:lnTo>
                    <a:lnTo>
                      <a:pt x="1495" y="275"/>
                    </a:lnTo>
                    <a:lnTo>
                      <a:pt x="1477" y="275"/>
                    </a:lnTo>
                    <a:lnTo>
                      <a:pt x="1459" y="281"/>
                    </a:lnTo>
                    <a:lnTo>
                      <a:pt x="1417" y="281"/>
                    </a:lnTo>
                    <a:lnTo>
                      <a:pt x="1399" y="281"/>
                    </a:lnTo>
                    <a:lnTo>
                      <a:pt x="1381" y="281"/>
                    </a:lnTo>
                    <a:lnTo>
                      <a:pt x="1345" y="287"/>
                    </a:lnTo>
                    <a:lnTo>
                      <a:pt x="1321" y="287"/>
                    </a:lnTo>
                    <a:lnTo>
                      <a:pt x="1303" y="287"/>
                    </a:lnTo>
                    <a:lnTo>
                      <a:pt x="1267" y="287"/>
                    </a:lnTo>
                    <a:lnTo>
                      <a:pt x="1243" y="287"/>
                    </a:lnTo>
                    <a:lnTo>
                      <a:pt x="1225" y="293"/>
                    </a:lnTo>
                    <a:lnTo>
                      <a:pt x="1189" y="293"/>
                    </a:lnTo>
                    <a:lnTo>
                      <a:pt x="1165" y="293"/>
                    </a:lnTo>
                    <a:lnTo>
                      <a:pt x="1147" y="293"/>
                    </a:lnTo>
                    <a:lnTo>
                      <a:pt x="1105" y="293"/>
                    </a:lnTo>
                    <a:lnTo>
                      <a:pt x="1087" y="293"/>
                    </a:lnTo>
                    <a:lnTo>
                      <a:pt x="1069" y="293"/>
                    </a:lnTo>
                    <a:lnTo>
                      <a:pt x="1027" y="293"/>
                    </a:lnTo>
                    <a:lnTo>
                      <a:pt x="1009" y="287"/>
                    </a:lnTo>
                    <a:lnTo>
                      <a:pt x="991" y="287"/>
                    </a:lnTo>
                    <a:lnTo>
                      <a:pt x="949" y="287"/>
                    </a:lnTo>
                    <a:lnTo>
                      <a:pt x="931" y="287"/>
                    </a:lnTo>
                    <a:lnTo>
                      <a:pt x="913" y="287"/>
                    </a:lnTo>
                    <a:lnTo>
                      <a:pt x="871" y="281"/>
                    </a:lnTo>
                    <a:lnTo>
                      <a:pt x="853" y="281"/>
                    </a:lnTo>
                    <a:lnTo>
                      <a:pt x="835" y="281"/>
                    </a:lnTo>
                    <a:lnTo>
                      <a:pt x="799" y="281"/>
                    </a:lnTo>
                    <a:lnTo>
                      <a:pt x="781" y="275"/>
                    </a:lnTo>
                    <a:lnTo>
                      <a:pt x="763" y="275"/>
                    </a:lnTo>
                    <a:lnTo>
                      <a:pt x="721" y="269"/>
                    </a:lnTo>
                    <a:lnTo>
                      <a:pt x="703" y="269"/>
                    </a:lnTo>
                    <a:lnTo>
                      <a:pt x="685" y="269"/>
                    </a:lnTo>
                    <a:lnTo>
                      <a:pt x="649" y="263"/>
                    </a:lnTo>
                    <a:lnTo>
                      <a:pt x="631" y="263"/>
                    </a:lnTo>
                    <a:lnTo>
                      <a:pt x="613" y="257"/>
                    </a:lnTo>
                    <a:lnTo>
                      <a:pt x="583" y="257"/>
                    </a:lnTo>
                    <a:lnTo>
                      <a:pt x="565" y="251"/>
                    </a:lnTo>
                    <a:lnTo>
                      <a:pt x="547" y="251"/>
                    </a:lnTo>
                    <a:lnTo>
                      <a:pt x="511" y="245"/>
                    </a:lnTo>
                    <a:lnTo>
                      <a:pt x="499" y="239"/>
                    </a:lnTo>
                    <a:lnTo>
                      <a:pt x="481" y="239"/>
                    </a:lnTo>
                    <a:lnTo>
                      <a:pt x="451" y="233"/>
                    </a:lnTo>
                    <a:lnTo>
                      <a:pt x="433" y="227"/>
                    </a:lnTo>
                    <a:lnTo>
                      <a:pt x="415" y="227"/>
                    </a:lnTo>
                    <a:lnTo>
                      <a:pt x="385" y="221"/>
                    </a:lnTo>
                    <a:lnTo>
                      <a:pt x="373" y="215"/>
                    </a:lnTo>
                    <a:lnTo>
                      <a:pt x="361" y="215"/>
                    </a:lnTo>
                    <a:lnTo>
                      <a:pt x="331" y="203"/>
                    </a:lnTo>
                    <a:lnTo>
                      <a:pt x="319" y="203"/>
                    </a:lnTo>
                    <a:lnTo>
                      <a:pt x="301" y="197"/>
                    </a:lnTo>
                    <a:lnTo>
                      <a:pt x="276" y="191"/>
                    </a:lnTo>
                    <a:lnTo>
                      <a:pt x="264" y="185"/>
                    </a:lnTo>
                    <a:lnTo>
                      <a:pt x="252" y="185"/>
                    </a:lnTo>
                    <a:lnTo>
                      <a:pt x="228" y="173"/>
                    </a:lnTo>
                    <a:lnTo>
                      <a:pt x="216" y="173"/>
                    </a:lnTo>
                    <a:lnTo>
                      <a:pt x="204" y="167"/>
                    </a:lnTo>
                    <a:lnTo>
                      <a:pt x="180" y="155"/>
                    </a:lnTo>
                    <a:lnTo>
                      <a:pt x="168" y="155"/>
                    </a:lnTo>
                    <a:lnTo>
                      <a:pt x="162" y="149"/>
                    </a:lnTo>
                    <a:lnTo>
                      <a:pt x="138" y="143"/>
                    </a:lnTo>
                    <a:lnTo>
                      <a:pt x="132" y="137"/>
                    </a:lnTo>
                    <a:lnTo>
                      <a:pt x="120" y="131"/>
                    </a:lnTo>
                    <a:lnTo>
                      <a:pt x="102" y="120"/>
                    </a:lnTo>
                    <a:lnTo>
                      <a:pt x="96" y="120"/>
                    </a:lnTo>
                    <a:lnTo>
                      <a:pt x="90" y="114"/>
                    </a:lnTo>
                    <a:lnTo>
                      <a:pt x="72" y="102"/>
                    </a:lnTo>
                    <a:lnTo>
                      <a:pt x="66" y="102"/>
                    </a:lnTo>
                    <a:lnTo>
                      <a:pt x="60" y="96"/>
                    </a:lnTo>
                    <a:lnTo>
                      <a:pt x="48" y="84"/>
                    </a:lnTo>
                    <a:lnTo>
                      <a:pt x="42" y="78"/>
                    </a:lnTo>
                    <a:lnTo>
                      <a:pt x="36" y="72"/>
                    </a:lnTo>
                    <a:lnTo>
                      <a:pt x="30" y="66"/>
                    </a:lnTo>
                    <a:lnTo>
                      <a:pt x="24" y="60"/>
                    </a:lnTo>
                    <a:lnTo>
                      <a:pt x="18" y="54"/>
                    </a:lnTo>
                    <a:lnTo>
                      <a:pt x="12" y="42"/>
                    </a:lnTo>
                    <a:lnTo>
                      <a:pt x="6" y="36"/>
                    </a:lnTo>
                    <a:lnTo>
                      <a:pt x="0" y="24"/>
                    </a:lnTo>
                    <a:lnTo>
                      <a:pt x="0" y="18"/>
                    </a:lnTo>
                    <a:lnTo>
                      <a:pt x="0" y="12"/>
                    </a:lnTo>
                    <a:lnTo>
                      <a:pt x="0" y="6"/>
                    </a:lnTo>
                    <a:lnTo>
                      <a:pt x="0" y="0"/>
                    </a:lnTo>
                    <a:lnTo>
                      <a:pt x="0" y="311"/>
                    </a:lnTo>
                    <a:lnTo>
                      <a:pt x="0" y="317"/>
                    </a:lnTo>
                    <a:lnTo>
                      <a:pt x="0" y="323"/>
                    </a:lnTo>
                    <a:lnTo>
                      <a:pt x="0" y="329"/>
                    </a:lnTo>
                    <a:lnTo>
                      <a:pt x="0" y="335"/>
                    </a:lnTo>
                    <a:lnTo>
                      <a:pt x="6" y="347"/>
                    </a:lnTo>
                    <a:lnTo>
                      <a:pt x="12" y="353"/>
                    </a:lnTo>
                    <a:lnTo>
                      <a:pt x="18" y="365"/>
                    </a:lnTo>
                    <a:lnTo>
                      <a:pt x="24" y="371"/>
                    </a:lnTo>
                    <a:lnTo>
                      <a:pt x="30" y="377"/>
                    </a:lnTo>
                    <a:lnTo>
                      <a:pt x="36" y="383"/>
                    </a:lnTo>
                    <a:lnTo>
                      <a:pt x="42" y="389"/>
                    </a:lnTo>
                    <a:lnTo>
                      <a:pt x="48" y="395"/>
                    </a:lnTo>
                    <a:lnTo>
                      <a:pt x="60" y="407"/>
                    </a:lnTo>
                    <a:lnTo>
                      <a:pt x="66" y="413"/>
                    </a:lnTo>
                    <a:lnTo>
                      <a:pt x="72" y="413"/>
                    </a:lnTo>
                    <a:lnTo>
                      <a:pt x="90" y="425"/>
                    </a:lnTo>
                    <a:lnTo>
                      <a:pt x="96" y="431"/>
                    </a:lnTo>
                    <a:lnTo>
                      <a:pt x="102" y="431"/>
                    </a:lnTo>
                    <a:lnTo>
                      <a:pt x="120" y="443"/>
                    </a:lnTo>
                    <a:lnTo>
                      <a:pt x="132" y="449"/>
                    </a:lnTo>
                    <a:lnTo>
                      <a:pt x="138" y="455"/>
                    </a:lnTo>
                    <a:lnTo>
                      <a:pt x="162" y="461"/>
                    </a:lnTo>
                    <a:lnTo>
                      <a:pt x="168" y="467"/>
                    </a:lnTo>
                    <a:lnTo>
                      <a:pt x="180" y="467"/>
                    </a:lnTo>
                    <a:lnTo>
                      <a:pt x="204" y="479"/>
                    </a:lnTo>
                    <a:lnTo>
                      <a:pt x="216" y="485"/>
                    </a:lnTo>
                    <a:lnTo>
                      <a:pt x="228" y="485"/>
                    </a:lnTo>
                    <a:lnTo>
                      <a:pt x="252" y="497"/>
                    </a:lnTo>
                    <a:lnTo>
                      <a:pt x="264" y="497"/>
                    </a:lnTo>
                    <a:lnTo>
                      <a:pt x="276" y="503"/>
                    </a:lnTo>
                    <a:lnTo>
                      <a:pt x="301" y="509"/>
                    </a:lnTo>
                    <a:lnTo>
                      <a:pt x="319" y="515"/>
                    </a:lnTo>
                    <a:lnTo>
                      <a:pt x="331" y="515"/>
                    </a:lnTo>
                    <a:lnTo>
                      <a:pt x="361" y="527"/>
                    </a:lnTo>
                    <a:lnTo>
                      <a:pt x="373" y="527"/>
                    </a:lnTo>
                    <a:lnTo>
                      <a:pt x="385" y="533"/>
                    </a:lnTo>
                    <a:lnTo>
                      <a:pt x="415" y="539"/>
                    </a:lnTo>
                    <a:lnTo>
                      <a:pt x="433" y="539"/>
                    </a:lnTo>
                    <a:lnTo>
                      <a:pt x="451" y="545"/>
                    </a:lnTo>
                    <a:lnTo>
                      <a:pt x="481" y="551"/>
                    </a:lnTo>
                    <a:lnTo>
                      <a:pt x="499" y="551"/>
                    </a:lnTo>
                    <a:lnTo>
                      <a:pt x="511" y="557"/>
                    </a:lnTo>
                    <a:lnTo>
                      <a:pt x="547" y="563"/>
                    </a:lnTo>
                    <a:lnTo>
                      <a:pt x="565" y="563"/>
                    </a:lnTo>
                    <a:lnTo>
                      <a:pt x="583" y="569"/>
                    </a:lnTo>
                    <a:lnTo>
                      <a:pt x="613" y="569"/>
                    </a:lnTo>
                    <a:lnTo>
                      <a:pt x="631" y="575"/>
                    </a:lnTo>
                    <a:lnTo>
                      <a:pt x="649" y="575"/>
                    </a:lnTo>
                    <a:lnTo>
                      <a:pt x="685" y="581"/>
                    </a:lnTo>
                    <a:lnTo>
                      <a:pt x="703" y="581"/>
                    </a:lnTo>
                    <a:lnTo>
                      <a:pt x="721" y="581"/>
                    </a:lnTo>
                    <a:lnTo>
                      <a:pt x="763" y="587"/>
                    </a:lnTo>
                    <a:lnTo>
                      <a:pt x="781" y="587"/>
                    </a:lnTo>
                    <a:lnTo>
                      <a:pt x="799" y="593"/>
                    </a:lnTo>
                    <a:lnTo>
                      <a:pt x="835" y="593"/>
                    </a:lnTo>
                    <a:lnTo>
                      <a:pt x="853" y="593"/>
                    </a:lnTo>
                    <a:lnTo>
                      <a:pt x="871" y="593"/>
                    </a:lnTo>
                    <a:lnTo>
                      <a:pt x="913" y="599"/>
                    </a:lnTo>
                    <a:lnTo>
                      <a:pt x="931" y="599"/>
                    </a:lnTo>
                    <a:lnTo>
                      <a:pt x="949" y="599"/>
                    </a:lnTo>
                    <a:lnTo>
                      <a:pt x="991" y="599"/>
                    </a:lnTo>
                    <a:lnTo>
                      <a:pt x="1009" y="599"/>
                    </a:lnTo>
                    <a:lnTo>
                      <a:pt x="1027" y="605"/>
                    </a:lnTo>
                    <a:lnTo>
                      <a:pt x="1069" y="605"/>
                    </a:lnTo>
                    <a:lnTo>
                      <a:pt x="1087" y="605"/>
                    </a:lnTo>
                    <a:lnTo>
                      <a:pt x="1105" y="605"/>
                    </a:lnTo>
                    <a:lnTo>
                      <a:pt x="1147" y="605"/>
                    </a:lnTo>
                    <a:lnTo>
                      <a:pt x="1165" y="605"/>
                    </a:lnTo>
                    <a:lnTo>
                      <a:pt x="1189" y="605"/>
                    </a:lnTo>
                    <a:lnTo>
                      <a:pt x="1225" y="605"/>
                    </a:lnTo>
                    <a:lnTo>
                      <a:pt x="1243" y="599"/>
                    </a:lnTo>
                    <a:lnTo>
                      <a:pt x="1267" y="599"/>
                    </a:lnTo>
                    <a:lnTo>
                      <a:pt x="1303" y="599"/>
                    </a:lnTo>
                    <a:lnTo>
                      <a:pt x="1321" y="599"/>
                    </a:lnTo>
                    <a:lnTo>
                      <a:pt x="1345" y="599"/>
                    </a:lnTo>
                    <a:lnTo>
                      <a:pt x="1381" y="593"/>
                    </a:lnTo>
                    <a:lnTo>
                      <a:pt x="1399" y="593"/>
                    </a:lnTo>
                    <a:lnTo>
                      <a:pt x="1417" y="593"/>
                    </a:lnTo>
                    <a:lnTo>
                      <a:pt x="1459" y="593"/>
                    </a:lnTo>
                    <a:lnTo>
                      <a:pt x="1477" y="587"/>
                    </a:lnTo>
                    <a:lnTo>
                      <a:pt x="1495" y="587"/>
                    </a:lnTo>
                    <a:lnTo>
                      <a:pt x="1531" y="581"/>
                    </a:lnTo>
                    <a:lnTo>
                      <a:pt x="1549" y="581"/>
                    </a:lnTo>
                    <a:lnTo>
                      <a:pt x="1567" y="581"/>
                    </a:lnTo>
                    <a:lnTo>
                      <a:pt x="1603" y="575"/>
                    </a:lnTo>
                    <a:lnTo>
                      <a:pt x="1621" y="575"/>
                    </a:lnTo>
                    <a:lnTo>
                      <a:pt x="1639" y="569"/>
                    </a:lnTo>
                    <a:lnTo>
                      <a:pt x="1675" y="569"/>
                    </a:lnTo>
                    <a:lnTo>
                      <a:pt x="1693" y="563"/>
                    </a:lnTo>
                    <a:lnTo>
                      <a:pt x="1711" y="563"/>
                    </a:lnTo>
                    <a:lnTo>
                      <a:pt x="1741" y="557"/>
                    </a:lnTo>
                    <a:lnTo>
                      <a:pt x="1759" y="551"/>
                    </a:lnTo>
                    <a:lnTo>
                      <a:pt x="1777" y="551"/>
                    </a:lnTo>
                    <a:lnTo>
                      <a:pt x="1807" y="545"/>
                    </a:lnTo>
                    <a:lnTo>
                      <a:pt x="1819" y="539"/>
                    </a:lnTo>
                    <a:lnTo>
                      <a:pt x="1837" y="539"/>
                    </a:lnTo>
                    <a:lnTo>
                      <a:pt x="1867" y="533"/>
                    </a:lnTo>
                    <a:lnTo>
                      <a:pt x="1885" y="527"/>
                    </a:lnTo>
                    <a:lnTo>
                      <a:pt x="1897" y="527"/>
                    </a:lnTo>
                    <a:lnTo>
                      <a:pt x="1927" y="515"/>
                    </a:lnTo>
                    <a:lnTo>
                      <a:pt x="1939" y="515"/>
                    </a:lnTo>
                    <a:lnTo>
                      <a:pt x="1951" y="509"/>
                    </a:lnTo>
                    <a:lnTo>
                      <a:pt x="1982" y="503"/>
                    </a:lnTo>
                    <a:lnTo>
                      <a:pt x="1994" y="497"/>
                    </a:lnTo>
                    <a:lnTo>
                      <a:pt x="2006" y="497"/>
                    </a:lnTo>
                    <a:lnTo>
                      <a:pt x="2030" y="485"/>
                    </a:lnTo>
                    <a:lnTo>
                      <a:pt x="2042" y="485"/>
                    </a:lnTo>
                    <a:lnTo>
                      <a:pt x="2054" y="479"/>
                    </a:lnTo>
                    <a:lnTo>
                      <a:pt x="2072" y="467"/>
                    </a:lnTo>
                    <a:lnTo>
                      <a:pt x="2084" y="467"/>
                    </a:lnTo>
                    <a:lnTo>
                      <a:pt x="2096" y="461"/>
                    </a:lnTo>
                    <a:lnTo>
                      <a:pt x="2114" y="455"/>
                    </a:lnTo>
                    <a:lnTo>
                      <a:pt x="2126" y="449"/>
                    </a:lnTo>
                    <a:lnTo>
                      <a:pt x="2132" y="443"/>
                    </a:lnTo>
                    <a:lnTo>
                      <a:pt x="2150" y="431"/>
                    </a:lnTo>
                    <a:lnTo>
                      <a:pt x="2156" y="431"/>
                    </a:lnTo>
                    <a:lnTo>
                      <a:pt x="2168" y="425"/>
                    </a:lnTo>
                    <a:lnTo>
                      <a:pt x="2180" y="413"/>
                    </a:lnTo>
                    <a:lnTo>
                      <a:pt x="2186" y="413"/>
                    </a:lnTo>
                    <a:lnTo>
                      <a:pt x="2198" y="407"/>
                    </a:lnTo>
                    <a:lnTo>
                      <a:pt x="2210" y="395"/>
                    </a:lnTo>
                    <a:lnTo>
                      <a:pt x="2210" y="389"/>
                    </a:lnTo>
                    <a:lnTo>
                      <a:pt x="2216" y="383"/>
                    </a:lnTo>
                    <a:lnTo>
                      <a:pt x="2228" y="377"/>
                    </a:lnTo>
                    <a:lnTo>
                      <a:pt x="2234" y="371"/>
                    </a:lnTo>
                    <a:lnTo>
                      <a:pt x="2234" y="365"/>
                    </a:lnTo>
                    <a:lnTo>
                      <a:pt x="2240" y="353"/>
                    </a:lnTo>
                    <a:lnTo>
                      <a:pt x="2246" y="353"/>
                    </a:lnTo>
                    <a:lnTo>
                      <a:pt x="2246" y="347"/>
                    </a:lnTo>
                    <a:lnTo>
                      <a:pt x="2252" y="335"/>
                    </a:lnTo>
                    <a:lnTo>
                      <a:pt x="2252" y="329"/>
                    </a:lnTo>
                    <a:lnTo>
                      <a:pt x="2252" y="323"/>
                    </a:lnTo>
                    <a:lnTo>
                      <a:pt x="2258" y="317"/>
                    </a:lnTo>
                    <a:lnTo>
                      <a:pt x="2258" y="311"/>
                    </a:lnTo>
                    <a:lnTo>
                      <a:pt x="2258" y="0"/>
                    </a:lnTo>
                    <a:close/>
                  </a:path>
                </a:pathLst>
              </a:custGeom>
              <a:solidFill>
                <a:srgbClr val="800000"/>
              </a:solidFill>
              <a:ln w="9525">
                <a:solidFill>
                  <a:srgbClr val="000000"/>
                </a:solidFill>
                <a:prstDash val="solid"/>
                <a:round/>
                <a:headEnd/>
                <a:tailEnd/>
              </a:ln>
            </p:spPr>
            <p:txBody>
              <a:bodyPr/>
              <a:lstStyle/>
              <a:p>
                <a:endParaRPr lang="en-US" sz="1350"/>
              </a:p>
            </p:txBody>
          </p:sp>
          <p:sp>
            <p:nvSpPr>
              <p:cNvPr id="8212" name="Freeform 28"/>
              <p:cNvSpPr>
                <a:spLocks/>
              </p:cNvSpPr>
              <p:nvPr/>
            </p:nvSpPr>
            <p:spPr bwMode="auto">
              <a:xfrm>
                <a:off x="3043" y="1856"/>
                <a:ext cx="2258" cy="587"/>
              </a:xfrm>
              <a:custGeom>
                <a:avLst/>
                <a:gdLst>
                  <a:gd name="T0" fmla="*/ 2180 w 2258"/>
                  <a:gd name="T1" fmla="*/ 186 h 587"/>
                  <a:gd name="T2" fmla="*/ 2210 w 2258"/>
                  <a:gd name="T3" fmla="*/ 210 h 587"/>
                  <a:gd name="T4" fmla="*/ 2240 w 2258"/>
                  <a:gd name="T5" fmla="*/ 240 h 587"/>
                  <a:gd name="T6" fmla="*/ 2252 w 2258"/>
                  <a:gd name="T7" fmla="*/ 264 h 587"/>
                  <a:gd name="T8" fmla="*/ 2258 w 2258"/>
                  <a:gd name="T9" fmla="*/ 294 h 587"/>
                  <a:gd name="T10" fmla="*/ 2252 w 2258"/>
                  <a:gd name="T11" fmla="*/ 324 h 587"/>
                  <a:gd name="T12" fmla="*/ 2234 w 2258"/>
                  <a:gd name="T13" fmla="*/ 348 h 587"/>
                  <a:gd name="T14" fmla="*/ 2210 w 2258"/>
                  <a:gd name="T15" fmla="*/ 372 h 587"/>
                  <a:gd name="T16" fmla="*/ 2174 w 2258"/>
                  <a:gd name="T17" fmla="*/ 402 h 587"/>
                  <a:gd name="T18" fmla="*/ 2132 w 2258"/>
                  <a:gd name="T19" fmla="*/ 425 h 587"/>
                  <a:gd name="T20" fmla="*/ 2084 w 2258"/>
                  <a:gd name="T21" fmla="*/ 449 h 587"/>
                  <a:gd name="T22" fmla="*/ 2030 w 2258"/>
                  <a:gd name="T23" fmla="*/ 467 h 587"/>
                  <a:gd name="T24" fmla="*/ 1951 w 2258"/>
                  <a:gd name="T25" fmla="*/ 491 h 587"/>
                  <a:gd name="T26" fmla="*/ 1885 w 2258"/>
                  <a:gd name="T27" fmla="*/ 509 h 587"/>
                  <a:gd name="T28" fmla="*/ 1807 w 2258"/>
                  <a:gd name="T29" fmla="*/ 527 h 587"/>
                  <a:gd name="T30" fmla="*/ 1711 w 2258"/>
                  <a:gd name="T31" fmla="*/ 545 h 587"/>
                  <a:gd name="T32" fmla="*/ 1621 w 2258"/>
                  <a:gd name="T33" fmla="*/ 557 h 587"/>
                  <a:gd name="T34" fmla="*/ 1531 w 2258"/>
                  <a:gd name="T35" fmla="*/ 563 h 587"/>
                  <a:gd name="T36" fmla="*/ 1417 w 2258"/>
                  <a:gd name="T37" fmla="*/ 575 h 587"/>
                  <a:gd name="T38" fmla="*/ 1321 w 2258"/>
                  <a:gd name="T39" fmla="*/ 581 h 587"/>
                  <a:gd name="T40" fmla="*/ 1225 w 2258"/>
                  <a:gd name="T41" fmla="*/ 587 h 587"/>
                  <a:gd name="T42" fmla="*/ 1105 w 2258"/>
                  <a:gd name="T43" fmla="*/ 587 h 587"/>
                  <a:gd name="T44" fmla="*/ 1009 w 2258"/>
                  <a:gd name="T45" fmla="*/ 581 h 587"/>
                  <a:gd name="T46" fmla="*/ 913 w 2258"/>
                  <a:gd name="T47" fmla="*/ 581 h 587"/>
                  <a:gd name="T48" fmla="*/ 799 w 2258"/>
                  <a:gd name="T49" fmla="*/ 575 h 587"/>
                  <a:gd name="T50" fmla="*/ 703 w 2258"/>
                  <a:gd name="T51" fmla="*/ 563 h 587"/>
                  <a:gd name="T52" fmla="*/ 613 w 2258"/>
                  <a:gd name="T53" fmla="*/ 551 h 587"/>
                  <a:gd name="T54" fmla="*/ 511 w 2258"/>
                  <a:gd name="T55" fmla="*/ 539 h 587"/>
                  <a:gd name="T56" fmla="*/ 433 w 2258"/>
                  <a:gd name="T57" fmla="*/ 521 h 587"/>
                  <a:gd name="T58" fmla="*/ 361 w 2258"/>
                  <a:gd name="T59" fmla="*/ 509 h 587"/>
                  <a:gd name="T60" fmla="*/ 289 w 2258"/>
                  <a:gd name="T61" fmla="*/ 491 h 587"/>
                  <a:gd name="T62" fmla="*/ 216 w 2258"/>
                  <a:gd name="T63" fmla="*/ 467 h 587"/>
                  <a:gd name="T64" fmla="*/ 162 w 2258"/>
                  <a:gd name="T65" fmla="*/ 443 h 587"/>
                  <a:gd name="T66" fmla="*/ 114 w 2258"/>
                  <a:gd name="T67" fmla="*/ 420 h 587"/>
                  <a:gd name="T68" fmla="*/ 66 w 2258"/>
                  <a:gd name="T69" fmla="*/ 396 h 587"/>
                  <a:gd name="T70" fmla="*/ 36 w 2258"/>
                  <a:gd name="T71" fmla="*/ 366 h 587"/>
                  <a:gd name="T72" fmla="*/ 18 w 2258"/>
                  <a:gd name="T73" fmla="*/ 342 h 587"/>
                  <a:gd name="T74" fmla="*/ 0 w 2258"/>
                  <a:gd name="T75" fmla="*/ 312 h 587"/>
                  <a:gd name="T76" fmla="*/ 0 w 2258"/>
                  <a:gd name="T77" fmla="*/ 288 h 587"/>
                  <a:gd name="T78" fmla="*/ 6 w 2258"/>
                  <a:gd name="T79" fmla="*/ 264 h 587"/>
                  <a:gd name="T80" fmla="*/ 24 w 2258"/>
                  <a:gd name="T81" fmla="*/ 234 h 587"/>
                  <a:gd name="T82" fmla="*/ 48 w 2258"/>
                  <a:gd name="T83" fmla="*/ 204 h 587"/>
                  <a:gd name="T84" fmla="*/ 78 w 2258"/>
                  <a:gd name="T85" fmla="*/ 180 h 587"/>
                  <a:gd name="T86" fmla="*/ 132 w 2258"/>
                  <a:gd name="T87" fmla="*/ 156 h 587"/>
                  <a:gd name="T88" fmla="*/ 180 w 2258"/>
                  <a:gd name="T89" fmla="*/ 132 h 587"/>
                  <a:gd name="T90" fmla="*/ 240 w 2258"/>
                  <a:gd name="T91" fmla="*/ 114 h 587"/>
                  <a:gd name="T92" fmla="*/ 301 w 2258"/>
                  <a:gd name="T93" fmla="*/ 90 h 587"/>
                  <a:gd name="T94" fmla="*/ 385 w 2258"/>
                  <a:gd name="T95" fmla="*/ 72 h 587"/>
                  <a:gd name="T96" fmla="*/ 463 w 2258"/>
                  <a:gd name="T97" fmla="*/ 54 h 587"/>
                  <a:gd name="T98" fmla="*/ 547 w 2258"/>
                  <a:gd name="T99" fmla="*/ 42 h 587"/>
                  <a:gd name="T100" fmla="*/ 649 w 2258"/>
                  <a:gd name="T101" fmla="*/ 24 h 587"/>
                  <a:gd name="T102" fmla="*/ 739 w 2258"/>
                  <a:gd name="T103" fmla="*/ 18 h 587"/>
                  <a:gd name="T104" fmla="*/ 835 w 2258"/>
                  <a:gd name="T105" fmla="*/ 6 h 587"/>
                  <a:gd name="T106" fmla="*/ 949 w 2258"/>
                  <a:gd name="T107" fmla="*/ 0 h 587"/>
                  <a:gd name="T108" fmla="*/ 1051 w 2258"/>
                  <a:gd name="T109" fmla="*/ 0 h 587"/>
                  <a:gd name="T110" fmla="*/ 1129 w 2258"/>
                  <a:gd name="T111" fmla="*/ 294 h 587"/>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0" t="0" r="r" b="b"/>
                <a:pathLst>
                  <a:path w="2258" h="587">
                    <a:moveTo>
                      <a:pt x="2150" y="168"/>
                    </a:moveTo>
                    <a:lnTo>
                      <a:pt x="2156" y="174"/>
                    </a:lnTo>
                    <a:lnTo>
                      <a:pt x="2174" y="180"/>
                    </a:lnTo>
                    <a:lnTo>
                      <a:pt x="2180" y="186"/>
                    </a:lnTo>
                    <a:lnTo>
                      <a:pt x="2186" y="192"/>
                    </a:lnTo>
                    <a:lnTo>
                      <a:pt x="2204" y="204"/>
                    </a:lnTo>
                    <a:lnTo>
                      <a:pt x="2210" y="204"/>
                    </a:lnTo>
                    <a:lnTo>
                      <a:pt x="2210" y="210"/>
                    </a:lnTo>
                    <a:lnTo>
                      <a:pt x="2222" y="222"/>
                    </a:lnTo>
                    <a:lnTo>
                      <a:pt x="2228" y="228"/>
                    </a:lnTo>
                    <a:lnTo>
                      <a:pt x="2234" y="234"/>
                    </a:lnTo>
                    <a:lnTo>
                      <a:pt x="2240" y="240"/>
                    </a:lnTo>
                    <a:lnTo>
                      <a:pt x="2240" y="246"/>
                    </a:lnTo>
                    <a:lnTo>
                      <a:pt x="2246" y="252"/>
                    </a:lnTo>
                    <a:lnTo>
                      <a:pt x="2252" y="264"/>
                    </a:lnTo>
                    <a:lnTo>
                      <a:pt x="2252" y="270"/>
                    </a:lnTo>
                    <a:lnTo>
                      <a:pt x="2258" y="282"/>
                    </a:lnTo>
                    <a:lnTo>
                      <a:pt x="2258" y="288"/>
                    </a:lnTo>
                    <a:lnTo>
                      <a:pt x="2258" y="294"/>
                    </a:lnTo>
                    <a:lnTo>
                      <a:pt x="2258" y="300"/>
                    </a:lnTo>
                    <a:lnTo>
                      <a:pt x="2252" y="306"/>
                    </a:lnTo>
                    <a:lnTo>
                      <a:pt x="2252" y="312"/>
                    </a:lnTo>
                    <a:lnTo>
                      <a:pt x="2252" y="324"/>
                    </a:lnTo>
                    <a:lnTo>
                      <a:pt x="2246" y="330"/>
                    </a:lnTo>
                    <a:lnTo>
                      <a:pt x="2246" y="336"/>
                    </a:lnTo>
                    <a:lnTo>
                      <a:pt x="2240" y="342"/>
                    </a:lnTo>
                    <a:lnTo>
                      <a:pt x="2234" y="348"/>
                    </a:lnTo>
                    <a:lnTo>
                      <a:pt x="2234" y="354"/>
                    </a:lnTo>
                    <a:lnTo>
                      <a:pt x="2222" y="366"/>
                    </a:lnTo>
                    <a:lnTo>
                      <a:pt x="2216" y="366"/>
                    </a:lnTo>
                    <a:lnTo>
                      <a:pt x="2210" y="372"/>
                    </a:lnTo>
                    <a:lnTo>
                      <a:pt x="2204" y="384"/>
                    </a:lnTo>
                    <a:lnTo>
                      <a:pt x="2198" y="390"/>
                    </a:lnTo>
                    <a:lnTo>
                      <a:pt x="2186" y="396"/>
                    </a:lnTo>
                    <a:lnTo>
                      <a:pt x="2174" y="402"/>
                    </a:lnTo>
                    <a:lnTo>
                      <a:pt x="2168" y="408"/>
                    </a:lnTo>
                    <a:lnTo>
                      <a:pt x="2156" y="414"/>
                    </a:lnTo>
                    <a:lnTo>
                      <a:pt x="2150" y="414"/>
                    </a:lnTo>
                    <a:lnTo>
                      <a:pt x="2132" y="425"/>
                    </a:lnTo>
                    <a:lnTo>
                      <a:pt x="2126" y="431"/>
                    </a:lnTo>
                    <a:lnTo>
                      <a:pt x="2114" y="437"/>
                    </a:lnTo>
                    <a:lnTo>
                      <a:pt x="2096" y="443"/>
                    </a:lnTo>
                    <a:lnTo>
                      <a:pt x="2084" y="449"/>
                    </a:lnTo>
                    <a:lnTo>
                      <a:pt x="2072" y="449"/>
                    </a:lnTo>
                    <a:lnTo>
                      <a:pt x="2054" y="461"/>
                    </a:lnTo>
                    <a:lnTo>
                      <a:pt x="2042" y="467"/>
                    </a:lnTo>
                    <a:lnTo>
                      <a:pt x="2030" y="467"/>
                    </a:lnTo>
                    <a:lnTo>
                      <a:pt x="2006" y="479"/>
                    </a:lnTo>
                    <a:lnTo>
                      <a:pt x="1994" y="479"/>
                    </a:lnTo>
                    <a:lnTo>
                      <a:pt x="1982" y="485"/>
                    </a:lnTo>
                    <a:lnTo>
                      <a:pt x="1951" y="491"/>
                    </a:lnTo>
                    <a:lnTo>
                      <a:pt x="1939" y="497"/>
                    </a:lnTo>
                    <a:lnTo>
                      <a:pt x="1927" y="497"/>
                    </a:lnTo>
                    <a:lnTo>
                      <a:pt x="1897" y="509"/>
                    </a:lnTo>
                    <a:lnTo>
                      <a:pt x="1885" y="509"/>
                    </a:lnTo>
                    <a:lnTo>
                      <a:pt x="1867" y="515"/>
                    </a:lnTo>
                    <a:lnTo>
                      <a:pt x="1837" y="521"/>
                    </a:lnTo>
                    <a:lnTo>
                      <a:pt x="1819" y="521"/>
                    </a:lnTo>
                    <a:lnTo>
                      <a:pt x="1807" y="527"/>
                    </a:lnTo>
                    <a:lnTo>
                      <a:pt x="1777" y="533"/>
                    </a:lnTo>
                    <a:lnTo>
                      <a:pt x="1759" y="533"/>
                    </a:lnTo>
                    <a:lnTo>
                      <a:pt x="1741" y="539"/>
                    </a:lnTo>
                    <a:lnTo>
                      <a:pt x="1711" y="545"/>
                    </a:lnTo>
                    <a:lnTo>
                      <a:pt x="1693" y="545"/>
                    </a:lnTo>
                    <a:lnTo>
                      <a:pt x="1675" y="551"/>
                    </a:lnTo>
                    <a:lnTo>
                      <a:pt x="1639" y="551"/>
                    </a:lnTo>
                    <a:lnTo>
                      <a:pt x="1621" y="557"/>
                    </a:lnTo>
                    <a:lnTo>
                      <a:pt x="1603" y="557"/>
                    </a:lnTo>
                    <a:lnTo>
                      <a:pt x="1567" y="563"/>
                    </a:lnTo>
                    <a:lnTo>
                      <a:pt x="1549" y="563"/>
                    </a:lnTo>
                    <a:lnTo>
                      <a:pt x="1531" y="563"/>
                    </a:lnTo>
                    <a:lnTo>
                      <a:pt x="1495" y="569"/>
                    </a:lnTo>
                    <a:lnTo>
                      <a:pt x="1477" y="569"/>
                    </a:lnTo>
                    <a:lnTo>
                      <a:pt x="1459" y="575"/>
                    </a:lnTo>
                    <a:lnTo>
                      <a:pt x="1417" y="575"/>
                    </a:lnTo>
                    <a:lnTo>
                      <a:pt x="1399" y="575"/>
                    </a:lnTo>
                    <a:lnTo>
                      <a:pt x="1381" y="575"/>
                    </a:lnTo>
                    <a:lnTo>
                      <a:pt x="1345" y="581"/>
                    </a:lnTo>
                    <a:lnTo>
                      <a:pt x="1321" y="581"/>
                    </a:lnTo>
                    <a:lnTo>
                      <a:pt x="1303" y="581"/>
                    </a:lnTo>
                    <a:lnTo>
                      <a:pt x="1267" y="581"/>
                    </a:lnTo>
                    <a:lnTo>
                      <a:pt x="1243" y="581"/>
                    </a:lnTo>
                    <a:lnTo>
                      <a:pt x="1225" y="587"/>
                    </a:lnTo>
                    <a:lnTo>
                      <a:pt x="1189" y="587"/>
                    </a:lnTo>
                    <a:lnTo>
                      <a:pt x="1165" y="587"/>
                    </a:lnTo>
                    <a:lnTo>
                      <a:pt x="1147" y="587"/>
                    </a:lnTo>
                    <a:lnTo>
                      <a:pt x="1105" y="587"/>
                    </a:lnTo>
                    <a:lnTo>
                      <a:pt x="1087" y="587"/>
                    </a:lnTo>
                    <a:lnTo>
                      <a:pt x="1069" y="587"/>
                    </a:lnTo>
                    <a:lnTo>
                      <a:pt x="1027" y="587"/>
                    </a:lnTo>
                    <a:lnTo>
                      <a:pt x="1009" y="581"/>
                    </a:lnTo>
                    <a:lnTo>
                      <a:pt x="991" y="581"/>
                    </a:lnTo>
                    <a:lnTo>
                      <a:pt x="949" y="581"/>
                    </a:lnTo>
                    <a:lnTo>
                      <a:pt x="931" y="581"/>
                    </a:lnTo>
                    <a:lnTo>
                      <a:pt x="913" y="581"/>
                    </a:lnTo>
                    <a:lnTo>
                      <a:pt x="871" y="575"/>
                    </a:lnTo>
                    <a:lnTo>
                      <a:pt x="853" y="575"/>
                    </a:lnTo>
                    <a:lnTo>
                      <a:pt x="835" y="575"/>
                    </a:lnTo>
                    <a:lnTo>
                      <a:pt x="799" y="575"/>
                    </a:lnTo>
                    <a:lnTo>
                      <a:pt x="781" y="569"/>
                    </a:lnTo>
                    <a:lnTo>
                      <a:pt x="763" y="569"/>
                    </a:lnTo>
                    <a:lnTo>
                      <a:pt x="721" y="563"/>
                    </a:lnTo>
                    <a:lnTo>
                      <a:pt x="703" y="563"/>
                    </a:lnTo>
                    <a:lnTo>
                      <a:pt x="685" y="563"/>
                    </a:lnTo>
                    <a:lnTo>
                      <a:pt x="649" y="557"/>
                    </a:lnTo>
                    <a:lnTo>
                      <a:pt x="631" y="557"/>
                    </a:lnTo>
                    <a:lnTo>
                      <a:pt x="613" y="551"/>
                    </a:lnTo>
                    <a:lnTo>
                      <a:pt x="583" y="551"/>
                    </a:lnTo>
                    <a:lnTo>
                      <a:pt x="565" y="545"/>
                    </a:lnTo>
                    <a:lnTo>
                      <a:pt x="547" y="545"/>
                    </a:lnTo>
                    <a:lnTo>
                      <a:pt x="511" y="539"/>
                    </a:lnTo>
                    <a:lnTo>
                      <a:pt x="499" y="533"/>
                    </a:lnTo>
                    <a:lnTo>
                      <a:pt x="481" y="533"/>
                    </a:lnTo>
                    <a:lnTo>
                      <a:pt x="463" y="527"/>
                    </a:lnTo>
                    <a:lnTo>
                      <a:pt x="433" y="521"/>
                    </a:lnTo>
                    <a:lnTo>
                      <a:pt x="415" y="521"/>
                    </a:lnTo>
                    <a:lnTo>
                      <a:pt x="403" y="515"/>
                    </a:lnTo>
                    <a:lnTo>
                      <a:pt x="373" y="509"/>
                    </a:lnTo>
                    <a:lnTo>
                      <a:pt x="361" y="509"/>
                    </a:lnTo>
                    <a:lnTo>
                      <a:pt x="343" y="503"/>
                    </a:lnTo>
                    <a:lnTo>
                      <a:pt x="319" y="497"/>
                    </a:lnTo>
                    <a:lnTo>
                      <a:pt x="301" y="491"/>
                    </a:lnTo>
                    <a:lnTo>
                      <a:pt x="289" y="491"/>
                    </a:lnTo>
                    <a:lnTo>
                      <a:pt x="264" y="479"/>
                    </a:lnTo>
                    <a:lnTo>
                      <a:pt x="252" y="479"/>
                    </a:lnTo>
                    <a:lnTo>
                      <a:pt x="240" y="473"/>
                    </a:lnTo>
                    <a:lnTo>
                      <a:pt x="216" y="467"/>
                    </a:lnTo>
                    <a:lnTo>
                      <a:pt x="204" y="461"/>
                    </a:lnTo>
                    <a:lnTo>
                      <a:pt x="192" y="455"/>
                    </a:lnTo>
                    <a:lnTo>
                      <a:pt x="168" y="449"/>
                    </a:lnTo>
                    <a:lnTo>
                      <a:pt x="162" y="443"/>
                    </a:lnTo>
                    <a:lnTo>
                      <a:pt x="150" y="437"/>
                    </a:lnTo>
                    <a:lnTo>
                      <a:pt x="132" y="431"/>
                    </a:lnTo>
                    <a:lnTo>
                      <a:pt x="120" y="425"/>
                    </a:lnTo>
                    <a:lnTo>
                      <a:pt x="114" y="420"/>
                    </a:lnTo>
                    <a:lnTo>
                      <a:pt x="96" y="414"/>
                    </a:lnTo>
                    <a:lnTo>
                      <a:pt x="90" y="408"/>
                    </a:lnTo>
                    <a:lnTo>
                      <a:pt x="78" y="402"/>
                    </a:lnTo>
                    <a:lnTo>
                      <a:pt x="66" y="396"/>
                    </a:lnTo>
                    <a:lnTo>
                      <a:pt x="60" y="390"/>
                    </a:lnTo>
                    <a:lnTo>
                      <a:pt x="54" y="384"/>
                    </a:lnTo>
                    <a:lnTo>
                      <a:pt x="42" y="372"/>
                    </a:lnTo>
                    <a:lnTo>
                      <a:pt x="36" y="366"/>
                    </a:lnTo>
                    <a:lnTo>
                      <a:pt x="30" y="366"/>
                    </a:lnTo>
                    <a:lnTo>
                      <a:pt x="24" y="354"/>
                    </a:lnTo>
                    <a:lnTo>
                      <a:pt x="18" y="348"/>
                    </a:lnTo>
                    <a:lnTo>
                      <a:pt x="18" y="342"/>
                    </a:lnTo>
                    <a:lnTo>
                      <a:pt x="12" y="336"/>
                    </a:lnTo>
                    <a:lnTo>
                      <a:pt x="6" y="330"/>
                    </a:lnTo>
                    <a:lnTo>
                      <a:pt x="6" y="324"/>
                    </a:lnTo>
                    <a:lnTo>
                      <a:pt x="0" y="312"/>
                    </a:lnTo>
                    <a:lnTo>
                      <a:pt x="0" y="306"/>
                    </a:lnTo>
                    <a:lnTo>
                      <a:pt x="0" y="300"/>
                    </a:lnTo>
                    <a:lnTo>
                      <a:pt x="0" y="294"/>
                    </a:lnTo>
                    <a:lnTo>
                      <a:pt x="0" y="288"/>
                    </a:lnTo>
                    <a:lnTo>
                      <a:pt x="0" y="282"/>
                    </a:lnTo>
                    <a:lnTo>
                      <a:pt x="0" y="270"/>
                    </a:lnTo>
                    <a:lnTo>
                      <a:pt x="0" y="264"/>
                    </a:lnTo>
                    <a:lnTo>
                      <a:pt x="6" y="264"/>
                    </a:lnTo>
                    <a:lnTo>
                      <a:pt x="12" y="252"/>
                    </a:lnTo>
                    <a:lnTo>
                      <a:pt x="12" y="246"/>
                    </a:lnTo>
                    <a:lnTo>
                      <a:pt x="18" y="240"/>
                    </a:lnTo>
                    <a:lnTo>
                      <a:pt x="24" y="234"/>
                    </a:lnTo>
                    <a:lnTo>
                      <a:pt x="30" y="228"/>
                    </a:lnTo>
                    <a:lnTo>
                      <a:pt x="30" y="222"/>
                    </a:lnTo>
                    <a:lnTo>
                      <a:pt x="42" y="210"/>
                    </a:lnTo>
                    <a:lnTo>
                      <a:pt x="48" y="204"/>
                    </a:lnTo>
                    <a:lnTo>
                      <a:pt x="54" y="204"/>
                    </a:lnTo>
                    <a:lnTo>
                      <a:pt x="66" y="192"/>
                    </a:lnTo>
                    <a:lnTo>
                      <a:pt x="72" y="186"/>
                    </a:lnTo>
                    <a:lnTo>
                      <a:pt x="78" y="180"/>
                    </a:lnTo>
                    <a:lnTo>
                      <a:pt x="96" y="174"/>
                    </a:lnTo>
                    <a:lnTo>
                      <a:pt x="102" y="168"/>
                    </a:lnTo>
                    <a:lnTo>
                      <a:pt x="114" y="162"/>
                    </a:lnTo>
                    <a:lnTo>
                      <a:pt x="132" y="156"/>
                    </a:lnTo>
                    <a:lnTo>
                      <a:pt x="138" y="150"/>
                    </a:lnTo>
                    <a:lnTo>
                      <a:pt x="150" y="144"/>
                    </a:lnTo>
                    <a:lnTo>
                      <a:pt x="168" y="138"/>
                    </a:lnTo>
                    <a:lnTo>
                      <a:pt x="180" y="132"/>
                    </a:lnTo>
                    <a:lnTo>
                      <a:pt x="192" y="126"/>
                    </a:lnTo>
                    <a:lnTo>
                      <a:pt x="216" y="120"/>
                    </a:lnTo>
                    <a:lnTo>
                      <a:pt x="228" y="114"/>
                    </a:lnTo>
                    <a:lnTo>
                      <a:pt x="240" y="114"/>
                    </a:lnTo>
                    <a:lnTo>
                      <a:pt x="264" y="102"/>
                    </a:lnTo>
                    <a:lnTo>
                      <a:pt x="276" y="102"/>
                    </a:lnTo>
                    <a:lnTo>
                      <a:pt x="289" y="96"/>
                    </a:lnTo>
                    <a:lnTo>
                      <a:pt x="301" y="90"/>
                    </a:lnTo>
                    <a:lnTo>
                      <a:pt x="331" y="84"/>
                    </a:lnTo>
                    <a:lnTo>
                      <a:pt x="343" y="84"/>
                    </a:lnTo>
                    <a:lnTo>
                      <a:pt x="361" y="78"/>
                    </a:lnTo>
                    <a:lnTo>
                      <a:pt x="385" y="72"/>
                    </a:lnTo>
                    <a:lnTo>
                      <a:pt x="403" y="66"/>
                    </a:lnTo>
                    <a:lnTo>
                      <a:pt x="415" y="66"/>
                    </a:lnTo>
                    <a:lnTo>
                      <a:pt x="451" y="60"/>
                    </a:lnTo>
                    <a:lnTo>
                      <a:pt x="463" y="54"/>
                    </a:lnTo>
                    <a:lnTo>
                      <a:pt x="481" y="54"/>
                    </a:lnTo>
                    <a:lnTo>
                      <a:pt x="511" y="48"/>
                    </a:lnTo>
                    <a:lnTo>
                      <a:pt x="529" y="42"/>
                    </a:lnTo>
                    <a:lnTo>
                      <a:pt x="547" y="42"/>
                    </a:lnTo>
                    <a:lnTo>
                      <a:pt x="583" y="36"/>
                    </a:lnTo>
                    <a:lnTo>
                      <a:pt x="595" y="30"/>
                    </a:lnTo>
                    <a:lnTo>
                      <a:pt x="613" y="30"/>
                    </a:lnTo>
                    <a:lnTo>
                      <a:pt x="649" y="24"/>
                    </a:lnTo>
                    <a:lnTo>
                      <a:pt x="667" y="24"/>
                    </a:lnTo>
                    <a:lnTo>
                      <a:pt x="685" y="24"/>
                    </a:lnTo>
                    <a:lnTo>
                      <a:pt x="721" y="18"/>
                    </a:lnTo>
                    <a:lnTo>
                      <a:pt x="739" y="18"/>
                    </a:lnTo>
                    <a:lnTo>
                      <a:pt x="763" y="12"/>
                    </a:lnTo>
                    <a:lnTo>
                      <a:pt x="799" y="12"/>
                    </a:lnTo>
                    <a:lnTo>
                      <a:pt x="817" y="12"/>
                    </a:lnTo>
                    <a:lnTo>
                      <a:pt x="835" y="6"/>
                    </a:lnTo>
                    <a:lnTo>
                      <a:pt x="871" y="6"/>
                    </a:lnTo>
                    <a:lnTo>
                      <a:pt x="895" y="6"/>
                    </a:lnTo>
                    <a:lnTo>
                      <a:pt x="913" y="6"/>
                    </a:lnTo>
                    <a:lnTo>
                      <a:pt x="949" y="0"/>
                    </a:lnTo>
                    <a:lnTo>
                      <a:pt x="973" y="0"/>
                    </a:lnTo>
                    <a:lnTo>
                      <a:pt x="991" y="0"/>
                    </a:lnTo>
                    <a:lnTo>
                      <a:pt x="1027" y="0"/>
                    </a:lnTo>
                    <a:lnTo>
                      <a:pt x="1051" y="0"/>
                    </a:lnTo>
                    <a:lnTo>
                      <a:pt x="1069" y="0"/>
                    </a:lnTo>
                    <a:lnTo>
                      <a:pt x="1105" y="0"/>
                    </a:lnTo>
                    <a:lnTo>
                      <a:pt x="1129" y="0"/>
                    </a:lnTo>
                    <a:lnTo>
                      <a:pt x="1129" y="294"/>
                    </a:lnTo>
                    <a:lnTo>
                      <a:pt x="2150" y="168"/>
                    </a:lnTo>
                    <a:close/>
                  </a:path>
                </a:pathLst>
              </a:custGeom>
              <a:solidFill>
                <a:srgbClr val="FF0000"/>
              </a:solidFill>
              <a:ln w="9525">
                <a:solidFill>
                  <a:srgbClr val="000000"/>
                </a:solidFill>
                <a:prstDash val="solid"/>
                <a:round/>
                <a:headEnd/>
                <a:tailEnd/>
              </a:ln>
            </p:spPr>
            <p:txBody>
              <a:bodyPr/>
              <a:lstStyle/>
              <a:p>
                <a:endParaRPr lang="en-US" sz="1350"/>
              </a:p>
            </p:txBody>
          </p:sp>
        </p:grpSp>
        <p:sp>
          <p:nvSpPr>
            <p:cNvPr id="8201" name="Rectangle 29"/>
            <p:cNvSpPr>
              <a:spLocks noChangeArrowheads="1"/>
            </p:cNvSpPr>
            <p:nvPr/>
          </p:nvSpPr>
          <p:spPr bwMode="auto">
            <a:xfrm>
              <a:off x="4301" y="1776"/>
              <a:ext cx="265" cy="2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lang="en-US" sz="1350">
                  <a:solidFill>
                    <a:srgbClr val="000000"/>
                  </a:solidFill>
                  <a:latin typeface="Futura Lt BT"/>
                </a:rPr>
                <a:t>Code</a:t>
              </a:r>
            </a:p>
            <a:p>
              <a:pPr algn="ctr">
                <a:spcBef>
                  <a:spcPct val="0"/>
                </a:spcBef>
                <a:buClrTx/>
                <a:buFontTx/>
                <a:buNone/>
              </a:pPr>
              <a:r>
                <a:rPr lang="en-US" sz="1350">
                  <a:solidFill>
                    <a:srgbClr val="000000"/>
                  </a:solidFill>
                  <a:latin typeface="Futura Lt BT"/>
                </a:rPr>
                <a:t>1%</a:t>
              </a:r>
            </a:p>
          </p:txBody>
        </p:sp>
        <p:sp>
          <p:nvSpPr>
            <p:cNvPr id="8202" name="Rectangle 30"/>
            <p:cNvSpPr>
              <a:spLocks noChangeArrowheads="1"/>
            </p:cNvSpPr>
            <p:nvPr/>
          </p:nvSpPr>
          <p:spPr bwMode="auto">
            <a:xfrm>
              <a:off x="4627" y="1835"/>
              <a:ext cx="277" cy="2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lang="en-US" sz="1350">
                  <a:solidFill>
                    <a:srgbClr val="000000"/>
                  </a:solidFill>
                  <a:latin typeface="Futura Lt BT"/>
                </a:rPr>
                <a:t>Other</a:t>
              </a:r>
            </a:p>
            <a:p>
              <a:pPr algn="ctr">
                <a:spcBef>
                  <a:spcPct val="0"/>
                </a:spcBef>
                <a:buClrTx/>
                <a:buFontTx/>
                <a:buNone/>
              </a:pPr>
              <a:r>
                <a:rPr lang="en-US" sz="1350">
                  <a:solidFill>
                    <a:srgbClr val="000000"/>
                  </a:solidFill>
                  <a:latin typeface="Futura Lt BT"/>
                </a:rPr>
                <a:t>4%</a:t>
              </a:r>
            </a:p>
          </p:txBody>
        </p:sp>
        <p:sp>
          <p:nvSpPr>
            <p:cNvPr id="8203" name="Rectangle 31"/>
            <p:cNvSpPr>
              <a:spLocks noChangeArrowheads="1"/>
            </p:cNvSpPr>
            <p:nvPr/>
          </p:nvSpPr>
          <p:spPr bwMode="auto">
            <a:xfrm>
              <a:off x="5152" y="1876"/>
              <a:ext cx="345" cy="2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lang="en-US" sz="1350">
                  <a:solidFill>
                    <a:srgbClr val="000000"/>
                  </a:solidFill>
                  <a:latin typeface="Futura Lt BT"/>
                </a:rPr>
                <a:t>Design</a:t>
              </a:r>
            </a:p>
            <a:p>
              <a:pPr algn="ctr">
                <a:spcBef>
                  <a:spcPct val="0"/>
                </a:spcBef>
                <a:buClrTx/>
                <a:buFontTx/>
                <a:buNone/>
              </a:pPr>
              <a:r>
                <a:rPr lang="en-US" sz="1350">
                  <a:solidFill>
                    <a:srgbClr val="000000"/>
                  </a:solidFill>
                  <a:latin typeface="Futura Lt BT"/>
                </a:rPr>
                <a:t>13%</a:t>
              </a:r>
            </a:p>
          </p:txBody>
        </p:sp>
        <p:sp>
          <p:nvSpPr>
            <p:cNvPr id="8204" name="Rectangle 32"/>
            <p:cNvSpPr>
              <a:spLocks noChangeArrowheads="1"/>
            </p:cNvSpPr>
            <p:nvPr/>
          </p:nvSpPr>
          <p:spPr bwMode="auto">
            <a:xfrm>
              <a:off x="3385" y="1989"/>
              <a:ext cx="690" cy="2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lang="en-US" sz="1350">
                  <a:solidFill>
                    <a:srgbClr val="000000"/>
                  </a:solidFill>
                  <a:latin typeface="Futura Lt BT"/>
                </a:rPr>
                <a:t>Requirements</a:t>
              </a:r>
            </a:p>
            <a:p>
              <a:pPr algn="ctr">
                <a:spcBef>
                  <a:spcPct val="0"/>
                </a:spcBef>
                <a:buClrTx/>
                <a:buFontTx/>
                <a:buNone/>
              </a:pPr>
              <a:r>
                <a:rPr lang="en-US" sz="1350">
                  <a:solidFill>
                    <a:srgbClr val="000000"/>
                  </a:solidFill>
                  <a:latin typeface="Futura Lt BT"/>
                </a:rPr>
                <a:t>82%</a:t>
              </a:r>
            </a:p>
          </p:txBody>
        </p:sp>
      </p:grpSp>
      <p:sp>
        <p:nvSpPr>
          <p:cNvPr id="8199" name="Text Box 36"/>
          <p:cNvSpPr txBox="1">
            <a:spLocks noChangeArrowheads="1"/>
          </p:cNvSpPr>
          <p:nvPr/>
        </p:nvSpPr>
        <p:spPr bwMode="auto">
          <a:xfrm>
            <a:off x="1231107" y="5422106"/>
            <a:ext cx="1544012"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ClrTx/>
              <a:buFontTx/>
              <a:buNone/>
            </a:pPr>
            <a:br>
              <a:rPr lang="en-CA" sz="900">
                <a:latin typeface="Times New Roman" panose="02020603050405020304" pitchFamily="18" charset="0"/>
              </a:rPr>
            </a:br>
            <a:r>
              <a:rPr lang="en-CA" sz="900">
                <a:latin typeface="Times New Roman" panose="02020603050405020304" pitchFamily="18" charset="0"/>
              </a:rPr>
              <a:t> Source: Martin &amp; Leffinwell</a:t>
            </a:r>
          </a:p>
        </p:txBody>
      </p:sp>
      <p:sp>
        <p:nvSpPr>
          <p:cNvPr id="8194" name="Title 2"/>
          <p:cNvSpPr>
            <a:spLocks noGrp="1"/>
          </p:cNvSpPr>
          <p:nvPr>
            <p:ph type="title"/>
          </p:nvPr>
        </p:nvSpPr>
        <p:spPr>
          <a:xfrm>
            <a:off x="3105923" y="55289"/>
            <a:ext cx="5982890" cy="1045015"/>
          </a:xfrm>
        </p:spPr>
        <p:txBody>
          <a:bodyPr>
            <a:normAutofit/>
          </a:bodyPr>
          <a:lstStyle/>
          <a:p>
            <a:r>
              <a:rPr lang="en-US" sz="3200" dirty="0"/>
              <a:t>Why is requirement engineering?</a:t>
            </a:r>
          </a:p>
        </p:txBody>
      </p:sp>
      <p:sp>
        <p:nvSpPr>
          <p:cNvPr id="3" name="Slide Number Placeholder 2"/>
          <p:cNvSpPr>
            <a:spLocks noGrp="1"/>
          </p:cNvSpPr>
          <p:nvPr>
            <p:ph type="sldNum" sz="quarter" idx="11"/>
          </p:nvPr>
        </p:nvSpPr>
        <p:spPr/>
        <p:txBody>
          <a:bodyPr/>
          <a:lstStyle/>
          <a:p>
            <a:pPr>
              <a:defRPr/>
            </a:pPr>
            <a:fld id="{38F81FAE-D748-4BFC-A8B0-D2E750E8899F}" type="slidenum">
              <a:rPr lang="en-US" smtClean="0"/>
              <a:pPr>
                <a:defRPr/>
              </a:pPr>
              <a:t>4</a:t>
            </a:fld>
            <a:endParaRPr lang="en-US" dirty="0"/>
          </a:p>
        </p:txBody>
      </p:sp>
    </p:spTree>
    <p:extLst>
      <p:ext uri="{BB962C8B-B14F-4D97-AF65-F5344CB8AC3E}">
        <p14:creationId xmlns:p14="http://schemas.microsoft.com/office/powerpoint/2010/main" val="689278160"/>
      </p:ext>
    </p:extLst>
  </p:cSld>
  <p:clrMapOvr>
    <a:masterClrMapping/>
  </p:clrMapOvr>
  <p:transition>
    <p:split orient="vert"/>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78129" y="1080655"/>
            <a:ext cx="8799615" cy="5464524"/>
          </a:xfrm>
        </p:spPr>
        <p:txBody>
          <a:bodyPr/>
          <a:lstStyle/>
          <a:p>
            <a:pPr algn="just"/>
            <a:r>
              <a:rPr lang="en-US" dirty="0"/>
              <a:t>The errors introduced during requirements activities account for </a:t>
            </a:r>
            <a:r>
              <a:rPr lang="en-US" dirty="0">
                <a:solidFill>
                  <a:srgbClr val="FF0000"/>
                </a:solidFill>
              </a:rPr>
              <a:t>40 to 50% </a:t>
            </a:r>
            <a:r>
              <a:rPr lang="en-US" dirty="0"/>
              <a:t>of all defects found in software product.</a:t>
            </a:r>
          </a:p>
          <a:p>
            <a:pPr marL="0" indent="0" algn="just">
              <a:buNone/>
            </a:pPr>
            <a:endParaRPr lang="en-US" dirty="0"/>
          </a:p>
          <a:p>
            <a:pPr algn="just"/>
            <a:r>
              <a:rPr lang="en-US" dirty="0"/>
              <a:t>Inadequate user input and shortcomings in specifying and managing customer requirements are major contributors to unsuccessful projects.</a:t>
            </a:r>
          </a:p>
        </p:txBody>
      </p:sp>
      <p:sp>
        <p:nvSpPr>
          <p:cNvPr id="2" name="Title 1"/>
          <p:cNvSpPr>
            <a:spLocks noGrp="1"/>
          </p:cNvSpPr>
          <p:nvPr>
            <p:ph type="title"/>
          </p:nvPr>
        </p:nvSpPr>
        <p:spPr>
          <a:xfrm>
            <a:off x="2598667" y="0"/>
            <a:ext cx="6545333" cy="1080655"/>
          </a:xfrm>
        </p:spPr>
        <p:txBody>
          <a:bodyPr/>
          <a:lstStyle/>
          <a:p>
            <a:r>
              <a:rPr lang="en-US" sz="3200" dirty="0"/>
              <a:t>Software requirements defined</a:t>
            </a:r>
          </a:p>
        </p:txBody>
      </p:sp>
      <p:sp>
        <p:nvSpPr>
          <p:cNvPr id="5" name="Slide Number Placeholder 4"/>
          <p:cNvSpPr>
            <a:spLocks noGrp="1"/>
          </p:cNvSpPr>
          <p:nvPr>
            <p:ph type="sldNum" sz="quarter" idx="11"/>
          </p:nvPr>
        </p:nvSpPr>
        <p:spPr/>
        <p:txBody>
          <a:bodyPr/>
          <a:lstStyle/>
          <a:p>
            <a:pPr>
              <a:defRPr/>
            </a:pPr>
            <a:fld id="{38F81FAE-D748-4BFC-A8B0-D2E750E8899F}" type="slidenum">
              <a:rPr lang="en-US" smtClean="0"/>
              <a:pPr>
                <a:defRPr/>
              </a:pPr>
              <a:t>5</a:t>
            </a:fld>
            <a:endParaRPr lang="en-US" dirty="0"/>
          </a:p>
        </p:txBody>
      </p:sp>
    </p:spTree>
    <p:extLst>
      <p:ext uri="{BB962C8B-B14F-4D97-AF65-F5344CB8AC3E}">
        <p14:creationId xmlns:p14="http://schemas.microsoft.com/office/powerpoint/2010/main" val="3969977260"/>
      </p:ext>
    </p:extLst>
  </p:cSld>
  <p:clrMapOvr>
    <a:masterClrMapping/>
  </p:clrMapOvr>
  <p:transition>
    <p:split orient="vert"/>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41737" y="1165206"/>
            <a:ext cx="8637567" cy="5379973"/>
          </a:xfrm>
        </p:spPr>
        <p:txBody>
          <a:bodyPr/>
          <a:lstStyle/>
          <a:p>
            <a:r>
              <a:rPr lang="en-US" dirty="0"/>
              <a:t> Brian Lawrence: “anything that drives design choices” (</a:t>
            </a:r>
            <a:r>
              <a:rPr lang="en-US" i="1" dirty="0"/>
              <a:t>Lawrence 1997</a:t>
            </a:r>
            <a:r>
              <a:rPr lang="en-US" dirty="0"/>
              <a:t>)</a:t>
            </a:r>
          </a:p>
          <a:p>
            <a:endParaRPr lang="en-US" dirty="0"/>
          </a:p>
          <a:p>
            <a:pPr algn="just"/>
            <a:r>
              <a:rPr lang="en-US" dirty="0"/>
              <a:t>“</a:t>
            </a:r>
            <a:r>
              <a:rPr lang="en-US" b="1" dirty="0">
                <a:solidFill>
                  <a:srgbClr val="003399"/>
                </a:solidFill>
              </a:rPr>
              <a:t>Requirements are a specification of what should be implemented. They are descriptions of how the system should behave, or of a system property or attribute. They may be a constraint on the development process of the system</a:t>
            </a:r>
            <a:r>
              <a:rPr lang="en-US" dirty="0"/>
              <a:t>”  </a:t>
            </a:r>
            <a:r>
              <a:rPr lang="en-US" i="1" dirty="0"/>
              <a:t>Ian </a:t>
            </a:r>
            <a:r>
              <a:rPr lang="en-US" i="1" dirty="0" err="1"/>
              <a:t>Sommerville</a:t>
            </a:r>
            <a:r>
              <a:rPr lang="en-US" i="1" dirty="0"/>
              <a:t> and Pete Sawyer (1997)</a:t>
            </a:r>
          </a:p>
        </p:txBody>
      </p:sp>
      <p:sp>
        <p:nvSpPr>
          <p:cNvPr id="2" name="Title 1"/>
          <p:cNvSpPr>
            <a:spLocks noGrp="1"/>
          </p:cNvSpPr>
          <p:nvPr>
            <p:ph type="title"/>
          </p:nvPr>
        </p:nvSpPr>
        <p:spPr>
          <a:xfrm>
            <a:off x="2586792" y="0"/>
            <a:ext cx="6557208" cy="1051034"/>
          </a:xfrm>
        </p:spPr>
        <p:txBody>
          <a:bodyPr/>
          <a:lstStyle/>
          <a:p>
            <a:r>
              <a:rPr lang="en-US" sz="3200" dirty="0"/>
              <a:t>Software requirements defined</a:t>
            </a:r>
          </a:p>
        </p:txBody>
      </p:sp>
      <p:sp>
        <p:nvSpPr>
          <p:cNvPr id="5" name="Slide Number Placeholder 4"/>
          <p:cNvSpPr>
            <a:spLocks noGrp="1"/>
          </p:cNvSpPr>
          <p:nvPr>
            <p:ph type="sldNum" sz="quarter" idx="11"/>
          </p:nvPr>
        </p:nvSpPr>
        <p:spPr/>
        <p:txBody>
          <a:bodyPr/>
          <a:lstStyle/>
          <a:p>
            <a:pPr>
              <a:defRPr/>
            </a:pPr>
            <a:fld id="{38F81FAE-D748-4BFC-A8B0-D2E750E8899F}" type="slidenum">
              <a:rPr lang="en-US" smtClean="0"/>
              <a:pPr>
                <a:defRPr/>
              </a:pPr>
              <a:t>6</a:t>
            </a:fld>
            <a:endParaRPr lang="en-US" dirty="0"/>
          </a:p>
        </p:txBody>
      </p:sp>
    </p:spTree>
    <p:extLst>
      <p:ext uri="{BB962C8B-B14F-4D97-AF65-F5344CB8AC3E}">
        <p14:creationId xmlns:p14="http://schemas.microsoft.com/office/powerpoint/2010/main" val="2055204637"/>
      </p:ext>
    </p:extLst>
  </p:cSld>
  <p:clrMapOvr>
    <a:masterClrMapping/>
  </p:clrMapOvr>
  <p:transition>
    <p:split orient="vert"/>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3"/>
          <a:stretch>
            <a:fillRect/>
          </a:stretch>
        </p:blipFill>
        <p:spPr>
          <a:xfrm>
            <a:off x="634189" y="1111470"/>
            <a:ext cx="7703695" cy="5229005"/>
          </a:xfrm>
          <a:prstGeom prst="rect">
            <a:avLst/>
          </a:prstGeom>
        </p:spPr>
      </p:pic>
      <p:sp>
        <p:nvSpPr>
          <p:cNvPr id="5" name="Title 1"/>
          <p:cNvSpPr>
            <a:spLocks noGrp="1"/>
          </p:cNvSpPr>
          <p:nvPr>
            <p:ph type="title"/>
          </p:nvPr>
        </p:nvSpPr>
        <p:spPr>
          <a:xfrm>
            <a:off x="2514602" y="182332"/>
            <a:ext cx="6388766" cy="960668"/>
          </a:xfrm>
        </p:spPr>
        <p:txBody>
          <a:bodyPr/>
          <a:lstStyle/>
          <a:p>
            <a:r>
              <a:rPr lang="en-US" dirty="0"/>
              <a:t>Types of requirements</a:t>
            </a:r>
          </a:p>
        </p:txBody>
      </p:sp>
      <p:sp>
        <p:nvSpPr>
          <p:cNvPr id="3" name="Slide Number Placeholder 2"/>
          <p:cNvSpPr>
            <a:spLocks noGrp="1"/>
          </p:cNvSpPr>
          <p:nvPr>
            <p:ph type="sldNum" sz="quarter" idx="11"/>
          </p:nvPr>
        </p:nvSpPr>
        <p:spPr/>
        <p:txBody>
          <a:bodyPr/>
          <a:lstStyle/>
          <a:p>
            <a:pPr>
              <a:defRPr/>
            </a:pPr>
            <a:fld id="{38F81FAE-D748-4BFC-A8B0-D2E750E8899F}" type="slidenum">
              <a:rPr lang="en-US" smtClean="0"/>
              <a:pPr>
                <a:defRPr/>
              </a:pPr>
              <a:t>7</a:t>
            </a:fld>
            <a:endParaRPr lang="en-US" dirty="0"/>
          </a:p>
        </p:txBody>
      </p:sp>
    </p:spTree>
    <p:extLst>
      <p:ext uri="{BB962C8B-B14F-4D97-AF65-F5344CB8AC3E}">
        <p14:creationId xmlns:p14="http://schemas.microsoft.com/office/powerpoint/2010/main" val="1295605626"/>
      </p:ext>
    </p:extLst>
  </p:cSld>
  <p:clrMapOvr>
    <a:masterClrMapping/>
  </p:clrMapOvr>
  <p:transition>
    <p:split orient="vert"/>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58814" y="1119"/>
            <a:ext cx="6285186" cy="1106322"/>
          </a:xfrm>
        </p:spPr>
        <p:txBody>
          <a:bodyPr/>
          <a:lstStyle/>
          <a:p>
            <a:r>
              <a:rPr lang="en-US" sz="3200" dirty="0"/>
              <a:t>Levels and types of requirements </a:t>
            </a:r>
          </a:p>
        </p:txBody>
      </p:sp>
      <p:pic>
        <p:nvPicPr>
          <p:cNvPr id="4" name="Picture 3"/>
          <p:cNvPicPr>
            <a:picLocks noChangeAspect="1"/>
          </p:cNvPicPr>
          <p:nvPr/>
        </p:nvPicPr>
        <p:blipFill>
          <a:blip r:embed="rId3"/>
          <a:stretch>
            <a:fillRect/>
          </a:stretch>
        </p:blipFill>
        <p:spPr>
          <a:xfrm>
            <a:off x="1187669" y="1178112"/>
            <a:ext cx="6800194" cy="4581016"/>
          </a:xfrm>
          <a:prstGeom prst="rect">
            <a:avLst/>
          </a:prstGeom>
        </p:spPr>
      </p:pic>
      <p:sp>
        <p:nvSpPr>
          <p:cNvPr id="5" name="Slide Number Placeholder 4"/>
          <p:cNvSpPr>
            <a:spLocks noGrp="1"/>
          </p:cNvSpPr>
          <p:nvPr>
            <p:ph type="sldNum" sz="quarter" idx="11"/>
          </p:nvPr>
        </p:nvSpPr>
        <p:spPr/>
        <p:txBody>
          <a:bodyPr/>
          <a:lstStyle/>
          <a:p>
            <a:pPr>
              <a:defRPr/>
            </a:pPr>
            <a:fld id="{38F81FAE-D748-4BFC-A8B0-D2E750E8899F}" type="slidenum">
              <a:rPr lang="en-US" smtClean="0"/>
              <a:pPr>
                <a:defRPr/>
              </a:pPr>
              <a:t>8</a:t>
            </a:fld>
            <a:endParaRPr lang="en-US" dirty="0"/>
          </a:p>
        </p:txBody>
      </p:sp>
      <p:sp>
        <p:nvSpPr>
          <p:cNvPr id="6" name="TextBox 5"/>
          <p:cNvSpPr txBox="1"/>
          <p:nvPr/>
        </p:nvSpPr>
        <p:spPr>
          <a:xfrm>
            <a:off x="557048" y="5710019"/>
            <a:ext cx="8397766" cy="646331"/>
          </a:xfrm>
          <a:prstGeom prst="rect">
            <a:avLst/>
          </a:prstGeom>
          <a:noFill/>
        </p:spPr>
        <p:txBody>
          <a:bodyPr wrap="square" rtlCol="0">
            <a:spAutoFit/>
          </a:bodyPr>
          <a:lstStyle/>
          <a:p>
            <a:r>
              <a:rPr lang="en-US" dirty="0"/>
              <a:t>Relationships among several types of requirements information. Solid arrows mean “are stored in”; dotted arrows mean “are the origin of” or “influence”.</a:t>
            </a:r>
          </a:p>
        </p:txBody>
      </p:sp>
    </p:spTree>
    <p:extLst>
      <p:ext uri="{BB962C8B-B14F-4D97-AF65-F5344CB8AC3E}">
        <p14:creationId xmlns:p14="http://schemas.microsoft.com/office/powerpoint/2010/main" val="106096834"/>
      </p:ext>
    </p:extLst>
  </p:cSld>
  <p:clrMapOvr>
    <a:masterClrMapping/>
  </p:clrMapOvr>
  <p:transition>
    <p:split orient="vert"/>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89187" y="1108120"/>
            <a:ext cx="8839200" cy="2471372"/>
          </a:xfrm>
        </p:spPr>
        <p:txBody>
          <a:bodyPr/>
          <a:lstStyle/>
          <a:p>
            <a:pPr algn="just"/>
            <a:r>
              <a:rPr lang="en-US" sz="2600" dirty="0"/>
              <a:t>Biz requirements describe why the organization is implementing the system – the biz benefits the organization hopes to achieve.</a:t>
            </a:r>
          </a:p>
          <a:p>
            <a:pPr algn="just"/>
            <a:r>
              <a:rPr lang="en-US" sz="2600" i="1" dirty="0"/>
              <a:t>Suppose an airline wants to reduce airport counter staff costs by </a:t>
            </a:r>
            <a:r>
              <a:rPr lang="en-US" sz="2600" i="1" dirty="0">
                <a:solidFill>
                  <a:srgbClr val="FF0000"/>
                </a:solidFill>
              </a:rPr>
              <a:t>25%. </a:t>
            </a:r>
            <a:r>
              <a:rPr lang="en-US" sz="2600" i="1" dirty="0"/>
              <a:t>This goal might lead to the idea of building a kiosk that passengers can use check in their flights at the airport.</a:t>
            </a:r>
          </a:p>
        </p:txBody>
      </p:sp>
      <p:sp>
        <p:nvSpPr>
          <p:cNvPr id="2" name="Title 1"/>
          <p:cNvSpPr>
            <a:spLocks noGrp="1"/>
          </p:cNvSpPr>
          <p:nvPr>
            <p:ph type="title"/>
          </p:nvPr>
        </p:nvSpPr>
        <p:spPr>
          <a:xfrm>
            <a:off x="2586792" y="0"/>
            <a:ext cx="6557208" cy="1051034"/>
          </a:xfrm>
        </p:spPr>
        <p:txBody>
          <a:bodyPr/>
          <a:lstStyle/>
          <a:p>
            <a:r>
              <a:rPr lang="en-US" sz="3200" dirty="0"/>
              <a:t>Business requirements</a:t>
            </a:r>
          </a:p>
        </p:txBody>
      </p:sp>
      <p:sp>
        <p:nvSpPr>
          <p:cNvPr id="5" name="Slide Number Placeholder 4"/>
          <p:cNvSpPr>
            <a:spLocks noGrp="1"/>
          </p:cNvSpPr>
          <p:nvPr>
            <p:ph type="sldNum" sz="quarter" idx="11"/>
          </p:nvPr>
        </p:nvSpPr>
        <p:spPr/>
        <p:txBody>
          <a:bodyPr/>
          <a:lstStyle/>
          <a:p>
            <a:pPr>
              <a:defRPr/>
            </a:pPr>
            <a:fld id="{38F81FAE-D748-4BFC-A8B0-D2E750E8899F}" type="slidenum">
              <a:rPr lang="en-US" smtClean="0"/>
              <a:pPr>
                <a:defRPr/>
              </a:pPr>
              <a:t>9</a:t>
            </a:fld>
            <a:endParaRPr lang="en-US" dirty="0"/>
          </a:p>
        </p:txBody>
      </p:sp>
      <p:pic>
        <p:nvPicPr>
          <p:cNvPr id="7" name="Picture 6"/>
          <p:cNvPicPr>
            <a:picLocks noChangeAspect="1"/>
          </p:cNvPicPr>
          <p:nvPr/>
        </p:nvPicPr>
        <p:blipFill>
          <a:blip r:embed="rId3"/>
          <a:stretch>
            <a:fillRect/>
          </a:stretch>
        </p:blipFill>
        <p:spPr>
          <a:xfrm>
            <a:off x="5980386" y="3898341"/>
            <a:ext cx="3133320" cy="2400923"/>
          </a:xfrm>
          <a:prstGeom prst="rect">
            <a:avLst/>
          </a:prstGeom>
        </p:spPr>
      </p:pic>
      <p:sp>
        <p:nvSpPr>
          <p:cNvPr id="8" name="Content Placeholder 2"/>
          <p:cNvSpPr txBox="1">
            <a:spLocks/>
          </p:cNvSpPr>
          <p:nvPr/>
        </p:nvSpPr>
        <p:spPr bwMode="auto">
          <a:xfrm>
            <a:off x="189187" y="3564446"/>
            <a:ext cx="5465379" cy="283779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FontTx/>
              <a:buBlip>
                <a:blip r:embed="rId4"/>
              </a:buBlip>
              <a:defRPr sz="2800" kern="1200">
                <a:solidFill>
                  <a:schemeClr val="tx1"/>
                </a:solidFill>
                <a:latin typeface="+mn-lt"/>
                <a:ea typeface="+mn-ea"/>
                <a:cs typeface="Tahoma" pitchFamily="34" charset="0"/>
              </a:defRPr>
            </a:lvl1pPr>
            <a:lvl2pPr marL="742950" indent="-285750" algn="l" rtl="0" eaLnBrk="0" fontAlgn="base" hangingPunct="0">
              <a:spcBef>
                <a:spcPct val="20000"/>
              </a:spcBef>
              <a:spcAft>
                <a:spcPct val="0"/>
              </a:spcAft>
              <a:buFontTx/>
              <a:buBlip>
                <a:blip r:embed="rId5"/>
              </a:buBlip>
              <a:defRPr sz="2400" kern="1200">
                <a:solidFill>
                  <a:schemeClr val="tx1"/>
                </a:solidFill>
                <a:latin typeface="+mn-lt"/>
                <a:ea typeface="+mn-ea"/>
                <a:cs typeface="Tahoma" pitchFamily="34" charset="0"/>
              </a:defRPr>
            </a:lvl2pPr>
            <a:lvl3pPr marL="1143000" indent="-228600" algn="l" rtl="0" eaLnBrk="0" fontAlgn="base" hangingPunct="0">
              <a:spcBef>
                <a:spcPct val="20000"/>
              </a:spcBef>
              <a:spcAft>
                <a:spcPct val="0"/>
              </a:spcAft>
              <a:buFontTx/>
              <a:buBlip>
                <a:blip r:embed="rId6"/>
              </a:buBlip>
              <a:defRPr sz="2000" kern="1200">
                <a:solidFill>
                  <a:schemeClr val="tx1"/>
                </a:solidFill>
                <a:latin typeface="+mn-lt"/>
                <a:ea typeface="+mn-ea"/>
                <a:cs typeface="Tahoma" pitchFamily="34" charset="0"/>
              </a:defRPr>
            </a:lvl3pPr>
            <a:lvl4pPr marL="1600200" indent="-228600" algn="l" rtl="0" eaLnBrk="0" fontAlgn="base" hangingPunct="0">
              <a:spcBef>
                <a:spcPct val="20000"/>
              </a:spcBef>
              <a:spcAft>
                <a:spcPct val="0"/>
              </a:spcAft>
              <a:buFont typeface="Arial" charset="0"/>
              <a:buChar char="–"/>
              <a:defRPr sz="1800" kern="1200">
                <a:solidFill>
                  <a:schemeClr val="tx1"/>
                </a:solidFill>
                <a:latin typeface="+mn-lt"/>
                <a:ea typeface="+mn-ea"/>
                <a:cs typeface="Tahoma" pitchFamily="34" charset="0"/>
              </a:defRPr>
            </a:lvl4pPr>
            <a:lvl5pPr marL="2057400" indent="-228600" algn="l" rtl="0" eaLnBrk="0" fontAlgn="base" hangingPunct="0">
              <a:spcBef>
                <a:spcPct val="20000"/>
              </a:spcBef>
              <a:spcAft>
                <a:spcPct val="0"/>
              </a:spcAft>
              <a:buFont typeface="Arial" charset="0"/>
              <a:buChar char="»"/>
              <a:defRPr sz="1800" kern="1200">
                <a:solidFill>
                  <a:schemeClr val="tx1"/>
                </a:solidFill>
                <a:latin typeface="+mn-lt"/>
                <a:ea typeface="+mn-ea"/>
                <a:cs typeface="Tahoma"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just" defTabSz="914400"/>
            <a:r>
              <a:rPr lang="en-US" sz="2600" dirty="0"/>
              <a:t>Biz requirements typically come from the funding sponsor for a project, the acquiring customers, the manager of the actual users, the marketing department, or a product visionary.</a:t>
            </a:r>
          </a:p>
          <a:p>
            <a:pPr marL="0" indent="0" algn="just" defTabSz="914400">
              <a:buNone/>
            </a:pPr>
            <a:r>
              <a:rPr lang="en-US" sz="2400" b="1" i="1" dirty="0">
                <a:solidFill>
                  <a:srgbClr val="003399"/>
                </a:solidFill>
              </a:rPr>
              <a:t>We will study more details in chapter 5.</a:t>
            </a:r>
            <a:endParaRPr lang="en-US" b="1" i="1" dirty="0">
              <a:solidFill>
                <a:srgbClr val="003399"/>
              </a:solidFill>
            </a:endParaRPr>
          </a:p>
        </p:txBody>
      </p:sp>
    </p:spTree>
    <p:extLst>
      <p:ext uri="{BB962C8B-B14F-4D97-AF65-F5344CB8AC3E}">
        <p14:creationId xmlns:p14="http://schemas.microsoft.com/office/powerpoint/2010/main" val="995788134"/>
      </p:ext>
    </p:extLst>
  </p:cSld>
  <p:clrMapOvr>
    <a:masterClrMapping/>
  </p:clrMapOvr>
  <p:transition>
    <p:split orient="vert"/>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89187" y="1165207"/>
            <a:ext cx="8839200" cy="2471372"/>
          </a:xfrm>
        </p:spPr>
        <p:txBody>
          <a:bodyPr/>
          <a:lstStyle/>
          <a:p>
            <a:pPr algn="just"/>
            <a:r>
              <a:rPr lang="en-US" sz="2600" dirty="0"/>
              <a:t>User requirements describe goals or tasks the users must be able to perform with the product that will provide value to someone</a:t>
            </a:r>
            <a:r>
              <a:rPr lang="en-US" sz="2600" i="1" dirty="0"/>
              <a:t>.</a:t>
            </a:r>
          </a:p>
          <a:p>
            <a:pPr algn="just"/>
            <a:r>
              <a:rPr lang="en-US" sz="2600" dirty="0"/>
              <a:t>The domain of user requirements includes </a:t>
            </a:r>
            <a:r>
              <a:rPr lang="en-US" sz="2600" dirty="0">
                <a:solidFill>
                  <a:srgbClr val="003399"/>
                </a:solidFill>
              </a:rPr>
              <a:t>descriptions of product attributes</a:t>
            </a:r>
            <a:r>
              <a:rPr lang="en-US" sz="2600" dirty="0"/>
              <a:t> or </a:t>
            </a:r>
            <a:r>
              <a:rPr lang="en-US" sz="2600" dirty="0">
                <a:solidFill>
                  <a:srgbClr val="003399"/>
                </a:solidFill>
              </a:rPr>
              <a:t>characteristics</a:t>
            </a:r>
            <a:r>
              <a:rPr lang="en-US" sz="2600" dirty="0"/>
              <a:t> that are </a:t>
            </a:r>
            <a:r>
              <a:rPr lang="en-US" sz="2600" dirty="0">
                <a:solidFill>
                  <a:srgbClr val="003399"/>
                </a:solidFill>
              </a:rPr>
              <a:t>important to user satisfaction</a:t>
            </a:r>
            <a:r>
              <a:rPr lang="en-US" sz="2600" dirty="0"/>
              <a:t>.</a:t>
            </a:r>
          </a:p>
        </p:txBody>
      </p:sp>
      <p:sp>
        <p:nvSpPr>
          <p:cNvPr id="2" name="Title 1"/>
          <p:cNvSpPr>
            <a:spLocks noGrp="1"/>
          </p:cNvSpPr>
          <p:nvPr>
            <p:ph type="title"/>
          </p:nvPr>
        </p:nvSpPr>
        <p:spPr>
          <a:xfrm>
            <a:off x="2586792" y="0"/>
            <a:ext cx="6557208" cy="1051034"/>
          </a:xfrm>
        </p:spPr>
        <p:txBody>
          <a:bodyPr/>
          <a:lstStyle/>
          <a:p>
            <a:r>
              <a:rPr lang="en-US" sz="3200" dirty="0"/>
              <a:t>User requirements</a:t>
            </a:r>
          </a:p>
        </p:txBody>
      </p:sp>
      <p:sp>
        <p:nvSpPr>
          <p:cNvPr id="8" name="Content Placeholder 2"/>
          <p:cNvSpPr txBox="1">
            <a:spLocks/>
          </p:cNvSpPr>
          <p:nvPr/>
        </p:nvSpPr>
        <p:spPr bwMode="auto">
          <a:xfrm>
            <a:off x="189187" y="3636579"/>
            <a:ext cx="5770179" cy="2606566"/>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FontTx/>
              <a:buBlip>
                <a:blip r:embed="rId3"/>
              </a:buBlip>
              <a:defRPr sz="2800" kern="1200">
                <a:solidFill>
                  <a:schemeClr val="tx1"/>
                </a:solidFill>
                <a:latin typeface="+mn-lt"/>
                <a:ea typeface="+mn-ea"/>
                <a:cs typeface="Tahoma" pitchFamily="34" charset="0"/>
              </a:defRPr>
            </a:lvl1pPr>
            <a:lvl2pPr marL="742950" indent="-285750" algn="l" rtl="0" eaLnBrk="0" fontAlgn="base" hangingPunct="0">
              <a:spcBef>
                <a:spcPct val="20000"/>
              </a:spcBef>
              <a:spcAft>
                <a:spcPct val="0"/>
              </a:spcAft>
              <a:buFontTx/>
              <a:buBlip>
                <a:blip r:embed="rId4"/>
              </a:buBlip>
              <a:defRPr sz="2400" kern="1200">
                <a:solidFill>
                  <a:schemeClr val="tx1"/>
                </a:solidFill>
                <a:latin typeface="+mn-lt"/>
                <a:ea typeface="+mn-ea"/>
                <a:cs typeface="Tahoma" pitchFamily="34" charset="0"/>
              </a:defRPr>
            </a:lvl2pPr>
            <a:lvl3pPr marL="1143000" indent="-228600" algn="l" rtl="0" eaLnBrk="0" fontAlgn="base" hangingPunct="0">
              <a:spcBef>
                <a:spcPct val="20000"/>
              </a:spcBef>
              <a:spcAft>
                <a:spcPct val="0"/>
              </a:spcAft>
              <a:buFontTx/>
              <a:buBlip>
                <a:blip r:embed="rId5"/>
              </a:buBlip>
              <a:defRPr sz="2000" kern="1200">
                <a:solidFill>
                  <a:schemeClr val="tx1"/>
                </a:solidFill>
                <a:latin typeface="+mn-lt"/>
                <a:ea typeface="+mn-ea"/>
                <a:cs typeface="Tahoma" pitchFamily="34" charset="0"/>
              </a:defRPr>
            </a:lvl3pPr>
            <a:lvl4pPr marL="1600200" indent="-228600" algn="l" rtl="0" eaLnBrk="0" fontAlgn="base" hangingPunct="0">
              <a:spcBef>
                <a:spcPct val="20000"/>
              </a:spcBef>
              <a:spcAft>
                <a:spcPct val="0"/>
              </a:spcAft>
              <a:buFont typeface="Arial" charset="0"/>
              <a:buChar char="–"/>
              <a:defRPr sz="1800" kern="1200">
                <a:solidFill>
                  <a:schemeClr val="tx1"/>
                </a:solidFill>
                <a:latin typeface="+mn-lt"/>
                <a:ea typeface="+mn-ea"/>
                <a:cs typeface="Tahoma" pitchFamily="34" charset="0"/>
              </a:defRPr>
            </a:lvl4pPr>
            <a:lvl5pPr marL="2057400" indent="-228600" algn="l" rtl="0" eaLnBrk="0" fontAlgn="base" hangingPunct="0">
              <a:spcBef>
                <a:spcPct val="20000"/>
              </a:spcBef>
              <a:spcAft>
                <a:spcPct val="0"/>
              </a:spcAft>
              <a:buFont typeface="Arial" charset="0"/>
              <a:buChar char="»"/>
              <a:defRPr sz="1800" kern="1200">
                <a:solidFill>
                  <a:schemeClr val="tx1"/>
                </a:solidFill>
                <a:latin typeface="+mn-lt"/>
                <a:ea typeface="+mn-ea"/>
                <a:cs typeface="Tahoma"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just" defTabSz="914400"/>
            <a:r>
              <a:rPr lang="en-US" sz="2600" dirty="0"/>
              <a:t>User requirements describe </a:t>
            </a:r>
            <a:r>
              <a:rPr lang="en-US" sz="2600" i="1" dirty="0">
                <a:solidFill>
                  <a:srgbClr val="003399"/>
                </a:solidFill>
              </a:rPr>
              <a:t>what</a:t>
            </a:r>
            <a:r>
              <a:rPr lang="en-US" sz="2600" dirty="0"/>
              <a:t> the user will be able to do with the system.</a:t>
            </a:r>
          </a:p>
          <a:p>
            <a:pPr algn="just" defTabSz="914400"/>
            <a:r>
              <a:rPr lang="en-US" sz="2600" dirty="0"/>
              <a:t>Ways to represent user requirements includes </a:t>
            </a:r>
            <a:r>
              <a:rPr lang="en-US" sz="2600" i="1" dirty="0">
                <a:solidFill>
                  <a:srgbClr val="003399"/>
                </a:solidFill>
              </a:rPr>
              <a:t>user cases</a:t>
            </a:r>
            <a:r>
              <a:rPr lang="en-US" sz="2600" i="1" dirty="0"/>
              <a:t>, </a:t>
            </a:r>
            <a:r>
              <a:rPr lang="en-US" sz="2600" i="1" dirty="0">
                <a:solidFill>
                  <a:srgbClr val="003399"/>
                </a:solidFill>
              </a:rPr>
              <a:t>user stories</a:t>
            </a:r>
            <a:r>
              <a:rPr lang="en-US" sz="2600" i="1" dirty="0"/>
              <a:t>, or </a:t>
            </a:r>
            <a:r>
              <a:rPr lang="en-US" sz="2600" i="1" dirty="0">
                <a:solidFill>
                  <a:srgbClr val="003399"/>
                </a:solidFill>
              </a:rPr>
              <a:t>event-response tables</a:t>
            </a:r>
            <a:r>
              <a:rPr lang="en-US" sz="2600" i="1" dirty="0"/>
              <a:t>.</a:t>
            </a:r>
          </a:p>
          <a:p>
            <a:pPr marL="0" indent="0" algn="just" defTabSz="914400">
              <a:buNone/>
            </a:pPr>
            <a:r>
              <a:rPr lang="en-US" sz="2400" b="1" i="1" dirty="0">
                <a:solidFill>
                  <a:srgbClr val="003399"/>
                </a:solidFill>
              </a:rPr>
              <a:t>We will study more details in chapter 8.</a:t>
            </a:r>
          </a:p>
        </p:txBody>
      </p:sp>
      <p:sp>
        <p:nvSpPr>
          <p:cNvPr id="5" name="Slide Number Placeholder 4"/>
          <p:cNvSpPr>
            <a:spLocks noGrp="1"/>
          </p:cNvSpPr>
          <p:nvPr>
            <p:ph type="sldNum" sz="quarter" idx="11"/>
          </p:nvPr>
        </p:nvSpPr>
        <p:spPr/>
        <p:txBody>
          <a:bodyPr/>
          <a:lstStyle/>
          <a:p>
            <a:pPr>
              <a:defRPr/>
            </a:pPr>
            <a:fld id="{38F81FAE-D748-4BFC-A8B0-D2E750E8899F}" type="slidenum">
              <a:rPr lang="en-US" smtClean="0"/>
              <a:pPr>
                <a:defRPr/>
              </a:pPr>
              <a:t>10</a:t>
            </a:fld>
            <a:endParaRPr lang="en-US" dirty="0"/>
          </a:p>
        </p:txBody>
      </p:sp>
      <p:pic>
        <p:nvPicPr>
          <p:cNvPr id="6" name="Picture 5"/>
          <p:cNvPicPr>
            <a:picLocks noChangeAspect="1"/>
          </p:cNvPicPr>
          <p:nvPr/>
        </p:nvPicPr>
        <p:blipFill>
          <a:blip r:embed="rId6"/>
          <a:stretch>
            <a:fillRect/>
          </a:stretch>
        </p:blipFill>
        <p:spPr>
          <a:xfrm>
            <a:off x="6211506" y="3447394"/>
            <a:ext cx="2893082" cy="2893082"/>
          </a:xfrm>
          <a:prstGeom prst="rect">
            <a:avLst/>
          </a:prstGeom>
        </p:spPr>
      </p:pic>
    </p:spTree>
    <p:extLst>
      <p:ext uri="{BB962C8B-B14F-4D97-AF65-F5344CB8AC3E}">
        <p14:creationId xmlns:p14="http://schemas.microsoft.com/office/powerpoint/2010/main" val="2413037375"/>
      </p:ext>
    </p:extLst>
  </p:cSld>
  <p:clrMapOvr>
    <a:masterClrMapping/>
  </p:clrMapOvr>
  <p:transition>
    <p:split orient="vert"/>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89187" y="1165206"/>
            <a:ext cx="8839200" cy="3774655"/>
          </a:xfrm>
        </p:spPr>
        <p:txBody>
          <a:bodyPr/>
          <a:lstStyle/>
          <a:p>
            <a:pPr algn="just"/>
            <a:r>
              <a:rPr lang="en-US" sz="2600" dirty="0"/>
              <a:t>Functional requirements specify the behaviors the product will exhibit under specific conditions.</a:t>
            </a:r>
          </a:p>
          <a:p>
            <a:pPr algn="just"/>
            <a:r>
              <a:rPr lang="en-US" sz="2600" dirty="0"/>
              <a:t>They describe </a:t>
            </a:r>
            <a:r>
              <a:rPr lang="en-US" sz="2600" i="1" dirty="0">
                <a:solidFill>
                  <a:srgbClr val="003399"/>
                </a:solidFill>
              </a:rPr>
              <a:t>what</a:t>
            </a:r>
            <a:r>
              <a:rPr lang="en-US" sz="2600" i="1" dirty="0"/>
              <a:t> </a:t>
            </a:r>
            <a:r>
              <a:rPr lang="en-US" sz="2600" dirty="0"/>
              <a:t>the developers must implement to enable users to accomplish their tasks (user requirements), thereby satisfying the biz requirements.</a:t>
            </a:r>
            <a:endParaRPr lang="vi-VN" sz="2600" dirty="0"/>
          </a:p>
          <a:p>
            <a:pPr algn="just"/>
            <a:r>
              <a:rPr lang="vi-VN" sz="2600" dirty="0">
                <a:latin typeface="Calibri" panose="020F0502020204030204" pitchFamily="34" charset="0"/>
                <a:cs typeface="Calibri" panose="020F0502020204030204" pitchFamily="34" charset="0"/>
              </a:rPr>
              <a:t>Functional requirements often are written in the form of the traditional “shall” statements: </a:t>
            </a:r>
            <a:r>
              <a:rPr lang="vi-VN" sz="2600" i="1" dirty="0">
                <a:latin typeface="Calibri" panose="020F0502020204030204" pitchFamily="34" charset="0"/>
                <a:cs typeface="Calibri" panose="020F0502020204030204" pitchFamily="34" charset="0"/>
              </a:rPr>
              <a:t>“The passenger shall be able to print boarding passes for all flight segments for which he has checked in”</a:t>
            </a:r>
            <a:r>
              <a:rPr lang="vi-VN" sz="2600" dirty="0">
                <a:latin typeface="Calibri" panose="020F0502020204030204" pitchFamily="34" charset="0"/>
                <a:cs typeface="Calibri" panose="020F0502020204030204" pitchFamily="34" charset="0"/>
              </a:rPr>
              <a:t>.</a:t>
            </a:r>
            <a:endParaRPr lang="en-US" sz="2600" dirty="0"/>
          </a:p>
        </p:txBody>
      </p:sp>
      <p:sp>
        <p:nvSpPr>
          <p:cNvPr id="2" name="Title 1"/>
          <p:cNvSpPr>
            <a:spLocks noGrp="1"/>
          </p:cNvSpPr>
          <p:nvPr>
            <p:ph type="title"/>
          </p:nvPr>
        </p:nvSpPr>
        <p:spPr>
          <a:xfrm>
            <a:off x="2586792" y="0"/>
            <a:ext cx="6557208" cy="1051034"/>
          </a:xfrm>
        </p:spPr>
        <p:txBody>
          <a:bodyPr/>
          <a:lstStyle/>
          <a:p>
            <a:r>
              <a:rPr lang="en-US" sz="3200" dirty="0"/>
              <a:t>Functional requirements</a:t>
            </a:r>
          </a:p>
        </p:txBody>
      </p:sp>
      <p:sp>
        <p:nvSpPr>
          <p:cNvPr id="5" name="Slide Number Placeholder 4"/>
          <p:cNvSpPr>
            <a:spLocks noGrp="1"/>
          </p:cNvSpPr>
          <p:nvPr>
            <p:ph type="sldNum" sz="quarter" idx="11"/>
          </p:nvPr>
        </p:nvSpPr>
        <p:spPr/>
        <p:txBody>
          <a:bodyPr/>
          <a:lstStyle/>
          <a:p>
            <a:pPr>
              <a:defRPr/>
            </a:pPr>
            <a:fld id="{38F81FAE-D748-4BFC-A8B0-D2E750E8899F}" type="slidenum">
              <a:rPr lang="en-US" smtClean="0"/>
              <a:pPr>
                <a:defRPr/>
              </a:pPr>
              <a:t>11</a:t>
            </a:fld>
            <a:endParaRPr lang="en-US" dirty="0"/>
          </a:p>
        </p:txBody>
      </p:sp>
      <p:pic>
        <p:nvPicPr>
          <p:cNvPr id="7" name="Picture 6"/>
          <p:cNvPicPr>
            <a:picLocks noChangeAspect="1"/>
          </p:cNvPicPr>
          <p:nvPr/>
        </p:nvPicPr>
        <p:blipFill>
          <a:blip r:embed="rId3"/>
          <a:stretch>
            <a:fillRect/>
          </a:stretch>
        </p:blipFill>
        <p:spPr>
          <a:xfrm>
            <a:off x="3558031" y="4705004"/>
            <a:ext cx="5125156" cy="1593643"/>
          </a:xfrm>
          <a:prstGeom prst="rect">
            <a:avLst/>
          </a:prstGeom>
        </p:spPr>
      </p:pic>
    </p:spTree>
    <p:extLst>
      <p:ext uri="{BB962C8B-B14F-4D97-AF65-F5344CB8AC3E}">
        <p14:creationId xmlns:p14="http://schemas.microsoft.com/office/powerpoint/2010/main" val="189496238"/>
      </p:ext>
    </p:extLst>
  </p:cSld>
  <p:clrMapOvr>
    <a:masterClrMapping/>
  </p:clrMapOvr>
  <p:transition>
    <p:split orient="vert"/>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89187" y="1165206"/>
            <a:ext cx="8839200" cy="3774655"/>
          </a:xfrm>
        </p:spPr>
        <p:txBody>
          <a:bodyPr/>
          <a:lstStyle/>
          <a:p>
            <a:pPr algn="just"/>
            <a:r>
              <a:rPr lang="vi-VN" dirty="0">
                <a:latin typeface="Calibri" panose="020F0502020204030204" pitchFamily="34" charset="0"/>
                <a:cs typeface="Calibri" panose="020F0502020204030204" pitchFamily="34" charset="0"/>
              </a:rPr>
              <a:t>The BA documents functional requirements in a </a:t>
            </a:r>
            <a:r>
              <a:rPr lang="vi-VN" i="1" dirty="0">
                <a:solidFill>
                  <a:srgbClr val="003399"/>
                </a:solidFill>
                <a:latin typeface="Calibri" panose="020F0502020204030204" pitchFamily="34" charset="0"/>
                <a:cs typeface="Calibri" panose="020F0502020204030204" pitchFamily="34" charset="0"/>
              </a:rPr>
              <a:t>SW requirements specification</a:t>
            </a:r>
            <a:r>
              <a:rPr lang="vi-VN" dirty="0">
                <a:latin typeface="Calibri" panose="020F0502020204030204" pitchFamily="34" charset="0"/>
                <a:cs typeface="Calibri" panose="020F0502020204030204" pitchFamily="34" charset="0"/>
              </a:rPr>
              <a:t> (SRS), which describes as fully as necessary the expected behavior of the SW system.</a:t>
            </a:r>
          </a:p>
          <a:p>
            <a:pPr algn="just"/>
            <a:r>
              <a:rPr lang="vi-VN" dirty="0">
                <a:latin typeface="Calibri" panose="020F0502020204030204" pitchFamily="34" charset="0"/>
                <a:cs typeface="Calibri" panose="020F0502020204030204" pitchFamily="34" charset="0"/>
              </a:rPr>
              <a:t>The SRS is used in development, testing, quality assurance, project management, and related project functions.</a:t>
            </a:r>
          </a:p>
          <a:p>
            <a:pPr marL="0" indent="0" algn="just">
              <a:buNone/>
            </a:pPr>
            <a:r>
              <a:rPr lang="vi-VN" i="1" dirty="0">
                <a:solidFill>
                  <a:srgbClr val="003399"/>
                </a:solidFill>
                <a:latin typeface="Calibri" panose="020F0502020204030204" pitchFamily="34" charset="0"/>
                <a:cs typeface="Calibri" panose="020F0502020204030204" pitchFamily="34" charset="0"/>
              </a:rPr>
              <a:t>We will study more details in chapter 10.</a:t>
            </a:r>
            <a:endParaRPr lang="en-US" i="1" dirty="0">
              <a:solidFill>
                <a:srgbClr val="003399"/>
              </a:solidFill>
              <a:latin typeface="Calibri" panose="020F0502020204030204" pitchFamily="34" charset="0"/>
              <a:cs typeface="Calibri" panose="020F0502020204030204" pitchFamily="34" charset="0"/>
            </a:endParaRPr>
          </a:p>
        </p:txBody>
      </p:sp>
      <p:sp>
        <p:nvSpPr>
          <p:cNvPr id="2" name="Title 1"/>
          <p:cNvSpPr>
            <a:spLocks noGrp="1"/>
          </p:cNvSpPr>
          <p:nvPr>
            <p:ph type="title"/>
          </p:nvPr>
        </p:nvSpPr>
        <p:spPr>
          <a:xfrm>
            <a:off x="2586792" y="0"/>
            <a:ext cx="6557208" cy="1051034"/>
          </a:xfrm>
        </p:spPr>
        <p:txBody>
          <a:bodyPr/>
          <a:lstStyle/>
          <a:p>
            <a:r>
              <a:rPr lang="vi-VN" sz="3200" dirty="0">
                <a:latin typeface="Calibri" panose="020F0502020204030204" pitchFamily="34" charset="0"/>
                <a:cs typeface="Calibri" panose="020F0502020204030204" pitchFamily="34" charset="0"/>
              </a:rPr>
              <a:t>Biz analyst (BA) </a:t>
            </a:r>
            <a:endParaRPr lang="en-US" sz="3200" dirty="0">
              <a:latin typeface="Calibri" panose="020F0502020204030204" pitchFamily="34" charset="0"/>
              <a:cs typeface="Calibri" panose="020F0502020204030204" pitchFamily="34" charset="0"/>
            </a:endParaRPr>
          </a:p>
        </p:txBody>
      </p:sp>
      <p:sp>
        <p:nvSpPr>
          <p:cNvPr id="5" name="Slide Number Placeholder 4"/>
          <p:cNvSpPr>
            <a:spLocks noGrp="1"/>
          </p:cNvSpPr>
          <p:nvPr>
            <p:ph type="sldNum" sz="quarter" idx="11"/>
          </p:nvPr>
        </p:nvSpPr>
        <p:spPr/>
        <p:txBody>
          <a:bodyPr/>
          <a:lstStyle/>
          <a:p>
            <a:pPr>
              <a:defRPr/>
            </a:pPr>
            <a:fld id="{38F81FAE-D748-4BFC-A8B0-D2E750E8899F}" type="slidenum">
              <a:rPr lang="en-US" smtClean="0"/>
              <a:pPr>
                <a:defRPr/>
              </a:pPr>
              <a:t>12</a:t>
            </a:fld>
            <a:endParaRPr lang="en-US" dirty="0"/>
          </a:p>
        </p:txBody>
      </p:sp>
      <p:pic>
        <p:nvPicPr>
          <p:cNvPr id="6" name="Picture 5"/>
          <p:cNvPicPr>
            <a:picLocks noChangeAspect="1"/>
          </p:cNvPicPr>
          <p:nvPr/>
        </p:nvPicPr>
        <p:blipFill>
          <a:blip r:embed="rId3"/>
          <a:stretch>
            <a:fillRect/>
          </a:stretch>
        </p:blipFill>
        <p:spPr>
          <a:xfrm>
            <a:off x="6285185" y="4366606"/>
            <a:ext cx="2781301" cy="1937194"/>
          </a:xfrm>
          <a:prstGeom prst="rect">
            <a:avLst/>
          </a:prstGeom>
        </p:spPr>
      </p:pic>
    </p:spTree>
    <p:extLst>
      <p:ext uri="{BB962C8B-B14F-4D97-AF65-F5344CB8AC3E}">
        <p14:creationId xmlns:p14="http://schemas.microsoft.com/office/powerpoint/2010/main" val="4149121382"/>
      </p:ext>
    </p:extLst>
  </p:cSld>
  <p:clrMapOvr>
    <a:masterClrMapping/>
  </p:clrMapOvr>
  <p:transition>
    <p:split orient="vert"/>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89187" y="1165206"/>
            <a:ext cx="8839200" cy="3774655"/>
          </a:xfrm>
        </p:spPr>
        <p:txBody>
          <a:bodyPr/>
          <a:lstStyle/>
          <a:p>
            <a:pPr algn="just"/>
            <a:r>
              <a:rPr lang="vi-VN" dirty="0">
                <a:latin typeface="Calibri" panose="020F0502020204030204" pitchFamily="34" charset="0"/>
                <a:cs typeface="Calibri" panose="020F0502020204030204" pitchFamily="34" charset="0"/>
              </a:rPr>
              <a:t>System requirements describe the requirements for a product that is composed of multiple components or subsystems.</a:t>
            </a:r>
          </a:p>
          <a:p>
            <a:pPr algn="just"/>
            <a:r>
              <a:rPr lang="vi-VN" dirty="0">
                <a:latin typeface="Calibri" panose="020F0502020204030204" pitchFamily="34" charset="0"/>
                <a:cs typeface="Calibri" panose="020F0502020204030204" pitchFamily="34" charset="0"/>
              </a:rPr>
              <a:t>A system can be all SW or it can include both SW and HW subsystems.</a:t>
            </a:r>
          </a:p>
          <a:p>
            <a:r>
              <a:rPr lang="vi-VN" dirty="0">
                <a:latin typeface="Calibri" panose="020F0502020204030204" pitchFamily="34" charset="0"/>
                <a:cs typeface="Calibri" panose="020F0502020204030204" pitchFamily="34" charset="0"/>
              </a:rPr>
              <a:t>People and processes are part of a system, too, so certain system functions might be </a:t>
            </a:r>
            <a:br>
              <a:rPr lang="vi-VN" dirty="0">
                <a:latin typeface="Calibri" panose="020F0502020204030204" pitchFamily="34" charset="0"/>
                <a:cs typeface="Calibri" panose="020F0502020204030204" pitchFamily="34" charset="0"/>
              </a:rPr>
            </a:br>
            <a:r>
              <a:rPr lang="vi-VN" dirty="0">
                <a:latin typeface="Calibri" panose="020F0502020204030204" pitchFamily="34" charset="0"/>
                <a:cs typeface="Calibri" panose="020F0502020204030204" pitchFamily="34" charset="0"/>
              </a:rPr>
              <a:t>allocated to human being.</a:t>
            </a:r>
          </a:p>
        </p:txBody>
      </p:sp>
      <p:sp>
        <p:nvSpPr>
          <p:cNvPr id="2" name="Title 1"/>
          <p:cNvSpPr>
            <a:spLocks noGrp="1"/>
          </p:cNvSpPr>
          <p:nvPr>
            <p:ph type="title"/>
          </p:nvPr>
        </p:nvSpPr>
        <p:spPr>
          <a:xfrm>
            <a:off x="2586792" y="0"/>
            <a:ext cx="6557208" cy="1051034"/>
          </a:xfrm>
        </p:spPr>
        <p:txBody>
          <a:bodyPr/>
          <a:lstStyle/>
          <a:p>
            <a:r>
              <a:rPr lang="vi-VN" sz="3200" dirty="0">
                <a:latin typeface="Calibri" panose="020F0502020204030204" pitchFamily="34" charset="0"/>
                <a:cs typeface="Calibri" panose="020F0502020204030204" pitchFamily="34" charset="0"/>
              </a:rPr>
              <a:t>System requirements </a:t>
            </a:r>
            <a:endParaRPr lang="en-US" sz="3200" dirty="0">
              <a:latin typeface="Calibri" panose="020F0502020204030204" pitchFamily="34" charset="0"/>
              <a:cs typeface="Calibri" panose="020F0502020204030204" pitchFamily="34" charset="0"/>
            </a:endParaRPr>
          </a:p>
        </p:txBody>
      </p:sp>
      <p:sp>
        <p:nvSpPr>
          <p:cNvPr id="5" name="Slide Number Placeholder 4"/>
          <p:cNvSpPr>
            <a:spLocks noGrp="1"/>
          </p:cNvSpPr>
          <p:nvPr>
            <p:ph type="sldNum" sz="quarter" idx="11"/>
          </p:nvPr>
        </p:nvSpPr>
        <p:spPr/>
        <p:txBody>
          <a:bodyPr/>
          <a:lstStyle/>
          <a:p>
            <a:pPr>
              <a:defRPr/>
            </a:pPr>
            <a:fld id="{38F81FAE-D748-4BFC-A8B0-D2E750E8899F}" type="slidenum">
              <a:rPr lang="en-US" smtClean="0"/>
              <a:pPr>
                <a:defRPr/>
              </a:pPr>
              <a:t>13</a:t>
            </a:fld>
            <a:endParaRPr lang="en-US" dirty="0"/>
          </a:p>
        </p:txBody>
      </p:sp>
      <p:pic>
        <p:nvPicPr>
          <p:cNvPr id="7" name="Picture 6"/>
          <p:cNvPicPr>
            <a:picLocks noChangeAspect="1"/>
          </p:cNvPicPr>
          <p:nvPr/>
        </p:nvPicPr>
        <p:blipFill>
          <a:blip r:embed="rId3"/>
          <a:stretch>
            <a:fillRect/>
          </a:stretch>
        </p:blipFill>
        <p:spPr>
          <a:xfrm>
            <a:off x="5181600" y="4174911"/>
            <a:ext cx="3846787" cy="2068497"/>
          </a:xfrm>
          <a:prstGeom prst="rect">
            <a:avLst/>
          </a:prstGeom>
        </p:spPr>
      </p:pic>
    </p:spTree>
    <p:extLst>
      <p:ext uri="{BB962C8B-B14F-4D97-AF65-F5344CB8AC3E}">
        <p14:creationId xmlns:p14="http://schemas.microsoft.com/office/powerpoint/2010/main" val="1810818631"/>
      </p:ext>
    </p:extLst>
  </p:cSld>
  <p:clrMapOvr>
    <a:masterClrMapping/>
  </p:clrMapOvr>
  <p:transition>
    <p:split orient="vert"/>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89187" y="1165206"/>
            <a:ext cx="8839200" cy="3774655"/>
          </a:xfrm>
        </p:spPr>
        <p:txBody>
          <a:bodyPr/>
          <a:lstStyle/>
          <a:p>
            <a:pPr algn="just"/>
            <a:r>
              <a:rPr lang="vi-VN" dirty="0">
                <a:latin typeface="Calibri" panose="020F0502020204030204" pitchFamily="34" charset="0"/>
                <a:cs typeface="Calibri" panose="020F0502020204030204" pitchFamily="34" charset="0"/>
              </a:rPr>
              <a:t>Business rules include corporate policies, government regulations, industry standards, and computational algorithms.</a:t>
            </a:r>
          </a:p>
          <a:p>
            <a:pPr algn="just"/>
            <a:r>
              <a:rPr lang="vi-VN" dirty="0">
                <a:latin typeface="Calibri" panose="020F0502020204030204" pitchFamily="34" charset="0"/>
                <a:cs typeface="Calibri" panose="020F0502020204030204" pitchFamily="34" charset="0"/>
              </a:rPr>
              <a:t>Biz rules are not themselves SW requirements because they have an existence beyond the boudaries of any specific SW application.</a:t>
            </a:r>
          </a:p>
          <a:p>
            <a:pPr algn="just"/>
            <a:endParaRPr lang="vi-VN" dirty="0">
              <a:latin typeface="Calibri" panose="020F0502020204030204" pitchFamily="34" charset="0"/>
              <a:cs typeface="Calibri" panose="020F0502020204030204" pitchFamily="34" charset="0"/>
            </a:endParaRPr>
          </a:p>
        </p:txBody>
      </p:sp>
      <p:sp>
        <p:nvSpPr>
          <p:cNvPr id="2" name="Title 1"/>
          <p:cNvSpPr>
            <a:spLocks noGrp="1"/>
          </p:cNvSpPr>
          <p:nvPr>
            <p:ph type="title"/>
          </p:nvPr>
        </p:nvSpPr>
        <p:spPr>
          <a:xfrm>
            <a:off x="2586792" y="0"/>
            <a:ext cx="6557208" cy="1051034"/>
          </a:xfrm>
        </p:spPr>
        <p:txBody>
          <a:bodyPr/>
          <a:lstStyle/>
          <a:p>
            <a:r>
              <a:rPr lang="vi-VN" sz="3200" dirty="0">
                <a:latin typeface="Calibri" panose="020F0502020204030204" pitchFamily="34" charset="0"/>
                <a:cs typeface="Calibri" panose="020F0502020204030204" pitchFamily="34" charset="0"/>
              </a:rPr>
              <a:t>Business rules</a:t>
            </a:r>
            <a:endParaRPr lang="en-US" sz="3200" dirty="0">
              <a:latin typeface="Calibri" panose="020F0502020204030204" pitchFamily="34" charset="0"/>
              <a:cs typeface="Calibri" panose="020F0502020204030204" pitchFamily="34" charset="0"/>
            </a:endParaRPr>
          </a:p>
        </p:txBody>
      </p:sp>
      <p:sp>
        <p:nvSpPr>
          <p:cNvPr id="5" name="Slide Number Placeholder 4"/>
          <p:cNvSpPr>
            <a:spLocks noGrp="1"/>
          </p:cNvSpPr>
          <p:nvPr>
            <p:ph type="sldNum" sz="quarter" idx="11"/>
          </p:nvPr>
        </p:nvSpPr>
        <p:spPr/>
        <p:txBody>
          <a:bodyPr/>
          <a:lstStyle/>
          <a:p>
            <a:pPr>
              <a:defRPr/>
            </a:pPr>
            <a:fld id="{38F81FAE-D748-4BFC-A8B0-D2E750E8899F}" type="slidenum">
              <a:rPr lang="en-US" smtClean="0"/>
              <a:pPr>
                <a:defRPr/>
              </a:pPr>
              <a:t>14</a:t>
            </a:fld>
            <a:endParaRPr lang="en-US" dirty="0"/>
          </a:p>
        </p:txBody>
      </p:sp>
      <p:pic>
        <p:nvPicPr>
          <p:cNvPr id="6" name="Picture 5"/>
          <p:cNvPicPr>
            <a:picLocks noChangeAspect="1"/>
          </p:cNvPicPr>
          <p:nvPr/>
        </p:nvPicPr>
        <p:blipFill>
          <a:blip r:embed="rId3"/>
          <a:stretch>
            <a:fillRect/>
          </a:stretch>
        </p:blipFill>
        <p:spPr>
          <a:xfrm>
            <a:off x="3277810" y="4267200"/>
            <a:ext cx="5816265" cy="2033421"/>
          </a:xfrm>
          <a:prstGeom prst="rect">
            <a:avLst/>
          </a:prstGeom>
        </p:spPr>
      </p:pic>
    </p:spTree>
    <p:extLst>
      <p:ext uri="{BB962C8B-B14F-4D97-AF65-F5344CB8AC3E}">
        <p14:creationId xmlns:p14="http://schemas.microsoft.com/office/powerpoint/2010/main" val="1151561023"/>
      </p:ext>
    </p:extLst>
  </p:cSld>
  <p:clrMapOvr>
    <a:masterClrMapping/>
  </p:clrMapOvr>
  <p:transition>
    <p:split orient="vert"/>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89187" y="1153729"/>
            <a:ext cx="8839200" cy="3774655"/>
          </a:xfrm>
        </p:spPr>
        <p:txBody>
          <a:bodyPr/>
          <a:lstStyle/>
          <a:p>
            <a:pPr algn="just"/>
            <a:r>
              <a:rPr lang="en-US" dirty="0">
                <a:latin typeface="Calibri" panose="020F0502020204030204" pitchFamily="34" charset="0"/>
                <a:cs typeface="Calibri" panose="020F0502020204030204" pitchFamily="34" charset="0"/>
              </a:rPr>
              <a:t>A feature consists of one or more logically related system capabilities that provide value to a user and are described by a set of functional requirements</a:t>
            </a:r>
            <a:r>
              <a:rPr lang="vi-VN" dirty="0">
                <a:latin typeface="Calibri" panose="020F0502020204030204" pitchFamily="34" charset="0"/>
                <a:cs typeface="Calibri" panose="020F0502020204030204" pitchFamily="34" charset="0"/>
              </a:rPr>
              <a:t>.</a:t>
            </a:r>
          </a:p>
          <a:p>
            <a:pPr algn="just"/>
            <a:r>
              <a:rPr lang="en-US" dirty="0">
                <a:latin typeface="Calibri" panose="020F0502020204030204" pitchFamily="34" charset="0"/>
                <a:cs typeface="Calibri" panose="020F0502020204030204" pitchFamily="34" charset="0"/>
              </a:rPr>
              <a:t>Web browser bookmarks, spelling checkers, … are examples of features.</a:t>
            </a:r>
            <a:endParaRPr lang="vi-VN" dirty="0">
              <a:latin typeface="Calibri" panose="020F0502020204030204" pitchFamily="34" charset="0"/>
              <a:cs typeface="Calibri" panose="020F0502020204030204" pitchFamily="34" charset="0"/>
            </a:endParaRPr>
          </a:p>
        </p:txBody>
      </p:sp>
      <p:sp>
        <p:nvSpPr>
          <p:cNvPr id="2" name="Title 1"/>
          <p:cNvSpPr>
            <a:spLocks noGrp="1"/>
          </p:cNvSpPr>
          <p:nvPr>
            <p:ph type="title"/>
          </p:nvPr>
        </p:nvSpPr>
        <p:spPr>
          <a:xfrm>
            <a:off x="2586792" y="0"/>
            <a:ext cx="6557208" cy="1051034"/>
          </a:xfrm>
        </p:spPr>
        <p:txBody>
          <a:bodyPr/>
          <a:lstStyle/>
          <a:p>
            <a:r>
              <a:rPr lang="en-US" sz="3200" dirty="0">
                <a:latin typeface="Calibri" panose="020F0502020204030204" pitchFamily="34" charset="0"/>
                <a:cs typeface="Calibri" panose="020F0502020204030204" pitchFamily="34" charset="0"/>
              </a:rPr>
              <a:t>Feature</a:t>
            </a:r>
          </a:p>
        </p:txBody>
      </p:sp>
      <p:sp>
        <p:nvSpPr>
          <p:cNvPr id="5" name="Slide Number Placeholder 4"/>
          <p:cNvSpPr>
            <a:spLocks noGrp="1"/>
          </p:cNvSpPr>
          <p:nvPr>
            <p:ph type="sldNum" sz="quarter" idx="11"/>
          </p:nvPr>
        </p:nvSpPr>
        <p:spPr/>
        <p:txBody>
          <a:bodyPr/>
          <a:lstStyle/>
          <a:p>
            <a:pPr>
              <a:defRPr/>
            </a:pPr>
            <a:fld id="{38F81FAE-D748-4BFC-A8B0-D2E750E8899F}" type="slidenum">
              <a:rPr lang="en-US" smtClean="0"/>
              <a:pPr>
                <a:defRPr/>
              </a:pPr>
              <a:t>15</a:t>
            </a:fld>
            <a:endParaRPr lang="en-US" dirty="0"/>
          </a:p>
        </p:txBody>
      </p:sp>
      <p:pic>
        <p:nvPicPr>
          <p:cNvPr id="7" name="Picture 6"/>
          <p:cNvPicPr>
            <a:picLocks noChangeAspect="1"/>
          </p:cNvPicPr>
          <p:nvPr/>
        </p:nvPicPr>
        <p:blipFill>
          <a:blip r:embed="rId3"/>
          <a:stretch>
            <a:fillRect/>
          </a:stretch>
        </p:blipFill>
        <p:spPr>
          <a:xfrm>
            <a:off x="4461158" y="3976914"/>
            <a:ext cx="4682842" cy="2276741"/>
          </a:xfrm>
          <a:prstGeom prst="rect">
            <a:avLst/>
          </a:prstGeom>
        </p:spPr>
      </p:pic>
    </p:spTree>
    <p:extLst>
      <p:ext uri="{BB962C8B-B14F-4D97-AF65-F5344CB8AC3E}">
        <p14:creationId xmlns:p14="http://schemas.microsoft.com/office/powerpoint/2010/main" val="831916389"/>
      </p:ext>
    </p:extLst>
  </p:cSld>
  <p:clrMapOvr>
    <a:masterClrMapping/>
  </p:clrMapOvr>
  <p:transition>
    <p:split orient="vert"/>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3"/>
          <a:stretch>
            <a:fillRect/>
          </a:stretch>
        </p:blipFill>
        <p:spPr>
          <a:xfrm>
            <a:off x="457200" y="1207020"/>
            <a:ext cx="3876268" cy="5035976"/>
          </a:xfrm>
          <a:prstGeom prst="rect">
            <a:avLst/>
          </a:prstGeom>
        </p:spPr>
      </p:pic>
      <p:sp>
        <p:nvSpPr>
          <p:cNvPr id="2" name="Title 1"/>
          <p:cNvSpPr>
            <a:spLocks noGrp="1"/>
          </p:cNvSpPr>
          <p:nvPr>
            <p:ph type="title"/>
          </p:nvPr>
        </p:nvSpPr>
        <p:spPr>
          <a:xfrm>
            <a:off x="2819400" y="27105"/>
            <a:ext cx="6324600" cy="1066562"/>
          </a:xfrm>
        </p:spPr>
        <p:txBody>
          <a:bodyPr>
            <a:noAutofit/>
          </a:bodyPr>
          <a:lstStyle/>
          <a:p>
            <a:r>
              <a:rPr lang="en-US" sz="3200" dirty="0"/>
              <a:t> The participation of stakeholders in requirements development</a:t>
            </a:r>
          </a:p>
        </p:txBody>
      </p:sp>
      <p:sp>
        <p:nvSpPr>
          <p:cNvPr id="5" name="Slide Number Placeholder 4"/>
          <p:cNvSpPr>
            <a:spLocks noGrp="1"/>
          </p:cNvSpPr>
          <p:nvPr>
            <p:ph type="sldNum" sz="quarter" idx="11"/>
          </p:nvPr>
        </p:nvSpPr>
        <p:spPr/>
        <p:txBody>
          <a:bodyPr/>
          <a:lstStyle/>
          <a:p>
            <a:pPr>
              <a:defRPr/>
            </a:pPr>
            <a:fld id="{38F81FAE-D748-4BFC-A8B0-D2E750E8899F}" type="slidenum">
              <a:rPr lang="en-US" smtClean="0"/>
              <a:pPr>
                <a:defRPr/>
              </a:pPr>
              <a:t>16</a:t>
            </a:fld>
            <a:endParaRPr lang="en-US" dirty="0"/>
          </a:p>
        </p:txBody>
      </p:sp>
      <p:sp>
        <p:nvSpPr>
          <p:cNvPr id="6" name="Content Placeholder 2"/>
          <p:cNvSpPr>
            <a:spLocks noGrp="1"/>
          </p:cNvSpPr>
          <p:nvPr>
            <p:ph idx="1"/>
          </p:nvPr>
        </p:nvSpPr>
        <p:spPr>
          <a:xfrm>
            <a:off x="4214647" y="1153729"/>
            <a:ext cx="4813739" cy="5089267"/>
          </a:xfrm>
        </p:spPr>
        <p:txBody>
          <a:bodyPr/>
          <a:lstStyle/>
          <a:p>
            <a:pPr algn="just"/>
            <a:r>
              <a:rPr lang="en-US" dirty="0">
                <a:latin typeface="Calibri" panose="020F0502020204030204" pitchFamily="34" charset="0"/>
                <a:cs typeface="Calibri" panose="020F0502020204030204" pitchFamily="34" charset="0"/>
              </a:rPr>
              <a:t>This figure illustrates how various stakeholders might participate in eliciting the 3 levels of requirements..</a:t>
            </a:r>
            <a:endParaRPr lang="vi-VN"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199403309"/>
      </p:ext>
    </p:extLst>
  </p:cSld>
  <p:clrMapOvr>
    <a:masterClrMapping/>
  </p:clrMapOvr>
  <p:transition>
    <p:split orient="vert"/>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52248" y="1145628"/>
            <a:ext cx="8510751" cy="4960882"/>
          </a:xfrm>
        </p:spPr>
        <p:txBody>
          <a:bodyPr/>
          <a:lstStyle/>
          <a:p>
            <a:r>
              <a:rPr lang="en-US" sz="3200" dirty="0"/>
              <a:t> Product requirements:</a:t>
            </a:r>
          </a:p>
          <a:p>
            <a:pPr lvl="1"/>
            <a:r>
              <a:rPr lang="en-US" sz="2800" dirty="0"/>
              <a:t> properties of a software system to be built</a:t>
            </a:r>
          </a:p>
          <a:p>
            <a:r>
              <a:rPr lang="en-US" sz="3200" dirty="0"/>
              <a:t>Projects requirements:</a:t>
            </a:r>
          </a:p>
          <a:p>
            <a:pPr lvl="1"/>
            <a:r>
              <a:rPr lang="en-US" sz="2800" dirty="0"/>
              <a:t>do have other expectations and deliverables that are not a part of the software the team implements, but that are necessary to the successful completion of the project as a whole.</a:t>
            </a:r>
          </a:p>
        </p:txBody>
      </p:sp>
      <p:sp>
        <p:nvSpPr>
          <p:cNvPr id="2" name="Title 1"/>
          <p:cNvSpPr>
            <a:spLocks noGrp="1"/>
          </p:cNvSpPr>
          <p:nvPr>
            <p:ph type="title"/>
          </p:nvPr>
        </p:nvSpPr>
        <p:spPr>
          <a:xfrm>
            <a:off x="1959330" y="0"/>
            <a:ext cx="7184670" cy="1051034"/>
          </a:xfrm>
        </p:spPr>
        <p:txBody>
          <a:bodyPr/>
          <a:lstStyle/>
          <a:p>
            <a:r>
              <a:rPr lang="en-US" sz="3200" dirty="0"/>
              <a:t>Product vs. project requirements </a:t>
            </a:r>
          </a:p>
        </p:txBody>
      </p:sp>
      <p:sp>
        <p:nvSpPr>
          <p:cNvPr id="5" name="Slide Number Placeholder 4"/>
          <p:cNvSpPr>
            <a:spLocks noGrp="1"/>
          </p:cNvSpPr>
          <p:nvPr>
            <p:ph type="sldNum" sz="quarter" idx="11"/>
          </p:nvPr>
        </p:nvSpPr>
        <p:spPr/>
        <p:txBody>
          <a:bodyPr/>
          <a:lstStyle/>
          <a:p>
            <a:pPr>
              <a:defRPr/>
            </a:pPr>
            <a:fld id="{38F81FAE-D748-4BFC-A8B0-D2E750E8899F}" type="slidenum">
              <a:rPr lang="en-US" smtClean="0"/>
              <a:pPr>
                <a:defRPr/>
              </a:pPr>
              <a:t>17</a:t>
            </a:fld>
            <a:endParaRPr lang="en-US" dirty="0"/>
          </a:p>
        </p:txBody>
      </p:sp>
    </p:spTree>
    <p:extLst>
      <p:ext uri="{BB962C8B-B14F-4D97-AF65-F5344CB8AC3E}">
        <p14:creationId xmlns:p14="http://schemas.microsoft.com/office/powerpoint/2010/main" val="4258536655"/>
      </p:ext>
    </p:extLst>
  </p:cSld>
  <p:clrMapOvr>
    <a:masterClrMapping/>
  </p:clrMapOvr>
  <p:transition>
    <p:split orient="vert"/>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BF2135D-8071-4642-BAE5-FA5A79E4BEF2}"/>
              </a:ext>
            </a:extLst>
          </p:cNvPr>
          <p:cNvSpPr>
            <a:spLocks noGrp="1"/>
          </p:cNvSpPr>
          <p:nvPr>
            <p:ph idx="1"/>
          </p:nvPr>
        </p:nvSpPr>
        <p:spPr/>
        <p:txBody>
          <a:bodyPr/>
          <a:lstStyle/>
          <a:p>
            <a:endParaRPr lang="en-KR"/>
          </a:p>
        </p:txBody>
      </p:sp>
      <p:sp>
        <p:nvSpPr>
          <p:cNvPr id="3" name="Title 2">
            <a:extLst>
              <a:ext uri="{FF2B5EF4-FFF2-40B4-BE49-F238E27FC236}">
                <a16:creationId xmlns:a16="http://schemas.microsoft.com/office/drawing/2014/main" id="{62B507D6-2027-7345-A829-B949121F621E}"/>
              </a:ext>
            </a:extLst>
          </p:cNvPr>
          <p:cNvSpPr>
            <a:spLocks noGrp="1"/>
          </p:cNvSpPr>
          <p:nvPr>
            <p:ph type="title"/>
          </p:nvPr>
        </p:nvSpPr>
        <p:spPr/>
        <p:txBody>
          <a:bodyPr/>
          <a:lstStyle/>
          <a:p>
            <a:endParaRPr lang="en-KR"/>
          </a:p>
        </p:txBody>
      </p:sp>
      <p:sp>
        <p:nvSpPr>
          <p:cNvPr id="5" name="Slide Number Placeholder 4">
            <a:extLst>
              <a:ext uri="{FF2B5EF4-FFF2-40B4-BE49-F238E27FC236}">
                <a16:creationId xmlns:a16="http://schemas.microsoft.com/office/drawing/2014/main" id="{E4519B92-49F5-A442-920F-61D69B092FD5}"/>
              </a:ext>
            </a:extLst>
          </p:cNvPr>
          <p:cNvSpPr>
            <a:spLocks noGrp="1"/>
          </p:cNvSpPr>
          <p:nvPr>
            <p:ph type="sldNum" sz="quarter" idx="11"/>
          </p:nvPr>
        </p:nvSpPr>
        <p:spPr/>
        <p:txBody>
          <a:bodyPr/>
          <a:lstStyle/>
          <a:p>
            <a:pPr>
              <a:defRPr/>
            </a:pPr>
            <a:fld id="{38F81FAE-D748-4BFC-A8B0-D2E750E8899F}" type="slidenum">
              <a:rPr lang="en-US" smtClean="0"/>
              <a:pPr>
                <a:defRPr/>
              </a:pPr>
              <a:t>18</a:t>
            </a:fld>
            <a:endParaRPr lang="en-US" dirty="0"/>
          </a:p>
        </p:txBody>
      </p:sp>
      <p:pic>
        <p:nvPicPr>
          <p:cNvPr id="6" name="Picture 5">
            <a:extLst>
              <a:ext uri="{FF2B5EF4-FFF2-40B4-BE49-F238E27FC236}">
                <a16:creationId xmlns:a16="http://schemas.microsoft.com/office/drawing/2014/main" id="{41346676-7E85-1F4D-9BC0-AC6EE9149088}"/>
              </a:ext>
            </a:extLst>
          </p:cNvPr>
          <p:cNvPicPr>
            <a:picLocks noChangeAspect="1"/>
          </p:cNvPicPr>
          <p:nvPr/>
        </p:nvPicPr>
        <p:blipFill>
          <a:blip r:embed="rId3"/>
          <a:stretch>
            <a:fillRect/>
          </a:stretch>
        </p:blipFill>
        <p:spPr>
          <a:xfrm>
            <a:off x="1257539" y="1215246"/>
            <a:ext cx="6960958" cy="4884707"/>
          </a:xfrm>
          <a:prstGeom prst="rect">
            <a:avLst/>
          </a:prstGeom>
        </p:spPr>
      </p:pic>
      <p:sp>
        <p:nvSpPr>
          <p:cNvPr id="7" name="Rectangle 6">
            <a:extLst>
              <a:ext uri="{FF2B5EF4-FFF2-40B4-BE49-F238E27FC236}">
                <a16:creationId xmlns:a16="http://schemas.microsoft.com/office/drawing/2014/main" id="{47B52FD1-EC58-2746-A271-85299F8013AA}"/>
              </a:ext>
            </a:extLst>
          </p:cNvPr>
          <p:cNvSpPr/>
          <p:nvPr/>
        </p:nvSpPr>
        <p:spPr>
          <a:xfrm>
            <a:off x="1403131" y="2081048"/>
            <a:ext cx="551793" cy="381525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KR"/>
          </a:p>
        </p:txBody>
      </p:sp>
    </p:spTree>
    <p:extLst>
      <p:ext uri="{BB962C8B-B14F-4D97-AF65-F5344CB8AC3E}">
        <p14:creationId xmlns:p14="http://schemas.microsoft.com/office/powerpoint/2010/main" val="1389749026"/>
      </p:ext>
    </p:extLst>
  </p:cSld>
  <p:clrMapOvr>
    <a:masterClrMapping/>
  </p:clrMapOvr>
  <p:transition>
    <p:split orient="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xit" presetSubtype="10" fill="hold" grpId="0" nodeType="clickEffect">
                                  <p:stCondLst>
                                    <p:cond delay="0"/>
                                  </p:stCondLst>
                                  <p:childTnLst>
                                    <p:animEffect transition="out" filter="blinds(horizontal)">
                                      <p:cBhvr>
                                        <p:cTn id="6" dur="500"/>
                                        <p:tgtEl>
                                          <p:spTgt spid="7"/>
                                        </p:tgtEl>
                                      </p:cBhvr>
                                    </p:animEffect>
                                    <p:set>
                                      <p:cBhvr>
                                        <p:cTn id="7" dur="1" fill="hold">
                                          <p:stCondLst>
                                            <p:cond delay="499"/>
                                          </p:stCondLst>
                                        </p:cTn>
                                        <p:tgtEl>
                                          <p:spTgt spid="7"/>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52249" y="1145627"/>
            <a:ext cx="8713075" cy="5194847"/>
          </a:xfrm>
        </p:spPr>
        <p:txBody>
          <a:bodyPr/>
          <a:lstStyle/>
          <a:p>
            <a:pPr algn="just"/>
            <a:r>
              <a:rPr lang="en-US" sz="2600" dirty="0"/>
              <a:t>Physical resources the development team needs, such as workstations, HW devices, testing labs, testing tools and equipment, team room, ….</a:t>
            </a:r>
          </a:p>
          <a:p>
            <a:pPr algn="just"/>
            <a:r>
              <a:rPr lang="en-US" sz="2600" dirty="0"/>
              <a:t>Staff training needs.</a:t>
            </a:r>
          </a:p>
          <a:p>
            <a:pPr algn="just"/>
            <a:r>
              <a:rPr lang="en-US" sz="2600" dirty="0"/>
              <a:t>User documentation, including training materials, tutorials, reference manuals, and release notes.</a:t>
            </a:r>
          </a:p>
          <a:p>
            <a:pPr algn="just"/>
            <a:r>
              <a:rPr lang="en-US" sz="2600" dirty="0"/>
              <a:t>Support documentation, such as help desk resources and field maintenance and service information for HW devices.</a:t>
            </a:r>
          </a:p>
          <a:p>
            <a:pPr algn="just"/>
            <a:r>
              <a:rPr lang="en-US" sz="2600" dirty="0"/>
              <a:t>Requirements and procedures for releasing the product, installing it in the operating environment, configuring it, and testing the installation.</a:t>
            </a:r>
          </a:p>
          <a:p>
            <a:pPr algn="just"/>
            <a:r>
              <a:rPr lang="en-US" sz="2600" dirty="0"/>
              <a:t>….</a:t>
            </a:r>
          </a:p>
        </p:txBody>
      </p:sp>
      <p:sp>
        <p:nvSpPr>
          <p:cNvPr id="2" name="Title 1"/>
          <p:cNvSpPr>
            <a:spLocks noGrp="1"/>
          </p:cNvSpPr>
          <p:nvPr>
            <p:ph type="title"/>
          </p:nvPr>
        </p:nvSpPr>
        <p:spPr>
          <a:xfrm>
            <a:off x="1959330" y="0"/>
            <a:ext cx="7184670" cy="1051034"/>
          </a:xfrm>
        </p:spPr>
        <p:txBody>
          <a:bodyPr/>
          <a:lstStyle/>
          <a:p>
            <a:r>
              <a:rPr lang="en-US" sz="3200" dirty="0"/>
              <a:t>Project requirements </a:t>
            </a:r>
          </a:p>
        </p:txBody>
      </p:sp>
      <p:sp>
        <p:nvSpPr>
          <p:cNvPr id="5" name="Slide Number Placeholder 4"/>
          <p:cNvSpPr>
            <a:spLocks noGrp="1"/>
          </p:cNvSpPr>
          <p:nvPr>
            <p:ph type="sldNum" sz="quarter" idx="11"/>
          </p:nvPr>
        </p:nvSpPr>
        <p:spPr/>
        <p:txBody>
          <a:bodyPr/>
          <a:lstStyle/>
          <a:p>
            <a:pPr>
              <a:defRPr/>
            </a:pPr>
            <a:fld id="{38F81FAE-D748-4BFC-A8B0-D2E750E8899F}" type="slidenum">
              <a:rPr lang="en-US" smtClean="0"/>
              <a:pPr>
                <a:defRPr/>
              </a:pPr>
              <a:t>19</a:t>
            </a:fld>
            <a:endParaRPr lang="en-US" dirty="0"/>
          </a:p>
        </p:txBody>
      </p:sp>
    </p:spTree>
    <p:extLst>
      <p:ext uri="{BB962C8B-B14F-4D97-AF65-F5344CB8AC3E}">
        <p14:creationId xmlns:p14="http://schemas.microsoft.com/office/powerpoint/2010/main" val="3627018114"/>
      </p:ext>
    </p:extLst>
  </p:cSld>
  <p:clrMapOvr>
    <a:masterClrMapping/>
  </p:clrMapOvr>
  <p:transition>
    <p:split orient="vert"/>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19400" y="27105"/>
            <a:ext cx="6324600" cy="1019810"/>
          </a:xfrm>
        </p:spPr>
        <p:txBody>
          <a:bodyPr>
            <a:noAutofit/>
          </a:bodyPr>
          <a:lstStyle/>
          <a:p>
            <a:r>
              <a:rPr lang="en-US" sz="3200" dirty="0"/>
              <a:t>Requirements development and management</a:t>
            </a:r>
          </a:p>
        </p:txBody>
      </p:sp>
      <p:pic>
        <p:nvPicPr>
          <p:cNvPr id="4" name="Picture 3"/>
          <p:cNvPicPr>
            <a:picLocks noChangeAspect="1"/>
          </p:cNvPicPr>
          <p:nvPr/>
        </p:nvPicPr>
        <p:blipFill>
          <a:blip r:embed="rId3"/>
          <a:stretch>
            <a:fillRect/>
          </a:stretch>
        </p:blipFill>
        <p:spPr>
          <a:xfrm>
            <a:off x="1618592" y="1133872"/>
            <a:ext cx="6253655" cy="3872564"/>
          </a:xfrm>
          <a:prstGeom prst="rect">
            <a:avLst/>
          </a:prstGeom>
        </p:spPr>
      </p:pic>
      <p:sp>
        <p:nvSpPr>
          <p:cNvPr id="5" name="Slide Number Placeholder 4"/>
          <p:cNvSpPr>
            <a:spLocks noGrp="1"/>
          </p:cNvSpPr>
          <p:nvPr>
            <p:ph type="sldNum" sz="quarter" idx="11"/>
          </p:nvPr>
        </p:nvSpPr>
        <p:spPr/>
        <p:txBody>
          <a:bodyPr/>
          <a:lstStyle/>
          <a:p>
            <a:pPr>
              <a:defRPr/>
            </a:pPr>
            <a:fld id="{38F81FAE-D748-4BFC-A8B0-D2E750E8899F}" type="slidenum">
              <a:rPr lang="en-US" smtClean="0"/>
              <a:pPr>
                <a:defRPr/>
              </a:pPr>
              <a:t>20</a:t>
            </a:fld>
            <a:endParaRPr lang="en-US" dirty="0"/>
          </a:p>
        </p:txBody>
      </p:sp>
      <p:sp>
        <p:nvSpPr>
          <p:cNvPr id="6" name="Content Placeholder 2"/>
          <p:cNvSpPr>
            <a:spLocks noGrp="1"/>
          </p:cNvSpPr>
          <p:nvPr>
            <p:ph idx="1"/>
          </p:nvPr>
        </p:nvSpPr>
        <p:spPr>
          <a:xfrm>
            <a:off x="252249" y="5006436"/>
            <a:ext cx="8713075" cy="1334038"/>
          </a:xfrm>
        </p:spPr>
        <p:txBody>
          <a:bodyPr/>
          <a:lstStyle/>
          <a:p>
            <a:pPr algn="just"/>
            <a:r>
              <a:rPr lang="en-US" sz="2600" dirty="0"/>
              <a:t>Depending on the life cycle, you will perform these activities at different times in the project and to varying of depth or detail.</a:t>
            </a:r>
          </a:p>
        </p:txBody>
      </p:sp>
    </p:spTree>
    <p:extLst>
      <p:ext uri="{BB962C8B-B14F-4D97-AF65-F5344CB8AC3E}">
        <p14:creationId xmlns:p14="http://schemas.microsoft.com/office/powerpoint/2010/main" val="2041968162"/>
      </p:ext>
    </p:extLst>
  </p:cSld>
  <p:clrMapOvr>
    <a:masterClrMapping/>
  </p:clrMapOvr>
  <p:transition>
    <p:split orient="vert"/>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89186" y="1082567"/>
            <a:ext cx="8818180" cy="5257908"/>
          </a:xfrm>
        </p:spPr>
        <p:txBody>
          <a:bodyPr/>
          <a:lstStyle/>
          <a:p>
            <a:pPr algn="just">
              <a:spcBef>
                <a:spcPts val="0"/>
              </a:spcBef>
            </a:pPr>
            <a:r>
              <a:rPr lang="en-US" sz="2600" dirty="0"/>
              <a:t>We subdivide the requirements development into </a:t>
            </a:r>
            <a:r>
              <a:rPr lang="en-US" sz="2600" i="1" dirty="0"/>
              <a:t>elicitation, analysis, specification, </a:t>
            </a:r>
            <a:r>
              <a:rPr lang="en-US" sz="2600" dirty="0"/>
              <a:t>and </a:t>
            </a:r>
            <a:r>
              <a:rPr lang="en-US" sz="2600" i="1" dirty="0"/>
              <a:t>validation.</a:t>
            </a:r>
          </a:p>
          <a:p>
            <a:pPr algn="just">
              <a:spcBef>
                <a:spcPts val="0"/>
              </a:spcBef>
            </a:pPr>
            <a:r>
              <a:rPr lang="en-US" sz="2600" dirty="0"/>
              <a:t> </a:t>
            </a:r>
            <a:r>
              <a:rPr lang="en-US" sz="2600" b="1" i="1" dirty="0">
                <a:solidFill>
                  <a:srgbClr val="003399"/>
                </a:solidFill>
              </a:rPr>
              <a:t>Elicitation</a:t>
            </a:r>
            <a:r>
              <a:rPr lang="en-US" sz="2600" dirty="0"/>
              <a:t> encompasses all of the activities involved with discovering requirements, such as interviews, workshops, document analysis, prototyping, and others. The key actions are:</a:t>
            </a:r>
          </a:p>
          <a:p>
            <a:pPr lvl="1" algn="just">
              <a:spcBef>
                <a:spcPts val="0"/>
              </a:spcBef>
            </a:pPr>
            <a:r>
              <a:rPr lang="en-US" sz="2200" dirty="0"/>
              <a:t>Identifying the product’s expected user classes and other stakeholders.</a:t>
            </a:r>
          </a:p>
          <a:p>
            <a:pPr lvl="1" algn="just">
              <a:spcBef>
                <a:spcPts val="0"/>
              </a:spcBef>
            </a:pPr>
            <a:r>
              <a:rPr lang="en-US" sz="2200" dirty="0"/>
              <a:t>Understanding user tasks and goals and the biz objectives with which those tasks align.</a:t>
            </a:r>
          </a:p>
          <a:p>
            <a:pPr lvl="1" algn="just">
              <a:spcBef>
                <a:spcPts val="0"/>
              </a:spcBef>
            </a:pPr>
            <a:r>
              <a:rPr lang="en-US" sz="2200" dirty="0"/>
              <a:t>Learning about environment in which the new product will be used.</a:t>
            </a:r>
          </a:p>
          <a:p>
            <a:pPr lvl="1" algn="just">
              <a:spcBef>
                <a:spcPts val="0"/>
              </a:spcBef>
            </a:pPr>
            <a:r>
              <a:rPr lang="en-US" sz="2200" dirty="0"/>
              <a:t>Working with individuals who represent each user class to understand their functionality needs and their quality expectations.</a:t>
            </a:r>
          </a:p>
        </p:txBody>
      </p:sp>
      <p:sp>
        <p:nvSpPr>
          <p:cNvPr id="2" name="Title 1"/>
          <p:cNvSpPr>
            <a:spLocks noGrp="1"/>
          </p:cNvSpPr>
          <p:nvPr>
            <p:ph type="title"/>
          </p:nvPr>
        </p:nvSpPr>
        <p:spPr>
          <a:xfrm>
            <a:off x="2819400" y="27105"/>
            <a:ext cx="6324600" cy="1055461"/>
          </a:xfrm>
        </p:spPr>
        <p:txBody>
          <a:bodyPr>
            <a:noAutofit/>
          </a:bodyPr>
          <a:lstStyle/>
          <a:p>
            <a:r>
              <a:rPr lang="en-US" sz="3200" dirty="0"/>
              <a:t>Requirements development</a:t>
            </a:r>
          </a:p>
        </p:txBody>
      </p:sp>
      <p:sp>
        <p:nvSpPr>
          <p:cNvPr id="5" name="Slide Number Placeholder 4"/>
          <p:cNvSpPr>
            <a:spLocks noGrp="1"/>
          </p:cNvSpPr>
          <p:nvPr>
            <p:ph type="sldNum" sz="quarter" idx="11"/>
          </p:nvPr>
        </p:nvSpPr>
        <p:spPr/>
        <p:txBody>
          <a:bodyPr/>
          <a:lstStyle/>
          <a:p>
            <a:pPr>
              <a:defRPr/>
            </a:pPr>
            <a:fld id="{38F81FAE-D748-4BFC-A8B0-D2E750E8899F}" type="slidenum">
              <a:rPr lang="en-US" smtClean="0"/>
              <a:pPr>
                <a:defRPr/>
              </a:pPr>
              <a:t>21</a:t>
            </a:fld>
            <a:endParaRPr lang="en-US" dirty="0"/>
          </a:p>
        </p:txBody>
      </p:sp>
    </p:spTree>
    <p:extLst>
      <p:ext uri="{BB962C8B-B14F-4D97-AF65-F5344CB8AC3E}">
        <p14:creationId xmlns:p14="http://schemas.microsoft.com/office/powerpoint/2010/main" val="1072764937"/>
      </p:ext>
    </p:extLst>
  </p:cSld>
  <p:clrMapOvr>
    <a:masterClrMapping/>
  </p:clrMapOvr>
  <p:transition>
    <p:split orient="vert"/>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89186" y="1082567"/>
            <a:ext cx="8818180" cy="5257908"/>
          </a:xfrm>
        </p:spPr>
        <p:txBody>
          <a:bodyPr/>
          <a:lstStyle/>
          <a:p>
            <a:pPr algn="just">
              <a:spcBef>
                <a:spcPts val="0"/>
              </a:spcBef>
            </a:pPr>
            <a:r>
              <a:rPr lang="en-US" sz="2700" dirty="0"/>
              <a:t>Requirements elicitation typically takes either a usage-centric or product-centric approach.</a:t>
            </a:r>
          </a:p>
          <a:p>
            <a:pPr algn="just">
              <a:spcBef>
                <a:spcPts val="0"/>
              </a:spcBef>
            </a:pPr>
            <a:r>
              <a:rPr lang="en-US" sz="2700" dirty="0"/>
              <a:t>The usage-centric focuses on understanding and exploring user goals to derive the necessary system functionality.</a:t>
            </a:r>
          </a:p>
          <a:p>
            <a:pPr algn="just">
              <a:spcBef>
                <a:spcPts val="0"/>
              </a:spcBef>
            </a:pPr>
            <a:r>
              <a:rPr lang="en-US" sz="2700" dirty="0"/>
              <a:t>The product-centric focuses on defining features that you expect will lead to marketplace or biz success.</a:t>
            </a:r>
          </a:p>
          <a:p>
            <a:pPr algn="just">
              <a:spcBef>
                <a:spcPts val="0"/>
              </a:spcBef>
            </a:pPr>
            <a:r>
              <a:rPr lang="en-US" sz="2700" dirty="0"/>
              <a:t>A risk with product-centric is that you might implement features that don’t get used much, even if they seemed like a good idea at the time.</a:t>
            </a:r>
          </a:p>
          <a:p>
            <a:pPr algn="just">
              <a:spcBef>
                <a:spcPts val="0"/>
              </a:spcBef>
            </a:pPr>
            <a:r>
              <a:rPr lang="en-US" sz="2700" dirty="0"/>
              <a:t>We recommend understanding biz objectives and users goals first, then using that insight to determine the appropriate product feature and characteristics.</a:t>
            </a:r>
          </a:p>
        </p:txBody>
      </p:sp>
      <p:sp>
        <p:nvSpPr>
          <p:cNvPr id="2" name="Title 1"/>
          <p:cNvSpPr>
            <a:spLocks noGrp="1"/>
          </p:cNvSpPr>
          <p:nvPr>
            <p:ph type="title"/>
          </p:nvPr>
        </p:nvSpPr>
        <p:spPr>
          <a:xfrm>
            <a:off x="2819400" y="27105"/>
            <a:ext cx="6324600" cy="1055461"/>
          </a:xfrm>
        </p:spPr>
        <p:txBody>
          <a:bodyPr>
            <a:noAutofit/>
          </a:bodyPr>
          <a:lstStyle/>
          <a:p>
            <a:r>
              <a:rPr lang="en-US" sz="3200" dirty="0"/>
              <a:t>Usage-centric or product-centric?</a:t>
            </a:r>
          </a:p>
        </p:txBody>
      </p:sp>
      <p:sp>
        <p:nvSpPr>
          <p:cNvPr id="5" name="Slide Number Placeholder 4"/>
          <p:cNvSpPr>
            <a:spLocks noGrp="1"/>
          </p:cNvSpPr>
          <p:nvPr>
            <p:ph type="sldNum" sz="quarter" idx="11"/>
          </p:nvPr>
        </p:nvSpPr>
        <p:spPr/>
        <p:txBody>
          <a:bodyPr/>
          <a:lstStyle/>
          <a:p>
            <a:pPr>
              <a:defRPr/>
            </a:pPr>
            <a:fld id="{38F81FAE-D748-4BFC-A8B0-D2E750E8899F}" type="slidenum">
              <a:rPr lang="en-US" smtClean="0"/>
              <a:pPr>
                <a:defRPr/>
              </a:pPr>
              <a:t>22</a:t>
            </a:fld>
            <a:endParaRPr lang="en-US" dirty="0"/>
          </a:p>
        </p:txBody>
      </p:sp>
    </p:spTree>
    <p:extLst>
      <p:ext uri="{BB962C8B-B14F-4D97-AF65-F5344CB8AC3E}">
        <p14:creationId xmlns:p14="http://schemas.microsoft.com/office/powerpoint/2010/main" val="780437672"/>
      </p:ext>
    </p:extLst>
  </p:cSld>
  <p:clrMapOvr>
    <a:masterClrMapping/>
  </p:clrMapOvr>
  <p:transition>
    <p:split orient="vert"/>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89186" y="1082567"/>
            <a:ext cx="8818180" cy="5257908"/>
          </a:xfrm>
        </p:spPr>
        <p:txBody>
          <a:bodyPr/>
          <a:lstStyle/>
          <a:p>
            <a:pPr algn="just">
              <a:spcBef>
                <a:spcPts val="0"/>
              </a:spcBef>
            </a:pPr>
            <a:r>
              <a:rPr lang="en-US" sz="2600" b="1" i="1" dirty="0">
                <a:solidFill>
                  <a:srgbClr val="003399"/>
                </a:solidFill>
              </a:rPr>
              <a:t>Analysis</a:t>
            </a:r>
            <a:r>
              <a:rPr lang="en-US" sz="2600" dirty="0"/>
              <a:t>: Analyzing requirements involved reaching a richer and more precise understanding of each requirement and representing set of requirements in multiple ways. </a:t>
            </a:r>
          </a:p>
          <a:p>
            <a:pPr algn="just">
              <a:spcBef>
                <a:spcPts val="0"/>
              </a:spcBef>
            </a:pPr>
            <a:r>
              <a:rPr lang="en-US" sz="2600" dirty="0"/>
              <a:t>Following are the principal activities:</a:t>
            </a:r>
          </a:p>
          <a:p>
            <a:pPr lvl="1" algn="just">
              <a:spcBef>
                <a:spcPts val="0"/>
              </a:spcBef>
            </a:pPr>
            <a:r>
              <a:rPr lang="en-US" sz="2200" dirty="0"/>
              <a:t>Analyzing the information received from users to distinguish their task goals from functional requirements, quality expectations, biz rules, suggestion solutions, and other information.</a:t>
            </a:r>
          </a:p>
          <a:p>
            <a:pPr lvl="1" algn="just">
              <a:spcBef>
                <a:spcPts val="0"/>
              </a:spcBef>
            </a:pPr>
            <a:r>
              <a:rPr lang="en-US" sz="2200" dirty="0"/>
              <a:t>Decomposing high-level requirements into an appropriate level of detail.</a:t>
            </a:r>
          </a:p>
          <a:p>
            <a:pPr lvl="1" algn="just">
              <a:spcBef>
                <a:spcPts val="0"/>
              </a:spcBef>
            </a:pPr>
            <a:r>
              <a:rPr lang="en-US" sz="2200" dirty="0"/>
              <a:t>Deriving functional requirements from other requirements.</a:t>
            </a:r>
          </a:p>
          <a:p>
            <a:pPr lvl="1" algn="just">
              <a:spcBef>
                <a:spcPts val="0"/>
              </a:spcBef>
            </a:pPr>
            <a:r>
              <a:rPr lang="en-US" sz="2200" dirty="0"/>
              <a:t>Understanding the relative importance of quality attributes.</a:t>
            </a:r>
          </a:p>
          <a:p>
            <a:pPr lvl="1" algn="just">
              <a:spcBef>
                <a:spcPts val="0"/>
              </a:spcBef>
            </a:pPr>
            <a:r>
              <a:rPr lang="en-US" sz="2200" dirty="0"/>
              <a:t>Allocating requirements to SW components defined in the system architecture.</a:t>
            </a:r>
          </a:p>
          <a:p>
            <a:pPr lvl="1" algn="just">
              <a:spcBef>
                <a:spcPts val="0"/>
              </a:spcBef>
            </a:pPr>
            <a:r>
              <a:rPr lang="en-US" sz="2200" dirty="0"/>
              <a:t>Negotiating implements priorities.</a:t>
            </a:r>
          </a:p>
          <a:p>
            <a:pPr lvl="1" algn="just">
              <a:spcBef>
                <a:spcPts val="0"/>
              </a:spcBef>
            </a:pPr>
            <a:r>
              <a:rPr lang="en-US" sz="2200" dirty="0"/>
              <a:t>Identifying gaps in requirements or unnecessary requirements.</a:t>
            </a:r>
          </a:p>
          <a:p>
            <a:pPr lvl="1" algn="just">
              <a:spcBef>
                <a:spcPts val="0"/>
              </a:spcBef>
            </a:pPr>
            <a:endParaRPr lang="en-US" sz="2300" dirty="0"/>
          </a:p>
        </p:txBody>
      </p:sp>
      <p:sp>
        <p:nvSpPr>
          <p:cNvPr id="2" name="Title 1"/>
          <p:cNvSpPr>
            <a:spLocks noGrp="1"/>
          </p:cNvSpPr>
          <p:nvPr>
            <p:ph type="title"/>
          </p:nvPr>
        </p:nvSpPr>
        <p:spPr>
          <a:xfrm>
            <a:off x="2819400" y="27105"/>
            <a:ext cx="6324600" cy="1055461"/>
          </a:xfrm>
        </p:spPr>
        <p:txBody>
          <a:bodyPr>
            <a:noAutofit/>
          </a:bodyPr>
          <a:lstStyle/>
          <a:p>
            <a:r>
              <a:rPr lang="en-US" sz="3200" dirty="0"/>
              <a:t>Requirements development</a:t>
            </a:r>
          </a:p>
        </p:txBody>
      </p:sp>
      <p:sp>
        <p:nvSpPr>
          <p:cNvPr id="5" name="Slide Number Placeholder 4"/>
          <p:cNvSpPr>
            <a:spLocks noGrp="1"/>
          </p:cNvSpPr>
          <p:nvPr>
            <p:ph type="sldNum" sz="quarter" idx="11"/>
          </p:nvPr>
        </p:nvSpPr>
        <p:spPr/>
        <p:txBody>
          <a:bodyPr/>
          <a:lstStyle/>
          <a:p>
            <a:pPr>
              <a:defRPr/>
            </a:pPr>
            <a:fld id="{38F81FAE-D748-4BFC-A8B0-D2E750E8899F}" type="slidenum">
              <a:rPr lang="en-US" smtClean="0"/>
              <a:pPr>
                <a:defRPr/>
              </a:pPr>
              <a:t>23</a:t>
            </a:fld>
            <a:endParaRPr lang="en-US" dirty="0"/>
          </a:p>
        </p:txBody>
      </p:sp>
    </p:spTree>
    <p:extLst>
      <p:ext uri="{BB962C8B-B14F-4D97-AF65-F5344CB8AC3E}">
        <p14:creationId xmlns:p14="http://schemas.microsoft.com/office/powerpoint/2010/main" val="3911210003"/>
      </p:ext>
    </p:extLst>
  </p:cSld>
  <p:clrMapOvr>
    <a:masterClrMapping/>
  </p:clrMapOvr>
  <p:transition>
    <p:split orient="vert"/>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89186" y="1082567"/>
            <a:ext cx="8818180" cy="5257908"/>
          </a:xfrm>
        </p:spPr>
        <p:txBody>
          <a:bodyPr/>
          <a:lstStyle/>
          <a:p>
            <a:pPr algn="just">
              <a:spcBef>
                <a:spcPts val="0"/>
              </a:spcBef>
            </a:pPr>
            <a:r>
              <a:rPr lang="en-US" sz="2600" b="1" i="1" dirty="0">
                <a:solidFill>
                  <a:srgbClr val="003399"/>
                </a:solidFill>
              </a:rPr>
              <a:t>Specification</a:t>
            </a:r>
            <a:r>
              <a:rPr lang="en-US" sz="2600" dirty="0"/>
              <a:t>: Requirements spec involves representing and storing the collected requirements knowledge in a persistent and well-organized fashion. The principal activity is:</a:t>
            </a:r>
          </a:p>
          <a:p>
            <a:pPr lvl="1" algn="just">
              <a:spcBef>
                <a:spcPts val="0"/>
              </a:spcBef>
            </a:pPr>
            <a:r>
              <a:rPr lang="en-US" sz="2200" dirty="0"/>
              <a:t>Translating the collected user needs into written requirements and diagrams suitable for comprehension, review, and use by their intended audiences.</a:t>
            </a:r>
          </a:p>
          <a:p>
            <a:pPr marL="457200" lvl="1" indent="0" algn="just">
              <a:spcBef>
                <a:spcPts val="0"/>
              </a:spcBef>
              <a:buNone/>
            </a:pPr>
            <a:r>
              <a:rPr lang="en-US" sz="1200" dirty="0"/>
              <a:t> </a:t>
            </a:r>
          </a:p>
          <a:p>
            <a:pPr algn="just">
              <a:spcBef>
                <a:spcPts val="0"/>
              </a:spcBef>
            </a:pPr>
            <a:r>
              <a:rPr lang="en-US" sz="2600" b="1" i="1" dirty="0">
                <a:solidFill>
                  <a:srgbClr val="003399"/>
                </a:solidFill>
              </a:rPr>
              <a:t>Validation</a:t>
            </a:r>
            <a:r>
              <a:rPr lang="en-US" sz="2600" dirty="0"/>
              <a:t>: Requirements validation confirms that you have the correct set of requirements information that will enable developers to build a solution. The central activities are:</a:t>
            </a:r>
          </a:p>
          <a:p>
            <a:pPr lvl="1" algn="just">
              <a:spcBef>
                <a:spcPts val="0"/>
              </a:spcBef>
            </a:pPr>
            <a:r>
              <a:rPr lang="en-US" sz="2200" dirty="0"/>
              <a:t>Reviewing the documented requirements to correct any problems before the development group accept them.</a:t>
            </a:r>
          </a:p>
          <a:p>
            <a:pPr lvl="1" algn="just">
              <a:spcBef>
                <a:spcPts val="0"/>
              </a:spcBef>
            </a:pPr>
            <a:r>
              <a:rPr lang="en-US" sz="2200" dirty="0"/>
              <a:t>Developing acceptable tests and criteria to confirm that a product based on the requirements would meet customer needs and achieve the biz objectives.</a:t>
            </a:r>
          </a:p>
          <a:p>
            <a:pPr lvl="1" algn="just">
              <a:spcBef>
                <a:spcPts val="0"/>
              </a:spcBef>
            </a:pPr>
            <a:endParaRPr lang="en-US" sz="2200" dirty="0"/>
          </a:p>
          <a:p>
            <a:pPr lvl="1" algn="just">
              <a:spcBef>
                <a:spcPts val="0"/>
              </a:spcBef>
            </a:pPr>
            <a:endParaRPr lang="en-US" sz="2300" dirty="0"/>
          </a:p>
        </p:txBody>
      </p:sp>
      <p:sp>
        <p:nvSpPr>
          <p:cNvPr id="2" name="Title 1"/>
          <p:cNvSpPr>
            <a:spLocks noGrp="1"/>
          </p:cNvSpPr>
          <p:nvPr>
            <p:ph type="title"/>
          </p:nvPr>
        </p:nvSpPr>
        <p:spPr>
          <a:xfrm>
            <a:off x="2819400" y="27105"/>
            <a:ext cx="6324600" cy="1055461"/>
          </a:xfrm>
        </p:spPr>
        <p:txBody>
          <a:bodyPr>
            <a:noAutofit/>
          </a:bodyPr>
          <a:lstStyle/>
          <a:p>
            <a:r>
              <a:rPr lang="en-US" sz="3200" dirty="0"/>
              <a:t>Requirements development</a:t>
            </a:r>
          </a:p>
        </p:txBody>
      </p:sp>
      <p:sp>
        <p:nvSpPr>
          <p:cNvPr id="5" name="Slide Number Placeholder 4"/>
          <p:cNvSpPr>
            <a:spLocks noGrp="1"/>
          </p:cNvSpPr>
          <p:nvPr>
            <p:ph type="sldNum" sz="quarter" idx="11"/>
          </p:nvPr>
        </p:nvSpPr>
        <p:spPr/>
        <p:txBody>
          <a:bodyPr/>
          <a:lstStyle/>
          <a:p>
            <a:pPr>
              <a:defRPr/>
            </a:pPr>
            <a:fld id="{38F81FAE-D748-4BFC-A8B0-D2E750E8899F}" type="slidenum">
              <a:rPr lang="en-US" smtClean="0"/>
              <a:pPr>
                <a:defRPr/>
              </a:pPr>
              <a:t>24</a:t>
            </a:fld>
            <a:endParaRPr lang="en-US" dirty="0"/>
          </a:p>
        </p:txBody>
      </p:sp>
    </p:spTree>
    <p:extLst>
      <p:ext uri="{BB962C8B-B14F-4D97-AF65-F5344CB8AC3E}">
        <p14:creationId xmlns:p14="http://schemas.microsoft.com/office/powerpoint/2010/main" val="3858441270"/>
      </p:ext>
    </p:extLst>
  </p:cSld>
  <p:clrMapOvr>
    <a:masterClrMapping/>
  </p:clrMapOvr>
  <p:transition>
    <p:split orient="vert"/>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89186" y="1082567"/>
            <a:ext cx="8818180" cy="5257908"/>
          </a:xfrm>
        </p:spPr>
        <p:txBody>
          <a:bodyPr/>
          <a:lstStyle/>
          <a:p>
            <a:pPr marL="0" indent="0" algn="just">
              <a:spcBef>
                <a:spcPts val="0"/>
              </a:spcBef>
              <a:buNone/>
            </a:pPr>
            <a:r>
              <a:rPr lang="en-US" sz="2600" dirty="0"/>
              <a:t>Requirements management activities include: </a:t>
            </a:r>
          </a:p>
          <a:p>
            <a:pPr algn="just">
              <a:spcBef>
                <a:spcPts val="0"/>
              </a:spcBef>
            </a:pPr>
            <a:r>
              <a:rPr lang="en-US" sz="2200" dirty="0"/>
              <a:t>Defining the requirements baseline, a snapshot in time that represents an agreed-upon, reviewed, and approved set of functional and nonfunctional requirements, often for a specific product release or development iteration.</a:t>
            </a:r>
          </a:p>
          <a:p>
            <a:pPr algn="just">
              <a:spcBef>
                <a:spcPts val="0"/>
              </a:spcBef>
            </a:pPr>
            <a:r>
              <a:rPr lang="en-US" sz="2200" dirty="0"/>
              <a:t>Evaluating the impact of proposed requirements changes and incorporating approved changes into the project in a controlled way.</a:t>
            </a:r>
          </a:p>
          <a:p>
            <a:pPr algn="just">
              <a:spcBef>
                <a:spcPts val="0"/>
              </a:spcBef>
            </a:pPr>
            <a:r>
              <a:rPr lang="en-US" sz="2200" dirty="0"/>
              <a:t>Keeping project plans current with the requirements as they evolve.</a:t>
            </a:r>
          </a:p>
          <a:p>
            <a:pPr algn="just">
              <a:spcBef>
                <a:spcPts val="0"/>
              </a:spcBef>
            </a:pPr>
            <a:r>
              <a:rPr lang="en-US" sz="2200" dirty="0"/>
              <a:t>Negotiating new commitments based on the estimated impact of requirements changes.</a:t>
            </a:r>
          </a:p>
          <a:p>
            <a:pPr algn="just">
              <a:spcBef>
                <a:spcPts val="0"/>
              </a:spcBef>
            </a:pPr>
            <a:r>
              <a:rPr lang="en-US" sz="2200" dirty="0"/>
              <a:t>Defining the relationships and dependencies that exist between requirements.</a:t>
            </a:r>
          </a:p>
          <a:p>
            <a:pPr algn="just">
              <a:spcBef>
                <a:spcPts val="0"/>
              </a:spcBef>
            </a:pPr>
            <a:r>
              <a:rPr lang="en-US" sz="2200" dirty="0"/>
              <a:t>Tracing individual requirements to their corresponding designs, source code, and test.</a:t>
            </a:r>
          </a:p>
          <a:p>
            <a:pPr algn="just">
              <a:spcBef>
                <a:spcPts val="0"/>
              </a:spcBef>
            </a:pPr>
            <a:r>
              <a:rPr lang="en-US" sz="2200" dirty="0"/>
              <a:t>Tracking requirements status and change activity throughout the project.</a:t>
            </a:r>
          </a:p>
          <a:p>
            <a:pPr algn="just">
              <a:spcBef>
                <a:spcPts val="0"/>
              </a:spcBef>
            </a:pPr>
            <a:endParaRPr lang="en-US" sz="2400" dirty="0"/>
          </a:p>
          <a:p>
            <a:pPr algn="just">
              <a:spcBef>
                <a:spcPts val="0"/>
              </a:spcBef>
            </a:pPr>
            <a:endParaRPr lang="en-US" sz="2400" dirty="0"/>
          </a:p>
          <a:p>
            <a:pPr lvl="1" algn="just">
              <a:spcBef>
                <a:spcPts val="0"/>
              </a:spcBef>
            </a:pPr>
            <a:endParaRPr lang="en-US" sz="2300" dirty="0"/>
          </a:p>
        </p:txBody>
      </p:sp>
      <p:sp>
        <p:nvSpPr>
          <p:cNvPr id="2" name="Title 1"/>
          <p:cNvSpPr>
            <a:spLocks noGrp="1"/>
          </p:cNvSpPr>
          <p:nvPr>
            <p:ph type="title"/>
          </p:nvPr>
        </p:nvSpPr>
        <p:spPr>
          <a:xfrm>
            <a:off x="2819400" y="27105"/>
            <a:ext cx="6324600" cy="1055461"/>
          </a:xfrm>
        </p:spPr>
        <p:txBody>
          <a:bodyPr>
            <a:noAutofit/>
          </a:bodyPr>
          <a:lstStyle/>
          <a:p>
            <a:r>
              <a:rPr lang="en-US" sz="3200" dirty="0"/>
              <a:t>Requirements management</a:t>
            </a:r>
          </a:p>
        </p:txBody>
      </p:sp>
      <p:sp>
        <p:nvSpPr>
          <p:cNvPr id="5" name="Slide Number Placeholder 4"/>
          <p:cNvSpPr>
            <a:spLocks noGrp="1"/>
          </p:cNvSpPr>
          <p:nvPr>
            <p:ph type="sldNum" sz="quarter" idx="11"/>
          </p:nvPr>
        </p:nvSpPr>
        <p:spPr/>
        <p:txBody>
          <a:bodyPr/>
          <a:lstStyle/>
          <a:p>
            <a:pPr>
              <a:defRPr/>
            </a:pPr>
            <a:fld id="{38F81FAE-D748-4BFC-A8B0-D2E750E8899F}" type="slidenum">
              <a:rPr lang="en-US" smtClean="0"/>
              <a:pPr>
                <a:defRPr/>
              </a:pPr>
              <a:t>25</a:t>
            </a:fld>
            <a:endParaRPr lang="en-US" dirty="0"/>
          </a:p>
        </p:txBody>
      </p:sp>
    </p:spTree>
    <p:extLst>
      <p:ext uri="{BB962C8B-B14F-4D97-AF65-F5344CB8AC3E}">
        <p14:creationId xmlns:p14="http://schemas.microsoft.com/office/powerpoint/2010/main" val="1785238434"/>
      </p:ext>
    </p:extLst>
  </p:cSld>
  <p:clrMapOvr>
    <a:masterClrMapping/>
  </p:clrMapOvr>
  <p:transition>
    <p:split orient="vert"/>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19400" y="27105"/>
            <a:ext cx="6324600" cy="1055461"/>
          </a:xfrm>
        </p:spPr>
        <p:txBody>
          <a:bodyPr>
            <a:noAutofit/>
          </a:bodyPr>
          <a:lstStyle/>
          <a:p>
            <a:r>
              <a:rPr lang="en-US" sz="3200" dirty="0"/>
              <a:t>Requirements management</a:t>
            </a:r>
          </a:p>
        </p:txBody>
      </p:sp>
      <p:sp>
        <p:nvSpPr>
          <p:cNvPr id="5" name="Slide Number Placeholder 4"/>
          <p:cNvSpPr>
            <a:spLocks noGrp="1"/>
          </p:cNvSpPr>
          <p:nvPr>
            <p:ph type="sldNum" sz="quarter" idx="11"/>
          </p:nvPr>
        </p:nvSpPr>
        <p:spPr/>
        <p:txBody>
          <a:bodyPr/>
          <a:lstStyle/>
          <a:p>
            <a:pPr>
              <a:defRPr/>
            </a:pPr>
            <a:fld id="{38F81FAE-D748-4BFC-A8B0-D2E750E8899F}" type="slidenum">
              <a:rPr lang="en-US" smtClean="0"/>
              <a:pPr>
                <a:defRPr/>
              </a:pPr>
              <a:t>26</a:t>
            </a:fld>
            <a:endParaRPr lang="en-US" dirty="0"/>
          </a:p>
        </p:txBody>
      </p:sp>
      <p:pic>
        <p:nvPicPr>
          <p:cNvPr id="6" name="Picture 5"/>
          <p:cNvPicPr>
            <a:picLocks noChangeAspect="1"/>
          </p:cNvPicPr>
          <p:nvPr/>
        </p:nvPicPr>
        <p:blipFill>
          <a:blip r:embed="rId3"/>
          <a:stretch>
            <a:fillRect/>
          </a:stretch>
        </p:blipFill>
        <p:spPr>
          <a:xfrm>
            <a:off x="703385" y="1143000"/>
            <a:ext cx="7364188" cy="5075187"/>
          </a:xfrm>
          <a:prstGeom prst="rect">
            <a:avLst/>
          </a:prstGeom>
        </p:spPr>
      </p:pic>
    </p:spTree>
    <p:extLst>
      <p:ext uri="{BB962C8B-B14F-4D97-AF65-F5344CB8AC3E}">
        <p14:creationId xmlns:p14="http://schemas.microsoft.com/office/powerpoint/2010/main" val="3395381041"/>
      </p:ext>
    </p:extLst>
  </p:cSld>
  <p:clrMapOvr>
    <a:masterClrMapping/>
  </p:clrMapOvr>
  <p:transition>
    <p:split orient="vert"/>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89186" y="1132435"/>
            <a:ext cx="8818180" cy="5142296"/>
          </a:xfrm>
        </p:spPr>
        <p:txBody>
          <a:bodyPr/>
          <a:lstStyle/>
          <a:p>
            <a:pPr algn="just"/>
            <a:r>
              <a:rPr lang="en-US" sz="2600" i="1" dirty="0">
                <a:solidFill>
                  <a:srgbClr val="003399"/>
                </a:solidFill>
              </a:rPr>
              <a:t>The hardest single part of building a software system is deciding precisely what to build. No other part of conceptual work is as difficult as establishing the detailed technical requirements, including all the interfaces to people, to machines, and to other SW systems. No other part of the work so cripples the resulting system if done wrong. No other part is more difficult to rectify later</a:t>
            </a:r>
            <a:r>
              <a:rPr lang="en-US" sz="2600" dirty="0">
                <a:solidFill>
                  <a:srgbClr val="003399"/>
                </a:solidFill>
              </a:rPr>
              <a:t>.</a:t>
            </a:r>
          </a:p>
          <a:p>
            <a:pPr algn="just"/>
            <a:r>
              <a:rPr lang="en-US" sz="2600" dirty="0"/>
              <a:t>Every SW-containing system has stakeholders who rely on it. The time spent understanding their needs is a high-leverage investment in project success. If a project team does not have written representations of requirements that the stakeholders agree to, how can developers be sure to satisfy those stakeholders?</a:t>
            </a:r>
          </a:p>
        </p:txBody>
      </p:sp>
      <p:sp>
        <p:nvSpPr>
          <p:cNvPr id="2" name="Title 1"/>
          <p:cNvSpPr>
            <a:spLocks noGrp="1"/>
          </p:cNvSpPr>
          <p:nvPr>
            <p:ph type="title"/>
          </p:nvPr>
        </p:nvSpPr>
        <p:spPr>
          <a:xfrm>
            <a:off x="2819400" y="27105"/>
            <a:ext cx="6324600" cy="1055461"/>
          </a:xfrm>
        </p:spPr>
        <p:txBody>
          <a:bodyPr>
            <a:noAutofit/>
          </a:bodyPr>
          <a:lstStyle/>
          <a:p>
            <a:r>
              <a:rPr lang="en-US" sz="3200" dirty="0"/>
              <a:t>Every project has requirements</a:t>
            </a:r>
          </a:p>
        </p:txBody>
      </p:sp>
      <p:sp>
        <p:nvSpPr>
          <p:cNvPr id="5" name="Slide Number Placeholder 4"/>
          <p:cNvSpPr>
            <a:spLocks noGrp="1"/>
          </p:cNvSpPr>
          <p:nvPr>
            <p:ph type="sldNum" sz="quarter" idx="11"/>
          </p:nvPr>
        </p:nvSpPr>
        <p:spPr/>
        <p:txBody>
          <a:bodyPr/>
          <a:lstStyle/>
          <a:p>
            <a:pPr>
              <a:defRPr/>
            </a:pPr>
            <a:fld id="{38F81FAE-D748-4BFC-A8B0-D2E750E8899F}" type="slidenum">
              <a:rPr lang="en-US" smtClean="0"/>
              <a:pPr>
                <a:defRPr/>
              </a:pPr>
              <a:t>27</a:t>
            </a:fld>
            <a:endParaRPr lang="en-US" dirty="0"/>
          </a:p>
        </p:txBody>
      </p:sp>
    </p:spTree>
    <p:extLst>
      <p:ext uri="{BB962C8B-B14F-4D97-AF65-F5344CB8AC3E}">
        <p14:creationId xmlns:p14="http://schemas.microsoft.com/office/powerpoint/2010/main" val="3513347329"/>
      </p:ext>
    </p:extLst>
  </p:cSld>
  <p:clrMapOvr>
    <a:masterClrMapping/>
  </p:clrMapOvr>
  <p:transition>
    <p:split orient="vert"/>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89186" y="1082567"/>
            <a:ext cx="8818180" cy="5069582"/>
          </a:xfrm>
        </p:spPr>
        <p:txBody>
          <a:bodyPr/>
          <a:lstStyle/>
          <a:p>
            <a:pPr algn="just">
              <a:spcBef>
                <a:spcPts val="0"/>
              </a:spcBef>
            </a:pPr>
            <a:r>
              <a:rPr lang="en-US" sz="2600" dirty="0"/>
              <a:t>The major consequence of requirements problem is rework – doing again something that you thought was already done – late in development or after release.</a:t>
            </a:r>
          </a:p>
          <a:p>
            <a:pPr algn="just">
              <a:spcBef>
                <a:spcPts val="0"/>
              </a:spcBef>
            </a:pPr>
            <a:r>
              <a:rPr lang="en-US" sz="2600" dirty="0"/>
              <a:t>Rework often consumes </a:t>
            </a:r>
            <a:r>
              <a:rPr lang="en-US" sz="2600" dirty="0">
                <a:solidFill>
                  <a:srgbClr val="FF0000"/>
                </a:solidFill>
              </a:rPr>
              <a:t>30-50%</a:t>
            </a:r>
            <a:r>
              <a:rPr lang="en-US" sz="2600" dirty="0"/>
              <a:t> of total development cost, and requirements errors can account for </a:t>
            </a:r>
            <a:r>
              <a:rPr lang="en-US" sz="2600" dirty="0">
                <a:solidFill>
                  <a:srgbClr val="FF0000"/>
                </a:solidFill>
              </a:rPr>
              <a:t>70-80%</a:t>
            </a:r>
            <a:r>
              <a:rPr lang="en-US" sz="2600" dirty="0"/>
              <a:t> of the rework cost.</a:t>
            </a:r>
          </a:p>
          <a:p>
            <a:pPr algn="just">
              <a:spcBef>
                <a:spcPts val="0"/>
              </a:spcBef>
            </a:pPr>
            <a:r>
              <a:rPr lang="en-US" sz="2600" dirty="0"/>
              <a:t>The most common requirements risks are described below:</a:t>
            </a:r>
          </a:p>
          <a:p>
            <a:pPr lvl="1" algn="just">
              <a:spcBef>
                <a:spcPts val="0"/>
              </a:spcBef>
            </a:pPr>
            <a:r>
              <a:rPr lang="en-US" sz="2200" dirty="0"/>
              <a:t>Insufficient user involvement </a:t>
            </a:r>
          </a:p>
          <a:p>
            <a:pPr lvl="1" algn="just">
              <a:spcBef>
                <a:spcPts val="0"/>
              </a:spcBef>
            </a:pPr>
            <a:r>
              <a:rPr lang="en-US" sz="2200" dirty="0"/>
              <a:t>Inaccurate planning </a:t>
            </a:r>
          </a:p>
          <a:p>
            <a:pPr lvl="1" algn="just">
              <a:spcBef>
                <a:spcPts val="0"/>
              </a:spcBef>
            </a:pPr>
            <a:r>
              <a:rPr lang="en-US" sz="2200" dirty="0"/>
              <a:t>Creeping user requirements </a:t>
            </a:r>
          </a:p>
          <a:p>
            <a:pPr lvl="1" algn="just">
              <a:spcBef>
                <a:spcPts val="0"/>
              </a:spcBef>
            </a:pPr>
            <a:r>
              <a:rPr lang="en-US" sz="2200" dirty="0"/>
              <a:t>Ambiguous requirements </a:t>
            </a:r>
          </a:p>
          <a:p>
            <a:pPr lvl="1" algn="just">
              <a:spcBef>
                <a:spcPts val="0"/>
              </a:spcBef>
            </a:pPr>
            <a:r>
              <a:rPr lang="en-US" sz="2200" dirty="0"/>
              <a:t>Gold plating </a:t>
            </a:r>
          </a:p>
          <a:p>
            <a:pPr lvl="1" algn="just">
              <a:spcBef>
                <a:spcPts val="0"/>
              </a:spcBef>
            </a:pPr>
            <a:r>
              <a:rPr lang="en-US" sz="2200" dirty="0"/>
              <a:t>Overlooked stakeholders </a:t>
            </a:r>
          </a:p>
        </p:txBody>
      </p:sp>
      <p:sp>
        <p:nvSpPr>
          <p:cNvPr id="2" name="Title 1"/>
          <p:cNvSpPr>
            <a:spLocks noGrp="1"/>
          </p:cNvSpPr>
          <p:nvPr>
            <p:ph type="title"/>
          </p:nvPr>
        </p:nvSpPr>
        <p:spPr>
          <a:xfrm>
            <a:off x="2819400" y="27105"/>
            <a:ext cx="6324600" cy="1055461"/>
          </a:xfrm>
        </p:spPr>
        <p:txBody>
          <a:bodyPr>
            <a:noAutofit/>
          </a:bodyPr>
          <a:lstStyle/>
          <a:p>
            <a:r>
              <a:rPr lang="en-US" sz="3200" dirty="0"/>
              <a:t>When bad requirements happen to good people</a:t>
            </a:r>
          </a:p>
        </p:txBody>
      </p:sp>
      <p:sp>
        <p:nvSpPr>
          <p:cNvPr id="5" name="Slide Number Placeholder 4"/>
          <p:cNvSpPr>
            <a:spLocks noGrp="1"/>
          </p:cNvSpPr>
          <p:nvPr>
            <p:ph type="sldNum" sz="quarter" idx="11"/>
          </p:nvPr>
        </p:nvSpPr>
        <p:spPr/>
        <p:txBody>
          <a:bodyPr/>
          <a:lstStyle/>
          <a:p>
            <a:pPr>
              <a:defRPr/>
            </a:pPr>
            <a:fld id="{38F81FAE-D748-4BFC-A8B0-D2E750E8899F}" type="slidenum">
              <a:rPr lang="en-US" smtClean="0"/>
              <a:pPr>
                <a:defRPr/>
              </a:pPr>
              <a:t>28</a:t>
            </a:fld>
            <a:endParaRPr lang="en-US" dirty="0"/>
          </a:p>
        </p:txBody>
      </p:sp>
    </p:spTree>
    <p:extLst>
      <p:ext uri="{BB962C8B-B14F-4D97-AF65-F5344CB8AC3E}">
        <p14:creationId xmlns:p14="http://schemas.microsoft.com/office/powerpoint/2010/main" val="2653097315"/>
      </p:ext>
    </p:extLst>
  </p:cSld>
  <p:clrMapOvr>
    <a:masterClrMapping/>
  </p:clrMapOvr>
  <p:transition>
    <p:split orient="vert"/>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89186" y="1082567"/>
            <a:ext cx="8818180" cy="5257908"/>
          </a:xfrm>
        </p:spPr>
        <p:txBody>
          <a:bodyPr/>
          <a:lstStyle/>
          <a:p>
            <a:pPr algn="just">
              <a:spcBef>
                <a:spcPts val="0"/>
              </a:spcBef>
            </a:pPr>
            <a:r>
              <a:rPr lang="en-US" sz="2600" dirty="0"/>
              <a:t>Insufficient user involvement:</a:t>
            </a:r>
          </a:p>
          <a:p>
            <a:pPr lvl="1" algn="just">
              <a:spcBef>
                <a:spcPts val="0"/>
              </a:spcBef>
            </a:pPr>
            <a:r>
              <a:rPr lang="en-US" sz="2200" dirty="0"/>
              <a:t>Customers often don’t understand why it is so essential to work hard on eliciting requirements and assuring their quality.</a:t>
            </a:r>
          </a:p>
          <a:p>
            <a:pPr lvl="1" algn="just">
              <a:spcBef>
                <a:spcPts val="0"/>
              </a:spcBef>
            </a:pPr>
            <a:r>
              <a:rPr lang="en-US" sz="2200" dirty="0"/>
              <a:t>Developers might not emphasize user involvement, because they think they already understand what the users need.</a:t>
            </a:r>
          </a:p>
          <a:p>
            <a:pPr lvl="1" algn="just">
              <a:spcBef>
                <a:spcPts val="0"/>
              </a:spcBef>
            </a:pPr>
            <a:r>
              <a:rPr lang="en-US" sz="2200" dirty="0"/>
              <a:t>Customers are busy so they don’t have enough time to involve in requirements development. </a:t>
            </a:r>
          </a:p>
          <a:p>
            <a:pPr algn="just">
              <a:spcBef>
                <a:spcPts val="0"/>
              </a:spcBef>
            </a:pPr>
            <a:r>
              <a:rPr lang="en-US" sz="2600" dirty="0"/>
              <a:t>Inaccurate planning:</a:t>
            </a:r>
          </a:p>
          <a:p>
            <a:pPr lvl="1" algn="just">
              <a:spcBef>
                <a:spcPts val="0"/>
              </a:spcBef>
            </a:pPr>
            <a:r>
              <a:rPr lang="en-US" sz="2200" dirty="0"/>
              <a:t>Vague, poorly understood requirements lead to overly optimistic estimates, which come back to haunt you when the inevitable overruns occur.</a:t>
            </a:r>
          </a:p>
          <a:p>
            <a:pPr lvl="1" algn="just">
              <a:spcBef>
                <a:spcPts val="0"/>
              </a:spcBef>
            </a:pPr>
            <a:r>
              <a:rPr lang="en-US" sz="2200" dirty="0"/>
              <a:t>The top contributors to poor software cost estimation are frequent changes, missing requirements, insufficient communication with users, poor specification of requirements and insufficient requirements analysis (Davis 1995).</a:t>
            </a:r>
          </a:p>
        </p:txBody>
      </p:sp>
      <p:sp>
        <p:nvSpPr>
          <p:cNvPr id="2" name="Title 1"/>
          <p:cNvSpPr>
            <a:spLocks noGrp="1"/>
          </p:cNvSpPr>
          <p:nvPr>
            <p:ph type="title"/>
          </p:nvPr>
        </p:nvSpPr>
        <p:spPr>
          <a:xfrm>
            <a:off x="2819400" y="27105"/>
            <a:ext cx="6324600" cy="1055461"/>
          </a:xfrm>
        </p:spPr>
        <p:txBody>
          <a:bodyPr>
            <a:noAutofit/>
          </a:bodyPr>
          <a:lstStyle/>
          <a:p>
            <a:r>
              <a:rPr lang="en-US" sz="3200" dirty="0"/>
              <a:t>When bad requirements happen to good people</a:t>
            </a:r>
          </a:p>
        </p:txBody>
      </p:sp>
      <p:sp>
        <p:nvSpPr>
          <p:cNvPr id="5" name="Slide Number Placeholder 4"/>
          <p:cNvSpPr>
            <a:spLocks noGrp="1"/>
          </p:cNvSpPr>
          <p:nvPr>
            <p:ph type="sldNum" sz="quarter" idx="11"/>
          </p:nvPr>
        </p:nvSpPr>
        <p:spPr/>
        <p:txBody>
          <a:bodyPr/>
          <a:lstStyle/>
          <a:p>
            <a:pPr>
              <a:defRPr/>
            </a:pPr>
            <a:fld id="{38F81FAE-D748-4BFC-A8B0-D2E750E8899F}" type="slidenum">
              <a:rPr lang="en-US" smtClean="0"/>
              <a:pPr>
                <a:defRPr/>
              </a:pPr>
              <a:t>29</a:t>
            </a:fld>
            <a:endParaRPr lang="en-US" dirty="0"/>
          </a:p>
        </p:txBody>
      </p:sp>
    </p:spTree>
    <p:extLst>
      <p:ext uri="{BB962C8B-B14F-4D97-AF65-F5344CB8AC3E}">
        <p14:creationId xmlns:p14="http://schemas.microsoft.com/office/powerpoint/2010/main" val="327721196"/>
      </p:ext>
    </p:extLst>
  </p:cSld>
  <p:clrMapOvr>
    <a:masterClrMapping/>
  </p:clrMapOvr>
  <p:transition>
    <p:split orient="vert"/>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89186" y="1082567"/>
            <a:ext cx="8818180" cy="5257908"/>
          </a:xfrm>
        </p:spPr>
        <p:txBody>
          <a:bodyPr/>
          <a:lstStyle/>
          <a:p>
            <a:pPr algn="just">
              <a:spcBef>
                <a:spcPts val="0"/>
              </a:spcBef>
            </a:pPr>
            <a:r>
              <a:rPr lang="en-US" sz="2600" dirty="0"/>
              <a:t>Creeping user requirements</a:t>
            </a:r>
          </a:p>
          <a:p>
            <a:pPr lvl="1" algn="just">
              <a:spcBef>
                <a:spcPts val="0"/>
              </a:spcBef>
            </a:pPr>
            <a:r>
              <a:rPr lang="en-US" sz="2200" dirty="0"/>
              <a:t> As requirements evolve during development, projects often exceed their planned schedules and budgets (which are nearly always too optimistic anyway). To manage scope creep, begin with a clear statement of the project’s biz objectives, strategic vision, scope, limitations, and success criteria.</a:t>
            </a:r>
          </a:p>
          <a:p>
            <a:pPr lvl="1" algn="just">
              <a:spcBef>
                <a:spcPts val="0"/>
              </a:spcBef>
            </a:pPr>
            <a:r>
              <a:rPr lang="en-US" sz="2200" dirty="0"/>
              <a:t>Requirements will change and grow. The PM should build contingency buffers into schedules so the first new requirement that comes along doesn’t derail the schedule (</a:t>
            </a:r>
            <a:r>
              <a:rPr lang="en-US" sz="2200" dirty="0" err="1"/>
              <a:t>Wiegers</a:t>
            </a:r>
            <a:r>
              <a:rPr lang="en-US" sz="2200" dirty="0"/>
              <a:t> 2007).</a:t>
            </a:r>
          </a:p>
          <a:p>
            <a:pPr lvl="1" algn="just">
              <a:spcBef>
                <a:spcPts val="0"/>
              </a:spcBef>
            </a:pPr>
            <a:r>
              <a:rPr lang="en-US" sz="2200" dirty="0"/>
              <a:t>Agile projects take the approach of adjusting the scope for a certain iteration.</a:t>
            </a:r>
          </a:p>
        </p:txBody>
      </p:sp>
      <p:sp>
        <p:nvSpPr>
          <p:cNvPr id="2" name="Title 1"/>
          <p:cNvSpPr>
            <a:spLocks noGrp="1"/>
          </p:cNvSpPr>
          <p:nvPr>
            <p:ph type="title"/>
          </p:nvPr>
        </p:nvSpPr>
        <p:spPr>
          <a:xfrm>
            <a:off x="2819400" y="27105"/>
            <a:ext cx="6324600" cy="1055461"/>
          </a:xfrm>
        </p:spPr>
        <p:txBody>
          <a:bodyPr>
            <a:noAutofit/>
          </a:bodyPr>
          <a:lstStyle/>
          <a:p>
            <a:r>
              <a:rPr lang="en-US" sz="3200" dirty="0"/>
              <a:t>When bad requirements happen to good people</a:t>
            </a:r>
          </a:p>
        </p:txBody>
      </p:sp>
      <p:sp>
        <p:nvSpPr>
          <p:cNvPr id="5" name="Slide Number Placeholder 4"/>
          <p:cNvSpPr>
            <a:spLocks noGrp="1"/>
          </p:cNvSpPr>
          <p:nvPr>
            <p:ph type="sldNum" sz="quarter" idx="11"/>
          </p:nvPr>
        </p:nvSpPr>
        <p:spPr/>
        <p:txBody>
          <a:bodyPr/>
          <a:lstStyle/>
          <a:p>
            <a:pPr>
              <a:defRPr/>
            </a:pPr>
            <a:fld id="{38F81FAE-D748-4BFC-A8B0-D2E750E8899F}" type="slidenum">
              <a:rPr lang="en-US" smtClean="0"/>
              <a:pPr>
                <a:defRPr/>
              </a:pPr>
              <a:t>30</a:t>
            </a:fld>
            <a:endParaRPr lang="en-US" dirty="0"/>
          </a:p>
        </p:txBody>
      </p:sp>
    </p:spTree>
    <p:extLst>
      <p:ext uri="{BB962C8B-B14F-4D97-AF65-F5344CB8AC3E}">
        <p14:creationId xmlns:p14="http://schemas.microsoft.com/office/powerpoint/2010/main" val="938578333"/>
      </p:ext>
    </p:extLst>
  </p:cSld>
  <p:clrMapOvr>
    <a:masterClrMapping/>
  </p:clrMapOvr>
  <p:transition>
    <p:split orient="vert"/>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89186" y="1082567"/>
            <a:ext cx="8818180" cy="5257908"/>
          </a:xfrm>
        </p:spPr>
        <p:txBody>
          <a:bodyPr/>
          <a:lstStyle/>
          <a:p>
            <a:pPr algn="just">
              <a:spcBef>
                <a:spcPts val="0"/>
              </a:spcBef>
            </a:pPr>
            <a:r>
              <a:rPr lang="en-US" sz="2600" dirty="0"/>
              <a:t>Ambiguous requirements:</a:t>
            </a:r>
          </a:p>
          <a:p>
            <a:pPr lvl="1" algn="just">
              <a:spcBef>
                <a:spcPts val="0"/>
              </a:spcBef>
            </a:pPr>
            <a:r>
              <a:rPr lang="en-US" sz="2600" dirty="0"/>
              <a:t>One symptom of ambiguity in requirements is that a reader can interpret a requirement statement in several ways (Lawrence 1996).</a:t>
            </a:r>
          </a:p>
          <a:p>
            <a:pPr lvl="1" algn="just">
              <a:spcBef>
                <a:spcPts val="0"/>
              </a:spcBef>
            </a:pPr>
            <a:r>
              <a:rPr lang="en-US" sz="2600" dirty="0"/>
              <a:t>Ambiguity leads to different expectations on the part of various stakeholders. Some of them are then surprised at whatever is delivered. Ambiguous requirements cause wasted time when developers implement a solution for the wrong problem.</a:t>
            </a:r>
          </a:p>
          <a:p>
            <a:pPr lvl="1" algn="just">
              <a:spcBef>
                <a:spcPts val="0"/>
              </a:spcBef>
            </a:pPr>
            <a:r>
              <a:rPr lang="en-US" sz="2600" dirty="0"/>
              <a:t>One way to ferret out ambiguity is to have people who represent different perspectives inspect the requirements (</a:t>
            </a:r>
            <a:r>
              <a:rPr lang="en-US" sz="2600" dirty="0" err="1"/>
              <a:t>Wieger</a:t>
            </a:r>
            <a:r>
              <a:rPr lang="en-US" sz="2600" dirty="0"/>
              <a:t> 2002).</a:t>
            </a:r>
          </a:p>
        </p:txBody>
      </p:sp>
      <p:sp>
        <p:nvSpPr>
          <p:cNvPr id="2" name="Title 1"/>
          <p:cNvSpPr>
            <a:spLocks noGrp="1"/>
          </p:cNvSpPr>
          <p:nvPr>
            <p:ph type="title"/>
          </p:nvPr>
        </p:nvSpPr>
        <p:spPr>
          <a:xfrm>
            <a:off x="2819400" y="27105"/>
            <a:ext cx="6324600" cy="1055461"/>
          </a:xfrm>
        </p:spPr>
        <p:txBody>
          <a:bodyPr>
            <a:noAutofit/>
          </a:bodyPr>
          <a:lstStyle/>
          <a:p>
            <a:r>
              <a:rPr lang="en-US" sz="3200" dirty="0"/>
              <a:t>When bad requirements happen to good people</a:t>
            </a:r>
          </a:p>
        </p:txBody>
      </p:sp>
      <p:sp>
        <p:nvSpPr>
          <p:cNvPr id="5" name="Slide Number Placeholder 4"/>
          <p:cNvSpPr>
            <a:spLocks noGrp="1"/>
          </p:cNvSpPr>
          <p:nvPr>
            <p:ph type="sldNum" sz="quarter" idx="11"/>
          </p:nvPr>
        </p:nvSpPr>
        <p:spPr/>
        <p:txBody>
          <a:bodyPr/>
          <a:lstStyle/>
          <a:p>
            <a:pPr>
              <a:defRPr/>
            </a:pPr>
            <a:fld id="{38F81FAE-D748-4BFC-A8B0-D2E750E8899F}" type="slidenum">
              <a:rPr lang="en-US" smtClean="0"/>
              <a:pPr>
                <a:defRPr/>
              </a:pPr>
              <a:t>31</a:t>
            </a:fld>
            <a:endParaRPr lang="en-US" dirty="0"/>
          </a:p>
        </p:txBody>
      </p:sp>
    </p:spTree>
    <p:extLst>
      <p:ext uri="{BB962C8B-B14F-4D97-AF65-F5344CB8AC3E}">
        <p14:creationId xmlns:p14="http://schemas.microsoft.com/office/powerpoint/2010/main" val="4076098927"/>
      </p:ext>
    </p:extLst>
  </p:cSld>
  <p:clrMapOvr>
    <a:masterClrMapping/>
  </p:clrMapOvr>
  <p:transition>
    <p:split orient="vert"/>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89186" y="1082567"/>
            <a:ext cx="8818180" cy="5257908"/>
          </a:xfrm>
        </p:spPr>
        <p:txBody>
          <a:bodyPr/>
          <a:lstStyle/>
          <a:p>
            <a:pPr algn="just">
              <a:spcBef>
                <a:spcPts val="0"/>
              </a:spcBef>
            </a:pPr>
            <a:r>
              <a:rPr lang="en-US" sz="2600" dirty="0"/>
              <a:t>Gold plating </a:t>
            </a:r>
          </a:p>
          <a:p>
            <a:pPr lvl="1" algn="just">
              <a:spcBef>
                <a:spcPts val="0"/>
              </a:spcBef>
            </a:pPr>
            <a:r>
              <a:rPr lang="en-US" sz="2100" i="1" dirty="0">
                <a:solidFill>
                  <a:srgbClr val="003399"/>
                </a:solidFill>
              </a:rPr>
              <a:t>Gold plating </a:t>
            </a:r>
            <a:r>
              <a:rPr lang="en-US" sz="2100" dirty="0"/>
              <a:t>takes place when a developer adds functionality that wasn’t in the requirements specification but which developer believes “the users are just going to love.” If users don’t care about this functionality, the time spent implementing it is wasted. </a:t>
            </a:r>
            <a:r>
              <a:rPr lang="en-US" sz="2100" i="1" dirty="0"/>
              <a:t>(need to be approved by stakeholders).</a:t>
            </a:r>
            <a:endParaRPr lang="en-US" sz="2100" dirty="0"/>
          </a:p>
          <a:p>
            <a:pPr lvl="1" algn="just">
              <a:spcBef>
                <a:spcPts val="0"/>
              </a:spcBef>
            </a:pPr>
            <a:r>
              <a:rPr lang="en-US" sz="2100" dirty="0"/>
              <a:t>Customers sometimes request certain features that look attractive but add little value to product. Everything you build costs time and money, so you need to maximize the delivered value.</a:t>
            </a:r>
          </a:p>
          <a:p>
            <a:pPr algn="just">
              <a:spcBef>
                <a:spcPts val="0"/>
              </a:spcBef>
            </a:pPr>
            <a:r>
              <a:rPr lang="en-US" sz="2600" dirty="0"/>
              <a:t>Overlooked stakeholders</a:t>
            </a:r>
          </a:p>
          <a:p>
            <a:pPr lvl="1" algn="just">
              <a:spcBef>
                <a:spcPts val="0"/>
              </a:spcBef>
            </a:pPr>
            <a:r>
              <a:rPr lang="en-US" sz="2000" dirty="0"/>
              <a:t>Most project have several groups of users who might use different subset of features, have different frequencies of use, or have varying levels of experience. If you don’t identify the important user classes for your product early on, some user needs won’t be met.</a:t>
            </a:r>
          </a:p>
          <a:p>
            <a:pPr lvl="1" algn="just">
              <a:spcBef>
                <a:spcPts val="0"/>
              </a:spcBef>
            </a:pPr>
            <a:r>
              <a:rPr lang="en-US" sz="2000" dirty="0"/>
              <a:t>You need to think about support different users with different functionalities.</a:t>
            </a:r>
          </a:p>
        </p:txBody>
      </p:sp>
      <p:sp>
        <p:nvSpPr>
          <p:cNvPr id="2" name="Title 1"/>
          <p:cNvSpPr>
            <a:spLocks noGrp="1"/>
          </p:cNvSpPr>
          <p:nvPr>
            <p:ph type="title"/>
          </p:nvPr>
        </p:nvSpPr>
        <p:spPr>
          <a:xfrm>
            <a:off x="2819400" y="27105"/>
            <a:ext cx="6324600" cy="1055461"/>
          </a:xfrm>
        </p:spPr>
        <p:txBody>
          <a:bodyPr>
            <a:noAutofit/>
          </a:bodyPr>
          <a:lstStyle/>
          <a:p>
            <a:r>
              <a:rPr lang="en-US" sz="3200" dirty="0"/>
              <a:t>When bad requirements happen to good people</a:t>
            </a:r>
          </a:p>
        </p:txBody>
      </p:sp>
      <p:sp>
        <p:nvSpPr>
          <p:cNvPr id="5" name="Slide Number Placeholder 4"/>
          <p:cNvSpPr>
            <a:spLocks noGrp="1"/>
          </p:cNvSpPr>
          <p:nvPr>
            <p:ph type="sldNum" sz="quarter" idx="11"/>
          </p:nvPr>
        </p:nvSpPr>
        <p:spPr/>
        <p:txBody>
          <a:bodyPr/>
          <a:lstStyle/>
          <a:p>
            <a:pPr>
              <a:defRPr/>
            </a:pPr>
            <a:fld id="{38F81FAE-D748-4BFC-A8B0-D2E750E8899F}" type="slidenum">
              <a:rPr lang="en-US" smtClean="0"/>
              <a:pPr>
                <a:defRPr/>
              </a:pPr>
              <a:t>32</a:t>
            </a:fld>
            <a:endParaRPr lang="en-US" dirty="0"/>
          </a:p>
        </p:txBody>
      </p:sp>
    </p:spTree>
    <p:extLst>
      <p:ext uri="{BB962C8B-B14F-4D97-AF65-F5344CB8AC3E}">
        <p14:creationId xmlns:p14="http://schemas.microsoft.com/office/powerpoint/2010/main" val="2894945943"/>
      </p:ext>
    </p:extLst>
  </p:cSld>
  <p:clrMapOvr>
    <a:masterClrMapping/>
  </p:clrMapOvr>
  <p:transition>
    <p:split orient="vert"/>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36635" y="1049542"/>
            <a:ext cx="8807668" cy="5290933"/>
          </a:xfrm>
        </p:spPr>
        <p:txBody>
          <a:bodyPr>
            <a:normAutofit/>
          </a:bodyPr>
          <a:lstStyle/>
          <a:p>
            <a:pPr algn="just"/>
            <a:r>
              <a:rPr lang="en-US" dirty="0"/>
              <a:t>Sound requirements processes emphasize a collaborative approach to product development that involves stakeholders in a partnership throughout the project.</a:t>
            </a:r>
          </a:p>
          <a:p>
            <a:pPr algn="just"/>
            <a:r>
              <a:rPr lang="en-US" dirty="0"/>
              <a:t>Customer involvement reduces the expectation gap between what the customer really needs and what the developer delivers.</a:t>
            </a:r>
          </a:p>
          <a:p>
            <a:pPr algn="just"/>
            <a:r>
              <a:rPr lang="en-US" dirty="0"/>
              <a:t>The cost of better requirements includes developing new procedures and document templates, training the team, and buying tools.</a:t>
            </a:r>
          </a:p>
          <a:p>
            <a:pPr algn="just"/>
            <a:r>
              <a:rPr lang="en-US" dirty="0"/>
              <a:t>Your greatest investment is the time to spend on requirements engineering tasks.</a:t>
            </a:r>
          </a:p>
        </p:txBody>
      </p:sp>
      <p:sp>
        <p:nvSpPr>
          <p:cNvPr id="2" name="Title 1"/>
          <p:cNvSpPr>
            <a:spLocks noGrp="1"/>
          </p:cNvSpPr>
          <p:nvPr>
            <p:ph type="title"/>
          </p:nvPr>
        </p:nvSpPr>
        <p:spPr>
          <a:xfrm>
            <a:off x="2819400" y="27105"/>
            <a:ext cx="6324600" cy="1022437"/>
          </a:xfrm>
        </p:spPr>
        <p:txBody>
          <a:bodyPr>
            <a:noAutofit/>
          </a:bodyPr>
          <a:lstStyle/>
          <a:p>
            <a:r>
              <a:rPr lang="en-US" sz="3200" dirty="0"/>
              <a:t>Benefits from a high-quality requirements process</a:t>
            </a:r>
          </a:p>
        </p:txBody>
      </p:sp>
      <p:sp>
        <p:nvSpPr>
          <p:cNvPr id="5" name="Slide Number Placeholder 4"/>
          <p:cNvSpPr>
            <a:spLocks noGrp="1"/>
          </p:cNvSpPr>
          <p:nvPr>
            <p:ph type="sldNum" sz="quarter" idx="11"/>
          </p:nvPr>
        </p:nvSpPr>
        <p:spPr/>
        <p:txBody>
          <a:bodyPr/>
          <a:lstStyle/>
          <a:p>
            <a:pPr>
              <a:defRPr/>
            </a:pPr>
            <a:fld id="{38F81FAE-D748-4BFC-A8B0-D2E750E8899F}" type="slidenum">
              <a:rPr lang="en-US" smtClean="0"/>
              <a:pPr>
                <a:defRPr/>
              </a:pPr>
              <a:t>33</a:t>
            </a:fld>
            <a:endParaRPr lang="en-US" dirty="0"/>
          </a:p>
        </p:txBody>
      </p:sp>
    </p:spTree>
    <p:extLst>
      <p:ext uri="{BB962C8B-B14F-4D97-AF65-F5344CB8AC3E}">
        <p14:creationId xmlns:p14="http://schemas.microsoft.com/office/powerpoint/2010/main" val="1911402343"/>
      </p:ext>
    </p:extLst>
  </p:cSld>
  <p:clrMapOvr>
    <a:masterClrMapping/>
  </p:clrMapOvr>
  <p:transition>
    <p:split orient="vert"/>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36635" y="1145628"/>
            <a:ext cx="8807668" cy="5098761"/>
          </a:xfrm>
        </p:spPr>
        <p:txBody>
          <a:bodyPr>
            <a:normAutofit lnSpcReduction="10000"/>
          </a:bodyPr>
          <a:lstStyle/>
          <a:p>
            <a:pPr marL="0" indent="0">
              <a:buNone/>
            </a:pPr>
            <a:r>
              <a:rPr lang="en-US" sz="2600" dirty="0"/>
              <a:t>The potential payoff includes:</a:t>
            </a:r>
          </a:p>
          <a:p>
            <a:r>
              <a:rPr lang="en-US" sz="2600" dirty="0"/>
              <a:t>Fewer defects in requirements and in the delivered product.</a:t>
            </a:r>
          </a:p>
          <a:p>
            <a:r>
              <a:rPr lang="en-US" sz="2600" dirty="0"/>
              <a:t>Reduced development rework.</a:t>
            </a:r>
          </a:p>
          <a:p>
            <a:r>
              <a:rPr lang="en-US" sz="2600" dirty="0"/>
              <a:t>Faster development and delivery.</a:t>
            </a:r>
          </a:p>
          <a:p>
            <a:r>
              <a:rPr lang="en-US" sz="2600" dirty="0"/>
              <a:t>Fewer unnecessary and unused features</a:t>
            </a:r>
          </a:p>
          <a:p>
            <a:r>
              <a:rPr lang="en-US" sz="2600" dirty="0"/>
              <a:t>Lower enhancement costs</a:t>
            </a:r>
          </a:p>
          <a:p>
            <a:r>
              <a:rPr lang="en-US" sz="2600" dirty="0"/>
              <a:t>Fewer miscommunications. </a:t>
            </a:r>
          </a:p>
          <a:p>
            <a:r>
              <a:rPr lang="en-US" sz="2600" dirty="0"/>
              <a:t>Reduced scope creep.</a:t>
            </a:r>
          </a:p>
          <a:p>
            <a:r>
              <a:rPr lang="en-US" sz="2600" dirty="0"/>
              <a:t>Reduced project chaos.</a:t>
            </a:r>
          </a:p>
          <a:p>
            <a:r>
              <a:rPr lang="en-US" sz="2600" dirty="0"/>
              <a:t>Higher customer and team member satisfaction.</a:t>
            </a:r>
          </a:p>
          <a:p>
            <a:r>
              <a:rPr lang="en-US" sz="2600" dirty="0"/>
              <a:t>Products that do what they’re supposed to do.</a:t>
            </a:r>
          </a:p>
        </p:txBody>
      </p:sp>
      <p:sp>
        <p:nvSpPr>
          <p:cNvPr id="2" name="Title 1"/>
          <p:cNvSpPr>
            <a:spLocks noGrp="1"/>
          </p:cNvSpPr>
          <p:nvPr>
            <p:ph type="title"/>
          </p:nvPr>
        </p:nvSpPr>
        <p:spPr>
          <a:xfrm>
            <a:off x="2819400" y="27105"/>
            <a:ext cx="6324600" cy="1022437"/>
          </a:xfrm>
        </p:spPr>
        <p:txBody>
          <a:bodyPr>
            <a:noAutofit/>
          </a:bodyPr>
          <a:lstStyle/>
          <a:p>
            <a:r>
              <a:rPr lang="en-US" sz="3200" dirty="0"/>
              <a:t>Benefits from a high-quality requirements process</a:t>
            </a:r>
          </a:p>
        </p:txBody>
      </p:sp>
      <p:sp>
        <p:nvSpPr>
          <p:cNvPr id="5" name="Slide Number Placeholder 4"/>
          <p:cNvSpPr>
            <a:spLocks noGrp="1"/>
          </p:cNvSpPr>
          <p:nvPr>
            <p:ph type="sldNum" sz="quarter" idx="11"/>
          </p:nvPr>
        </p:nvSpPr>
        <p:spPr/>
        <p:txBody>
          <a:bodyPr/>
          <a:lstStyle/>
          <a:p>
            <a:pPr>
              <a:defRPr/>
            </a:pPr>
            <a:fld id="{38F81FAE-D748-4BFC-A8B0-D2E750E8899F}" type="slidenum">
              <a:rPr lang="en-US" smtClean="0"/>
              <a:pPr>
                <a:defRPr/>
              </a:pPr>
              <a:t>34</a:t>
            </a:fld>
            <a:endParaRPr lang="en-US" dirty="0"/>
          </a:p>
        </p:txBody>
      </p:sp>
    </p:spTree>
    <p:extLst>
      <p:ext uri="{BB962C8B-B14F-4D97-AF65-F5344CB8AC3E}">
        <p14:creationId xmlns:p14="http://schemas.microsoft.com/office/powerpoint/2010/main" val="2104006261"/>
      </p:ext>
    </p:extLst>
  </p:cSld>
  <p:clrMapOvr>
    <a:masterClrMapping/>
  </p:clrMapOvr>
  <p:transition>
    <p:split orient="vert"/>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1"/>
          </p:nvPr>
        </p:nvSpPr>
        <p:spPr/>
        <p:txBody>
          <a:bodyPr/>
          <a:lstStyle/>
          <a:p>
            <a:pPr>
              <a:defRPr/>
            </a:pPr>
            <a:fld id="{38F81FAE-D748-4BFC-A8B0-D2E750E8899F}" type="slidenum">
              <a:rPr lang="en-US" smtClean="0"/>
              <a:pPr>
                <a:defRPr/>
              </a:pPr>
              <a:t>35</a:t>
            </a:fld>
            <a:endParaRPr lang="en-US" dirty="0"/>
          </a:p>
        </p:txBody>
      </p:sp>
      <p:pic>
        <p:nvPicPr>
          <p:cNvPr id="8" name="Picture 7"/>
          <p:cNvPicPr>
            <a:picLocks noChangeAspect="1"/>
          </p:cNvPicPr>
          <p:nvPr/>
        </p:nvPicPr>
        <p:blipFill>
          <a:blip r:embed="rId3"/>
          <a:stretch>
            <a:fillRect/>
          </a:stretch>
        </p:blipFill>
        <p:spPr>
          <a:xfrm>
            <a:off x="0" y="1109661"/>
            <a:ext cx="9160372" cy="5154504"/>
          </a:xfrm>
          <a:prstGeom prst="rect">
            <a:avLst/>
          </a:prstGeom>
        </p:spPr>
      </p:pic>
    </p:spTree>
    <p:extLst>
      <p:ext uri="{BB962C8B-B14F-4D97-AF65-F5344CB8AC3E}">
        <p14:creationId xmlns:p14="http://schemas.microsoft.com/office/powerpoint/2010/main" val="1090073957"/>
      </p:ext>
    </p:extLst>
  </p:cSld>
  <p:clrMapOvr>
    <a:masterClrMapping/>
  </p:clrMapOvr>
  <p:transition>
    <p:split orient="vert"/>
  </p:transition>
</p:sld>
</file>

<file path=ppt/theme/theme1.xml><?xml version="1.0" encoding="utf-8"?>
<a:theme xmlns:a="http://schemas.openxmlformats.org/drawingml/2006/main" name="1_templat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Theme</Template>
  <TotalTime>2687</TotalTime>
  <Words>3649</Words>
  <Application>Microsoft Macintosh PowerPoint</Application>
  <PresentationFormat>On-screen Show (4:3)</PresentationFormat>
  <Paragraphs>289</Paragraphs>
  <Slides>35</Slides>
  <Notes>32</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35</vt:i4>
      </vt:variant>
    </vt:vector>
  </HeadingPairs>
  <TitlesOfParts>
    <vt:vector size="43" baseType="lpstr">
      <vt:lpstr>Arial</vt:lpstr>
      <vt:lpstr>Calibri</vt:lpstr>
      <vt:lpstr>Futura Lt BT</vt:lpstr>
      <vt:lpstr>Tahoma</vt:lpstr>
      <vt:lpstr>Times New Roman</vt:lpstr>
      <vt:lpstr>Wingdings</vt:lpstr>
      <vt:lpstr>Wingdings 3</vt:lpstr>
      <vt:lpstr>1_template</vt:lpstr>
      <vt:lpstr>CHAPTER 1 The essential of software requirement </vt:lpstr>
      <vt:lpstr>Objectives</vt:lpstr>
      <vt:lpstr>Contents</vt:lpstr>
      <vt:lpstr>Why is requirement engineering?</vt:lpstr>
      <vt:lpstr>Software requirements defined</vt:lpstr>
      <vt:lpstr>Software requirements defined</vt:lpstr>
      <vt:lpstr>Types of requirements</vt:lpstr>
      <vt:lpstr>Levels and types of requirements </vt:lpstr>
      <vt:lpstr>Business requirements</vt:lpstr>
      <vt:lpstr>User requirements</vt:lpstr>
      <vt:lpstr>Functional requirements</vt:lpstr>
      <vt:lpstr>Biz analyst (BA) </vt:lpstr>
      <vt:lpstr>System requirements </vt:lpstr>
      <vt:lpstr>Business rules</vt:lpstr>
      <vt:lpstr>Feature</vt:lpstr>
      <vt:lpstr> The participation of stakeholders in requirements development</vt:lpstr>
      <vt:lpstr>Product vs. project requirements </vt:lpstr>
      <vt:lpstr>PowerPoint Presentation</vt:lpstr>
      <vt:lpstr>Project requirements </vt:lpstr>
      <vt:lpstr>Requirements development and management</vt:lpstr>
      <vt:lpstr>Requirements development</vt:lpstr>
      <vt:lpstr>Usage-centric or product-centric?</vt:lpstr>
      <vt:lpstr>Requirements development</vt:lpstr>
      <vt:lpstr>Requirements development</vt:lpstr>
      <vt:lpstr>Requirements management</vt:lpstr>
      <vt:lpstr>Requirements management</vt:lpstr>
      <vt:lpstr>Every project has requirements</vt:lpstr>
      <vt:lpstr>When bad requirements happen to good people</vt:lpstr>
      <vt:lpstr>When bad requirements happen to good people</vt:lpstr>
      <vt:lpstr>When bad requirements happen to good people</vt:lpstr>
      <vt:lpstr>When bad requirements happen to good people</vt:lpstr>
      <vt:lpstr>When bad requirements happen to good people</vt:lpstr>
      <vt:lpstr>Benefits from a high-quality requirements process</vt:lpstr>
      <vt:lpstr>Benefits from a high-quality requirements process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1 The essential of software requirement</dc:title>
  <dc:creator>Huong</dc:creator>
  <cp:lastModifiedBy>Nguyen Dinh Vinh (FE FPTU CT)</cp:lastModifiedBy>
  <cp:revision>142</cp:revision>
  <dcterms:created xsi:type="dcterms:W3CDTF">2018-04-12T06:52:22Z</dcterms:created>
  <dcterms:modified xsi:type="dcterms:W3CDTF">2021-09-07T15:39:24Z</dcterms:modified>
</cp:coreProperties>
</file>